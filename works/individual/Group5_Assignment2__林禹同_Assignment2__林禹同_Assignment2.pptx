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6256000" cy="9144000"/>
  <p:notesSz cx="9144000" cy="16256000"/>
  <p:embeddedFontLst>
    <p:embeddedFont>
      <p:font typeface="Quattrocento Sans" charset="-122" pitchFamily="34"/>
      <p:regular r:id="rId15"/>
    </p:embeddedFont>
    <p:embeddedFont>
      <p:font typeface="Oranienbaum" charset="-122" pitchFamily="34"/>
      <p:regular r:id="rId1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er2i45tfols2y/mnt/agents/output/humanitarian-ppt/images/ai_visual_work.png">    </p:cNvPr>
          <p:cNvPicPr>
            <a:picLocks noChangeAspect="1"/>
          </p:cNvPicPr>
          <p:nvPr/>
        </p:nvPicPr>
        <p:blipFill>
          <a:blip r:embed="rId1"/>
          <a:srcRect l="5000" r="5000" t="5000" b="500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41210">
                  <a:alpha val="6000"/>
                </a:srgbClr>
              </a:gs>
              <a:gs pos="35000">
                <a:srgbClr val="141210">
                  <a:alpha val="25000"/>
                </a:srgbClr>
              </a:gs>
              <a:gs pos="60000">
                <a:srgbClr val="141210">
                  <a:alpha val="69000"/>
                </a:srgbClr>
              </a:gs>
              <a:gs pos="100000">
                <a:srgbClr val="141210">
                  <a:alpha val="94000"/>
                </a:srgbClr>
              </a:gs>
            </a:gsLst>
            <a:lin ang="54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762000" y="635000"/>
            <a:ext cx="1270000" cy="0"/>
          </a:xfrm>
          <a:prstGeom prst="straightConnector1">
            <a:avLst/>
          </a:prstGeom>
          <a:noFill/>
          <a:ln w="12700">
            <a:solidFill>
              <a:srgbClr val="C9A96E"/>
            </a:solidFill>
            <a:prstDash val="solid"/>
            <a:headEnd type="none"/>
            <a:tailEnd type="none"/>
          </a:ln>
        </p:spPr>
      </p:sp>
      <p:sp>
        <p:nvSpPr>
          <p:cNvPr id="5" name="Text 2"/>
          <p:cNvSpPr/>
          <p:nvPr/>
        </p:nvSpPr>
        <p:spPr>
          <a:xfrm>
            <a:off x="762000" y="6858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spc="300" kern="0" dirty="0">
                <a:solidFill>
                  <a:srgbClr val="A39B9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FUTURE PROSPECTS OF CIVILIZATION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524000" y="4826000"/>
            <a:ext cx="1320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spc="300" kern="0" dirty="0">
                <a:solidFill>
                  <a:srgbClr val="F5F0E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Translating Humanity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2540000" y="6477000"/>
            <a:ext cx="1117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A39B9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Cross-Civilizational Journey of a Concept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858000" y="7112000"/>
            <a:ext cx="2540000" cy="0"/>
          </a:xfrm>
          <a:prstGeom prst="straightConnector1">
            <a:avLst/>
          </a:prstGeom>
          <a:noFill/>
          <a:ln w="12700">
            <a:solidFill>
              <a:srgbClr val="C9A96E"/>
            </a:solidFill>
            <a:prstDash val="solid"/>
            <a:headEnd type="none"/>
            <a:tailEnd type="none"/>
          </a:ln>
        </p:spPr>
      </p:sp>
      <p:sp>
        <p:nvSpPr>
          <p:cNvPr id="9" name="Text 6"/>
          <p:cNvSpPr/>
          <p:nvPr/>
        </p:nvSpPr>
        <p:spPr>
          <a:xfrm>
            <a:off x="3810000" y="7366000"/>
            <a:ext cx="863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C9A9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Medicine / Public Health</a:t>
            </a:r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A39B9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× </a:t>
            </a:r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C9A9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Humanistic Civilization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62000" y="8636000"/>
            <a:ext cx="2540000" cy="0"/>
          </a:xfrm>
          <a:prstGeom prst="straightConnector1">
            <a:avLst/>
          </a:prstGeom>
          <a:noFill/>
          <a:ln w="12700">
            <a:solidFill>
              <a:srgbClr val="C9A96E"/>
            </a:solidFill>
            <a:prstDash val="solid"/>
            <a:headEnd type="none"/>
            <a:tailEnd type="none"/>
          </a:ln>
        </p:spPr>
      </p:sp>
      <p:sp>
        <p:nvSpPr>
          <p:cNvPr id="11" name="Text 8"/>
          <p:cNvSpPr/>
          <p:nvPr/>
        </p:nvSpPr>
        <p:spPr>
          <a:xfrm>
            <a:off x="11176000" y="8610600"/>
            <a:ext cx="431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A39B9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Assignment Two — AI Visual Work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spc="100" kern="0" dirty="0">
                <a:solidFill>
                  <a:srgbClr val="F5F0E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AI Visual Work: </a:t>
            </a:r>
            <a:pPr>
              <a:lnSpc>
                <a:spcPct val="130000"/>
              </a:lnSpc>
            </a:pPr>
            <a:r>
              <a:rPr lang="en-US" sz="3000" spc="100" kern="0" dirty="0">
                <a:solidFill>
                  <a:srgbClr val="C9A96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"The Fractured Halo"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206500"/>
            <a:ext cx="1524000" cy="0"/>
          </a:xfrm>
          <a:prstGeom prst="straightConnector1">
            <a:avLst/>
          </a:prstGeom>
          <a:noFill/>
          <a:ln w="12700">
            <a:solidFill>
              <a:srgbClr val="C9A96E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1651000"/>
            <a:ext cx="5334000" cy="695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9A9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mandala of convergence and fracture.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AI-generated artwork visualizes the cross-civilizational journey of "humanity" — from its sacred origins to its contemporary political instrumentalization.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D4AF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Sacred Core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At the center, a Red Cross woven from four civilizational line languages — Chinese ink wash, Islamic geometry, Gothic tracery, and Buddhist scrollwork.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D4AF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Fractured Halo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outer ring reveals barbed wire, tanks, and political borders — the sacred light torn apart by geopolitics.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D4AF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Enduring Beam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Yet at the bottom edge, a single ray of light pierces through — symbolizing the resilience of cross-cultural compassion.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77000" y="1524000"/>
            <a:ext cx="9017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A96E">
                <a:alpha val="30196"/>
              </a:srgbClr>
            </a:solidFill>
            <a:prstDash val="solid"/>
          </a:ln>
        </p:spPr>
      </p:sp>
      <p:pic>
        <p:nvPicPr>
          <p:cNvPr id="6" name="Image 0" descr="https://kimi-img.moonshot.cn/pub/slides/okc/er2i45tfols2y/mnt/agents/output/humanitarian-ppt/images/ai_visual_work.png">    </p:cNvPr>
          <p:cNvPicPr>
            <a:picLocks noChangeAspect="1"/>
          </p:cNvPicPr>
          <p:nvPr/>
        </p:nvPicPr>
        <p:blipFill>
          <a:blip r:embed="rId1"/>
          <a:srcRect l="0" r="0" t="12143" b="12143"/>
          <a:stretch/>
        </p:blipFill>
        <p:spPr>
          <a:xfrm>
            <a:off x="6540500" y="1587500"/>
            <a:ext cx="8890000" cy="6731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2000" y="8763000"/>
            <a:ext cx="2540000" cy="0"/>
          </a:xfrm>
          <a:prstGeom prst="straightConnector1">
            <a:avLst/>
          </a:prstGeom>
          <a:noFill/>
          <a:ln w="12700">
            <a:solidFill>
              <a:srgbClr val="C9A96E"/>
            </a:solidFill>
            <a:prstDash val="solid"/>
            <a:headEnd type="none"/>
            <a:tailEnd type="none"/>
          </a:ln>
        </p:spPr>
      </p:sp>
      <p:sp>
        <p:nvSpPr>
          <p:cNvPr id="8" name="Text 5"/>
          <p:cNvSpPr/>
          <p:nvPr/>
        </p:nvSpPr>
        <p:spPr>
          <a:xfrm>
            <a:off x="14986000" y="87376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A39B9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spc="100" kern="0" dirty="0">
                <a:solidFill>
                  <a:srgbClr val="F5F0E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Why This </a:t>
            </a:r>
            <a:pPr>
              <a:lnSpc>
                <a:spcPct val="130000"/>
              </a:lnSpc>
            </a:pPr>
            <a:r>
              <a:rPr lang="en-US" sz="3000" spc="100" kern="0" dirty="0">
                <a:solidFill>
                  <a:srgbClr val="C9A96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AI Tool</a:t>
            </a:r>
            <a:pPr>
              <a:lnSpc>
                <a:spcPct val="130000"/>
              </a:lnSpc>
            </a:pPr>
            <a:r>
              <a:rPr lang="en-US" sz="3000" spc="100" kern="0" dirty="0">
                <a:solidFill>
                  <a:srgbClr val="F5F0E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206500"/>
            <a:ext cx="1524000" cy="0"/>
          </a:xfrm>
          <a:prstGeom prst="straightConnector1">
            <a:avLst/>
          </a:prstGeom>
          <a:noFill/>
          <a:ln w="12700">
            <a:solidFill>
              <a:srgbClr val="C9A96E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762000" y="1587500"/>
            <a:ext cx="6858000" cy="6921500"/>
          </a:xfrm>
          <a:prstGeom prst="rect">
            <a:avLst/>
          </a:prstGeom>
          <a:solidFill>
            <a:srgbClr val="1E1B17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841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C9A9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MANDALA CHOICE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2222500"/>
            <a:ext cx="609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spc="100" kern="0" dirty="0">
                <a:solidFill>
                  <a:srgbClr val="F5F0E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 Universal Visual Language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43000" y="2857500"/>
            <a:ext cx="60960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mandala form is shared across civilizations: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D4AF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Buddhist tradition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sacred diagrams representing cosmic order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D4AF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Islamic art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geometric arabesques as meditation on the infinite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D4AF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Hindu cosmology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yantras as spiritual focal points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600"/>
              </a:spcBef>
            </a:pPr>
            <a:r>
              <a:rPr lang="en-US" sz="1600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By choosing the mandala structure, the AI tool became not just a renderer, but a </a:t>
            </a:r>
            <a:pPr>
              <a:lnSpc>
                <a:spcPct val="170000"/>
              </a:lnSpc>
              <a:spcBef>
                <a:spcPts val="1600"/>
              </a:spcBef>
            </a:pPr>
            <a:r>
              <a:rPr lang="en-US" sz="1600" b="1" dirty="0">
                <a:solidFill>
                  <a:srgbClr val="D4AF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cultural translator</a:t>
            </a:r>
            <a:pPr>
              <a:lnSpc>
                <a:spcPct val="170000"/>
              </a:lnSpc>
              <a:spcBef>
                <a:spcPts val="1600"/>
              </a:spcBef>
            </a:pPr>
            <a:r>
              <a:rPr lang="en-US" sz="1600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embodying the very argument of the work.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128000" y="1841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C9A9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CAPABILITIES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0" y="2222500"/>
            <a:ext cx="711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spc="100" kern="0" dirty="0">
                <a:solidFill>
                  <a:srgbClr val="F5F0E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Synthesizing Civilizations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128000" y="2857500"/>
            <a:ext cx="71120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D4AF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 Cross-Cultural Synthesis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AI merged four distinct visual vocabularies — Chinese ink wash, Islamic geometry, Gothic stained glass, Buddhist iconography — into a single coherent composition.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600"/>
              </a:spcBef>
            </a:pPr>
            <a:r>
              <a:rPr lang="en-US" sz="1600" b="1" dirty="0">
                <a:solidFill>
                  <a:srgbClr val="D4AF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 Radial Gradient Narrative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tool rendered the "sacred-to-fractured" gradient — divine light at center, war-torn fragmentation at edges — impossible to achieve with traditional design software.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600"/>
              </a:spcBef>
            </a:pPr>
            <a:r>
              <a:rPr lang="en-US" sz="1600" b="1" dirty="0">
                <a:solidFill>
                  <a:srgbClr val="D4AF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 Argument-as-Image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concentric ring structure mirrors the historical thesis: </a:t>
            </a:r>
            <a:pPr>
              <a:lnSpc>
                <a:spcPct val="170000"/>
              </a:lnSpc>
            </a:pPr>
            <a:r>
              <a:rPr lang="en-US" sz="1600" i="1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convergence → diffusion → crisis → hope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62000" y="8763000"/>
            <a:ext cx="2540000" cy="0"/>
          </a:xfrm>
          <a:prstGeom prst="straightConnector1">
            <a:avLst/>
          </a:prstGeom>
          <a:noFill/>
          <a:ln w="12700">
            <a:solidFill>
              <a:srgbClr val="C9A96E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14986000" y="87376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A39B9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016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spc="100" kern="0" dirty="0">
                <a:solidFill>
                  <a:srgbClr val="F5F0E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Why These </a:t>
            </a:r>
            <a:pPr>
              <a:lnSpc>
                <a:spcPct val="130000"/>
              </a:lnSpc>
            </a:pPr>
            <a:r>
              <a:rPr lang="en-US" sz="3000" spc="100" kern="0" dirty="0">
                <a:solidFill>
                  <a:srgbClr val="C9A96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Periods</a:t>
            </a:r>
            <a:pPr>
              <a:lnSpc>
                <a:spcPct val="130000"/>
              </a:lnSpc>
            </a:pPr>
            <a:r>
              <a:rPr lang="en-US" sz="3000" spc="100" kern="0" dirty="0">
                <a:solidFill>
                  <a:srgbClr val="F5F0E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? (1863–2024)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206500"/>
            <a:ext cx="1524000" cy="0"/>
          </a:xfrm>
          <a:prstGeom prst="straightConnector1">
            <a:avLst/>
          </a:prstGeom>
          <a:noFill/>
          <a:ln w="12700">
            <a:solidFill>
              <a:srgbClr val="C9A96E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524000" y="2667000"/>
            <a:ext cx="13208000" cy="0"/>
          </a:xfrm>
          <a:prstGeom prst="straightConnector1">
            <a:avLst/>
          </a:prstGeom>
          <a:noFill/>
          <a:ln w="12700">
            <a:solidFill>
              <a:srgbClr val="C9A96E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473200" y="2578100"/>
            <a:ext cx="177800" cy="177800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6" name="Shape 4"/>
          <p:cNvSpPr/>
          <p:nvPr/>
        </p:nvSpPr>
        <p:spPr>
          <a:xfrm>
            <a:off x="5410200" y="2578100"/>
            <a:ext cx="177800" cy="177800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7" name="Shape 5"/>
          <p:cNvSpPr/>
          <p:nvPr/>
        </p:nvSpPr>
        <p:spPr>
          <a:xfrm>
            <a:off x="9347200" y="2578100"/>
            <a:ext cx="177800" cy="177800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8" name="Shape 6"/>
          <p:cNvSpPr/>
          <p:nvPr/>
        </p:nvSpPr>
        <p:spPr>
          <a:xfrm>
            <a:off x="13284200" y="2578100"/>
            <a:ext cx="177800" cy="177800"/>
          </a:xfrm>
          <a:prstGeom prst="ellipse">
            <a:avLst/>
          </a:prstGeom>
          <a:solidFill>
            <a:srgbClr val="C9A96E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2032000"/>
            <a:ext cx="1397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C9A96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1863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3048000"/>
            <a:ext cx="35560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D4AF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Birth of Humanitarianism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Henri Dunant witnesses the Battle of Solferino and founds the Red Cross in Geneva. The concept of neutral, unconditional aid to the wounded is born.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A39B9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Period V — Modern China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53000" y="2032000"/>
            <a:ext cx="1397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C9A96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1904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3048000"/>
            <a:ext cx="3556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D4AF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Translation to the East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China joins the Red Cross movement. "Humanity" is translated as "人道" (Rendao) — resonating deeply with Confucian ethics.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A39B9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Period V — Modern China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890000" y="2032000"/>
            <a:ext cx="1397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C9A96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1949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09000" y="3048000"/>
            <a:ext cx="3556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D4AF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Codification &amp; Politicization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Geneva Conventions codify humanitarian law, but Cold War dynamics begin turning aid into a geopolitical tool.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A39B9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Period VI — Cold War Era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27000" y="2032000"/>
            <a:ext cx="1397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C9A96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2024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446000" y="3048000"/>
            <a:ext cx="304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D4AF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Instrumentalization Crisis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"Humanitarian aid" is weaponized — Gaza, Ukraine, Yemen. The sacred halo fractures.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A39B9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Period VII — Contemporary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2000" y="6223000"/>
            <a:ext cx="14732000" cy="1016000"/>
          </a:xfrm>
          <a:prstGeom prst="rect">
            <a:avLst/>
          </a:prstGeom>
          <a:solidFill>
            <a:srgbClr val="1E1B17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6286500"/>
            <a:ext cx="1397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D4AF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Pattern revealed: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Every great leap in humanitarianism is followed by a crisis of instrumentalization.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62000" y="8763000"/>
            <a:ext cx="2540000" cy="0"/>
          </a:xfrm>
          <a:prstGeom prst="straightConnector1">
            <a:avLst/>
          </a:prstGeom>
          <a:noFill/>
          <a:ln w="12700">
            <a:solidFill>
              <a:srgbClr val="C9A96E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14986000" y="87376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A39B9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spc="100" kern="0" dirty="0">
                <a:solidFill>
                  <a:srgbClr val="F5F0E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What Happened? — </a:t>
            </a:r>
            <a:pPr>
              <a:lnSpc>
                <a:spcPct val="130000"/>
              </a:lnSpc>
            </a:pPr>
            <a:r>
              <a:rPr lang="en-US" sz="3000" spc="100" kern="0" dirty="0">
                <a:solidFill>
                  <a:srgbClr val="C9A96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Sacred Core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206500"/>
            <a:ext cx="1524000" cy="0"/>
          </a:xfrm>
          <a:prstGeom prst="straightConnector1">
            <a:avLst/>
          </a:prstGeom>
          <a:noFill/>
          <a:ln w="12700">
            <a:solidFill>
              <a:srgbClr val="C9A96E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15240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A39B9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Red Cross was not merely a Western invention — it was a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convergence point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A39B9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four civilizational traditions of compassion.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667000"/>
            <a:ext cx="3429000" cy="3937000"/>
          </a:xfrm>
          <a:prstGeom prst="rect">
            <a:avLst/>
          </a:prstGeom>
          <a:solidFill>
            <a:srgbClr val="1E1B17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832100"/>
            <a:ext cx="88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C9A9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WEST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66800" y="32385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139700" y="0"/>
                </a:moveTo>
                <a:cubicBezTo>
                  <a:pt x="118666" y="0"/>
                  <a:pt x="101600" y="17066"/>
                  <a:pt x="101600" y="38100"/>
                </a:cubicBezTo>
                <a:lnTo>
                  <a:pt x="101600" y="101600"/>
                </a:lnTo>
                <a:lnTo>
                  <a:pt x="38100" y="101600"/>
                </a:lnTo>
                <a:cubicBezTo>
                  <a:pt x="17066" y="101600"/>
                  <a:pt x="0" y="118666"/>
                  <a:pt x="0" y="139700"/>
                </a:cubicBezTo>
                <a:lnTo>
                  <a:pt x="0" y="165100"/>
                </a:lnTo>
                <a:cubicBezTo>
                  <a:pt x="0" y="186134"/>
                  <a:pt x="17066" y="203200"/>
                  <a:pt x="38100" y="203200"/>
                </a:cubicBezTo>
                <a:lnTo>
                  <a:pt x="101600" y="203200"/>
                </a:lnTo>
                <a:lnTo>
                  <a:pt x="101600" y="368300"/>
                </a:lnTo>
                <a:cubicBezTo>
                  <a:pt x="101600" y="389334"/>
                  <a:pt x="118666" y="406400"/>
                  <a:pt x="139700" y="406400"/>
                </a:cubicBezTo>
                <a:lnTo>
                  <a:pt x="165100" y="406400"/>
                </a:lnTo>
                <a:cubicBezTo>
                  <a:pt x="186134" y="406400"/>
                  <a:pt x="203200" y="389334"/>
                  <a:pt x="203200" y="368300"/>
                </a:cubicBezTo>
                <a:lnTo>
                  <a:pt x="203200" y="203200"/>
                </a:lnTo>
                <a:lnTo>
                  <a:pt x="266700" y="203200"/>
                </a:lnTo>
                <a:cubicBezTo>
                  <a:pt x="287734" y="203200"/>
                  <a:pt x="304800" y="186134"/>
                  <a:pt x="304800" y="165100"/>
                </a:cubicBezTo>
                <a:lnTo>
                  <a:pt x="304800" y="139700"/>
                </a:lnTo>
                <a:cubicBezTo>
                  <a:pt x="304800" y="118666"/>
                  <a:pt x="287734" y="101600"/>
                  <a:pt x="266700" y="101600"/>
                </a:cubicBezTo>
                <a:lnTo>
                  <a:pt x="203200" y="101600"/>
                </a:lnTo>
                <a:lnTo>
                  <a:pt x="203200" y="38100"/>
                </a:lnTo>
                <a:cubicBezTo>
                  <a:pt x="203200" y="17066"/>
                  <a:pt x="186134" y="0"/>
                  <a:pt x="165100" y="0"/>
                </a:cubicBezTo>
                <a:lnTo>
                  <a:pt x="139700" y="0"/>
                </a:lnTo>
                <a:close/>
              </a:path>
            </a:pathLst>
          </a:custGeom>
          <a:solidFill>
            <a:srgbClr val="C9A96E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3810000"/>
            <a:ext cx="292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5F0E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Christianity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4254500"/>
            <a:ext cx="292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i="1" dirty="0">
                <a:solidFill>
                  <a:srgbClr val="D4AF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Caritas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4699000"/>
            <a:ext cx="292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A39B9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Love of neighbor as divine duty. Charity as an expression of God's grace flowing through human hands.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21200" y="2667000"/>
            <a:ext cx="3429000" cy="3937000"/>
          </a:xfrm>
          <a:prstGeom prst="rect">
            <a:avLst/>
          </a:prstGeom>
          <a:solidFill>
            <a:srgbClr val="1E1B17"/>
          </a:solidFill>
          <a:ln/>
        </p:spPr>
      </p:sp>
      <p:sp>
        <p:nvSpPr>
          <p:cNvPr id="12" name="Text 10"/>
          <p:cNvSpPr/>
          <p:nvPr/>
        </p:nvSpPr>
        <p:spPr>
          <a:xfrm>
            <a:off x="4775200" y="2832100"/>
            <a:ext cx="88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C9A9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EAST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75200" y="3238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77800" y="127000"/>
                </a:moveTo>
                <a:cubicBezTo>
                  <a:pt x="177800" y="112981"/>
                  <a:pt x="189181" y="101600"/>
                  <a:pt x="203200" y="101600"/>
                </a:cubicBezTo>
                <a:cubicBezTo>
                  <a:pt x="217219" y="101600"/>
                  <a:pt x="228600" y="112981"/>
                  <a:pt x="228600" y="127000"/>
                </a:cubicBezTo>
                <a:cubicBezTo>
                  <a:pt x="228600" y="141019"/>
                  <a:pt x="217219" y="152400"/>
                  <a:pt x="203200" y="152400"/>
                </a:cubicBezTo>
                <a:cubicBezTo>
                  <a:pt x="189181" y="152400"/>
                  <a:pt x="177800" y="141019"/>
                  <a:pt x="177800" y="127000"/>
                </a:cubicBezTo>
                <a:close/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03200" y="50800"/>
                </a:moveTo>
                <a:cubicBezTo>
                  <a:pt x="245269" y="50800"/>
                  <a:pt x="279400" y="84931"/>
                  <a:pt x="279400" y="127000"/>
                </a:cubicBezTo>
                <a:cubicBezTo>
                  <a:pt x="279400" y="169069"/>
                  <a:pt x="245269" y="203200"/>
                  <a:pt x="203200" y="203200"/>
                </a:cubicBezTo>
                <a:cubicBezTo>
                  <a:pt x="161131" y="203200"/>
                  <a:pt x="127000" y="237331"/>
                  <a:pt x="127000" y="279400"/>
                </a:cubicBezTo>
                <a:cubicBezTo>
                  <a:pt x="127000" y="321469"/>
                  <a:pt x="161131" y="355600"/>
                  <a:pt x="203200" y="355600"/>
                </a:cubicBezTo>
                <a:cubicBezTo>
                  <a:pt x="119063" y="355600"/>
                  <a:pt x="50800" y="287338"/>
                  <a:pt x="50800" y="203200"/>
                </a:cubicBezTo>
                <a:cubicBezTo>
                  <a:pt x="50800" y="119063"/>
                  <a:pt x="119063" y="50800"/>
                  <a:pt x="203200" y="50800"/>
                </a:cubicBezTo>
                <a:close/>
                <a:moveTo>
                  <a:pt x="177800" y="279400"/>
                </a:moveTo>
                <a:cubicBezTo>
                  <a:pt x="177800" y="265381"/>
                  <a:pt x="189181" y="254000"/>
                  <a:pt x="203200" y="254000"/>
                </a:cubicBezTo>
                <a:cubicBezTo>
                  <a:pt x="217219" y="254000"/>
                  <a:pt x="228600" y="265381"/>
                  <a:pt x="228600" y="279400"/>
                </a:cubicBezTo>
                <a:cubicBezTo>
                  <a:pt x="228600" y="293419"/>
                  <a:pt x="217219" y="304800"/>
                  <a:pt x="203200" y="304800"/>
                </a:cubicBezTo>
                <a:cubicBezTo>
                  <a:pt x="189181" y="304800"/>
                  <a:pt x="177800" y="293419"/>
                  <a:pt x="177800" y="279400"/>
                </a:cubicBezTo>
                <a:close/>
              </a:path>
            </a:pathLst>
          </a:custGeom>
          <a:solidFill>
            <a:srgbClr val="C9A96E"/>
          </a:solidFill>
          <a:ln/>
        </p:spPr>
      </p:sp>
      <p:sp>
        <p:nvSpPr>
          <p:cNvPr id="14" name="Text 12"/>
          <p:cNvSpPr/>
          <p:nvPr/>
        </p:nvSpPr>
        <p:spPr>
          <a:xfrm>
            <a:off x="4775200" y="3810000"/>
            <a:ext cx="292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5F0E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Confucianism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75200" y="4254500"/>
            <a:ext cx="292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D4AF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仁 </a:t>
            </a:r>
            <a:pPr>
              <a:lnSpc>
                <a:spcPct val="100000"/>
              </a:lnSpc>
            </a:pPr>
            <a:r>
              <a:rPr lang="en-US" sz="1800" i="1" dirty="0">
                <a:solidFill>
                  <a:srgbClr val="D4AF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75200" y="4699000"/>
            <a:ext cx="292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A39B9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Benevolence as the foundation of moral society. The capacity to feel with and care for others.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80400" y="2667000"/>
            <a:ext cx="3429000" cy="3937000"/>
          </a:xfrm>
          <a:prstGeom prst="rect">
            <a:avLst/>
          </a:prstGeom>
          <a:solidFill>
            <a:srgbClr val="1E1B17"/>
          </a:solidFill>
          <a:ln/>
        </p:spPr>
      </p:sp>
      <p:sp>
        <p:nvSpPr>
          <p:cNvPr id="18" name="Text 16"/>
          <p:cNvSpPr/>
          <p:nvPr/>
        </p:nvSpPr>
        <p:spPr>
          <a:xfrm>
            <a:off x="8534400" y="2832100"/>
            <a:ext cx="88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C9A9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SOUTH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509000" y="3238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308531" y="3731"/>
                </a:moveTo>
                <a:cubicBezTo>
                  <a:pt x="313452" y="-1191"/>
                  <a:pt x="321548" y="-1191"/>
                  <a:pt x="326469" y="3731"/>
                </a:cubicBezTo>
                <a:lnTo>
                  <a:pt x="339169" y="16431"/>
                </a:lnTo>
                <a:cubicBezTo>
                  <a:pt x="344091" y="21352"/>
                  <a:pt x="344091" y="29448"/>
                  <a:pt x="339169" y="34369"/>
                </a:cubicBezTo>
                <a:lnTo>
                  <a:pt x="326469" y="47069"/>
                </a:lnTo>
                <a:cubicBezTo>
                  <a:pt x="321548" y="51991"/>
                  <a:pt x="313452" y="51991"/>
                  <a:pt x="308531" y="47069"/>
                </a:cubicBezTo>
                <a:lnTo>
                  <a:pt x="295831" y="34369"/>
                </a:lnTo>
                <a:cubicBezTo>
                  <a:pt x="290909" y="29448"/>
                  <a:pt x="290909" y="21352"/>
                  <a:pt x="295831" y="16431"/>
                </a:cubicBezTo>
                <a:lnTo>
                  <a:pt x="308531" y="3731"/>
                </a:lnTo>
                <a:close/>
                <a:moveTo>
                  <a:pt x="139700" y="127000"/>
                </a:moveTo>
                <a:cubicBezTo>
                  <a:pt x="131128" y="127000"/>
                  <a:pt x="123190" y="129858"/>
                  <a:pt x="116840" y="134620"/>
                </a:cubicBezTo>
                <a:cubicBezTo>
                  <a:pt x="105648" y="143034"/>
                  <a:pt x="89694" y="140811"/>
                  <a:pt x="81280" y="129540"/>
                </a:cubicBezTo>
                <a:cubicBezTo>
                  <a:pt x="72866" y="118269"/>
                  <a:pt x="75089" y="102394"/>
                  <a:pt x="86360" y="93980"/>
                </a:cubicBezTo>
                <a:cubicBezTo>
                  <a:pt x="101203" y="82788"/>
                  <a:pt x="119698" y="76200"/>
                  <a:pt x="139700" y="76200"/>
                </a:cubicBezTo>
                <a:cubicBezTo>
                  <a:pt x="188833" y="76200"/>
                  <a:pt x="228600" y="115967"/>
                  <a:pt x="228600" y="165100"/>
                </a:cubicBezTo>
                <a:cubicBezTo>
                  <a:pt x="228600" y="178753"/>
                  <a:pt x="225504" y="191691"/>
                  <a:pt x="220027" y="203200"/>
                </a:cubicBezTo>
                <a:lnTo>
                  <a:pt x="259477" y="203200"/>
                </a:lnTo>
                <a:cubicBezTo>
                  <a:pt x="269557" y="203200"/>
                  <a:pt x="279241" y="199231"/>
                  <a:pt x="286385" y="192008"/>
                </a:cubicBezTo>
                <a:lnTo>
                  <a:pt x="302816" y="175578"/>
                </a:lnTo>
                <a:cubicBezTo>
                  <a:pt x="317659" y="160734"/>
                  <a:pt x="337820" y="152321"/>
                  <a:pt x="358854" y="152321"/>
                </a:cubicBezTo>
                <a:cubicBezTo>
                  <a:pt x="402669" y="152321"/>
                  <a:pt x="438150" y="187801"/>
                  <a:pt x="438150" y="231616"/>
                </a:cubicBezTo>
                <a:lnTo>
                  <a:pt x="438150" y="307896"/>
                </a:lnTo>
                <a:cubicBezTo>
                  <a:pt x="438150" y="351711"/>
                  <a:pt x="402590" y="387271"/>
                  <a:pt x="358775" y="387271"/>
                </a:cubicBezTo>
                <a:cubicBezTo>
                  <a:pt x="314960" y="387271"/>
                  <a:pt x="279400" y="351790"/>
                  <a:pt x="279400" y="307975"/>
                </a:cubicBezTo>
                <a:lnTo>
                  <a:pt x="279400" y="304800"/>
                </a:lnTo>
                <a:cubicBezTo>
                  <a:pt x="279400" y="290751"/>
                  <a:pt x="290751" y="279400"/>
                  <a:pt x="304800" y="279400"/>
                </a:cubicBezTo>
                <a:cubicBezTo>
                  <a:pt x="318849" y="279400"/>
                  <a:pt x="330200" y="290751"/>
                  <a:pt x="330200" y="304800"/>
                </a:cubicBezTo>
                <a:lnTo>
                  <a:pt x="330200" y="307975"/>
                </a:lnTo>
                <a:cubicBezTo>
                  <a:pt x="330200" y="323771"/>
                  <a:pt x="342979" y="336550"/>
                  <a:pt x="358775" y="336550"/>
                </a:cubicBezTo>
                <a:cubicBezTo>
                  <a:pt x="374571" y="336550"/>
                  <a:pt x="387350" y="323771"/>
                  <a:pt x="387350" y="307975"/>
                </a:cubicBezTo>
                <a:lnTo>
                  <a:pt x="387350" y="231696"/>
                </a:lnTo>
                <a:cubicBezTo>
                  <a:pt x="387350" y="215979"/>
                  <a:pt x="374571" y="203200"/>
                  <a:pt x="358854" y="203200"/>
                </a:cubicBezTo>
                <a:cubicBezTo>
                  <a:pt x="351314" y="203200"/>
                  <a:pt x="344091" y="206216"/>
                  <a:pt x="338693" y="211534"/>
                </a:cubicBezTo>
                <a:lnTo>
                  <a:pt x="322263" y="227965"/>
                </a:lnTo>
                <a:cubicBezTo>
                  <a:pt x="305594" y="244634"/>
                  <a:pt x="283051" y="254000"/>
                  <a:pt x="259477" y="254000"/>
                </a:cubicBezTo>
                <a:lnTo>
                  <a:pt x="238204" y="254000"/>
                </a:lnTo>
                <a:cubicBezTo>
                  <a:pt x="248206" y="269558"/>
                  <a:pt x="254000" y="287973"/>
                  <a:pt x="254000" y="307975"/>
                </a:cubicBezTo>
                <a:cubicBezTo>
                  <a:pt x="254000" y="367665"/>
                  <a:pt x="202406" y="412750"/>
                  <a:pt x="142875" y="412750"/>
                </a:cubicBezTo>
                <a:cubicBezTo>
                  <a:pt x="83344" y="412750"/>
                  <a:pt x="31750" y="367665"/>
                  <a:pt x="31750" y="307975"/>
                </a:cubicBezTo>
                <a:cubicBezTo>
                  <a:pt x="31750" y="293926"/>
                  <a:pt x="43101" y="282575"/>
                  <a:pt x="57150" y="282575"/>
                </a:cubicBezTo>
                <a:cubicBezTo>
                  <a:pt x="71199" y="282575"/>
                  <a:pt x="82550" y="293926"/>
                  <a:pt x="82550" y="307975"/>
                </a:cubicBezTo>
                <a:cubicBezTo>
                  <a:pt x="82550" y="335994"/>
                  <a:pt x="107712" y="361950"/>
                  <a:pt x="142875" y="361950"/>
                </a:cubicBezTo>
                <a:cubicBezTo>
                  <a:pt x="178038" y="361950"/>
                  <a:pt x="203200" y="335994"/>
                  <a:pt x="203200" y="307975"/>
                </a:cubicBezTo>
                <a:cubicBezTo>
                  <a:pt x="203200" y="279956"/>
                  <a:pt x="178038" y="254000"/>
                  <a:pt x="142875" y="254000"/>
                </a:cubicBezTo>
                <a:lnTo>
                  <a:pt x="127000" y="254000"/>
                </a:lnTo>
                <a:cubicBezTo>
                  <a:pt x="112951" y="254000"/>
                  <a:pt x="101600" y="242649"/>
                  <a:pt x="101600" y="228600"/>
                </a:cubicBezTo>
                <a:cubicBezTo>
                  <a:pt x="101600" y="214551"/>
                  <a:pt x="112951" y="203200"/>
                  <a:pt x="127000" y="203200"/>
                </a:cubicBezTo>
                <a:lnTo>
                  <a:pt x="139700" y="203200"/>
                </a:lnTo>
                <a:cubicBezTo>
                  <a:pt x="160734" y="203200"/>
                  <a:pt x="177800" y="186134"/>
                  <a:pt x="177800" y="165100"/>
                </a:cubicBezTo>
                <a:cubicBezTo>
                  <a:pt x="177800" y="144066"/>
                  <a:pt x="160734" y="127000"/>
                  <a:pt x="139700" y="127000"/>
                </a:cubicBezTo>
                <a:close/>
                <a:moveTo>
                  <a:pt x="267573" y="47704"/>
                </a:moveTo>
                <a:cubicBezTo>
                  <a:pt x="258842" y="36751"/>
                  <a:pt x="242888" y="34846"/>
                  <a:pt x="231854" y="43577"/>
                </a:cubicBezTo>
                <a:cubicBezTo>
                  <a:pt x="220821" y="52308"/>
                  <a:pt x="218996" y="68263"/>
                  <a:pt x="227727" y="79296"/>
                </a:cubicBezTo>
                <a:cubicBezTo>
                  <a:pt x="248126" y="104934"/>
                  <a:pt x="281305" y="120650"/>
                  <a:pt x="317500" y="120650"/>
                </a:cubicBezTo>
                <a:cubicBezTo>
                  <a:pt x="353695" y="120650"/>
                  <a:pt x="386874" y="104934"/>
                  <a:pt x="407273" y="79296"/>
                </a:cubicBezTo>
                <a:cubicBezTo>
                  <a:pt x="416004" y="68342"/>
                  <a:pt x="414179" y="52308"/>
                  <a:pt x="403146" y="43577"/>
                </a:cubicBezTo>
                <a:cubicBezTo>
                  <a:pt x="392113" y="34846"/>
                  <a:pt x="376158" y="36671"/>
                  <a:pt x="367427" y="47704"/>
                </a:cubicBezTo>
                <a:cubicBezTo>
                  <a:pt x="357426" y="60325"/>
                  <a:pt x="339328" y="69850"/>
                  <a:pt x="317500" y="69850"/>
                </a:cubicBezTo>
                <a:cubicBezTo>
                  <a:pt x="295672" y="69850"/>
                  <a:pt x="277574" y="60325"/>
                  <a:pt x="267573" y="47704"/>
                </a:cubicBezTo>
                <a:close/>
              </a:path>
            </a:pathLst>
          </a:custGeom>
          <a:solidFill>
            <a:srgbClr val="C9A96E"/>
          </a:solidFill>
          <a:ln/>
        </p:spPr>
      </p:sp>
      <p:sp>
        <p:nvSpPr>
          <p:cNvPr id="20" name="Text 18"/>
          <p:cNvSpPr/>
          <p:nvPr/>
        </p:nvSpPr>
        <p:spPr>
          <a:xfrm>
            <a:off x="8534400" y="3810000"/>
            <a:ext cx="292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5F0E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Buddhism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34400" y="4254500"/>
            <a:ext cx="292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D4AF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慈悲 </a:t>
            </a:r>
            <a:pPr>
              <a:lnSpc>
                <a:spcPct val="100000"/>
              </a:lnSpc>
            </a:pPr>
            <a:r>
              <a:rPr lang="en-US" sz="1800" i="1" dirty="0">
                <a:solidFill>
                  <a:srgbClr val="D4AF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Cibei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34400" y="4699000"/>
            <a:ext cx="292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A39B9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Compassion for all sentient beings. The bodhisattva ideal of delaying enlightenment to relieve suffering.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2039600" y="2667000"/>
            <a:ext cx="3429000" cy="3937000"/>
          </a:xfrm>
          <a:prstGeom prst="rect">
            <a:avLst/>
          </a:prstGeom>
          <a:solidFill>
            <a:srgbClr val="1E1B17"/>
          </a:solidFill>
          <a:ln/>
        </p:spPr>
      </p:sp>
      <p:sp>
        <p:nvSpPr>
          <p:cNvPr id="24" name="Text 22"/>
          <p:cNvSpPr/>
          <p:nvPr/>
        </p:nvSpPr>
        <p:spPr>
          <a:xfrm>
            <a:off x="12293600" y="2832100"/>
            <a:ext cx="88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C9A9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NORTH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2293600" y="3238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203200"/>
                </a:moveTo>
                <a:cubicBezTo>
                  <a:pt x="0" y="90964"/>
                  <a:pt x="90964" y="0"/>
                  <a:pt x="203200" y="0"/>
                </a:cubicBezTo>
                <a:cubicBezTo>
                  <a:pt x="229394" y="0"/>
                  <a:pt x="254476" y="5001"/>
                  <a:pt x="277495" y="14049"/>
                </a:cubicBezTo>
                <a:cubicBezTo>
                  <a:pt x="283369" y="16351"/>
                  <a:pt x="286623" y="22543"/>
                  <a:pt x="285274" y="28654"/>
                </a:cubicBezTo>
                <a:cubicBezTo>
                  <a:pt x="283924" y="34766"/>
                  <a:pt x="278289" y="38973"/>
                  <a:pt x="272018" y="38497"/>
                </a:cubicBezTo>
                <a:cubicBezTo>
                  <a:pt x="268208" y="38259"/>
                  <a:pt x="264319" y="38100"/>
                  <a:pt x="260429" y="38100"/>
                </a:cubicBezTo>
                <a:cubicBezTo>
                  <a:pt x="169228" y="38100"/>
                  <a:pt x="95329" y="111998"/>
                  <a:pt x="95329" y="203200"/>
                </a:cubicBezTo>
                <a:cubicBezTo>
                  <a:pt x="95329" y="294402"/>
                  <a:pt x="169228" y="368300"/>
                  <a:pt x="260429" y="368300"/>
                </a:cubicBezTo>
                <a:cubicBezTo>
                  <a:pt x="264319" y="368300"/>
                  <a:pt x="268208" y="368141"/>
                  <a:pt x="272018" y="367903"/>
                </a:cubicBezTo>
                <a:cubicBezTo>
                  <a:pt x="278289" y="367506"/>
                  <a:pt x="283924" y="371634"/>
                  <a:pt x="285274" y="377746"/>
                </a:cubicBezTo>
                <a:cubicBezTo>
                  <a:pt x="286623" y="383857"/>
                  <a:pt x="283369" y="390049"/>
                  <a:pt x="277495" y="392351"/>
                </a:cubicBezTo>
                <a:cubicBezTo>
                  <a:pt x="254476" y="401399"/>
                  <a:pt x="229394" y="406400"/>
                  <a:pt x="203200" y="406400"/>
                </a:cubicBezTo>
                <a:cubicBezTo>
                  <a:pt x="90964" y="406400"/>
                  <a:pt x="0" y="315436"/>
                  <a:pt x="0" y="203200"/>
                </a:cubicBezTo>
                <a:close/>
                <a:moveTo>
                  <a:pt x="297974" y="109061"/>
                </a:moveTo>
                <a:cubicBezTo>
                  <a:pt x="300752" y="103426"/>
                  <a:pt x="308848" y="103426"/>
                  <a:pt x="311626" y="109061"/>
                </a:cubicBezTo>
                <a:lnTo>
                  <a:pt x="336629" y="159703"/>
                </a:lnTo>
                <a:cubicBezTo>
                  <a:pt x="337741" y="161925"/>
                  <a:pt x="339884" y="163513"/>
                  <a:pt x="342344" y="163909"/>
                </a:cubicBezTo>
                <a:lnTo>
                  <a:pt x="398224" y="172006"/>
                </a:lnTo>
                <a:cubicBezTo>
                  <a:pt x="404495" y="172879"/>
                  <a:pt x="406956" y="180578"/>
                  <a:pt x="402431" y="185023"/>
                </a:cubicBezTo>
                <a:lnTo>
                  <a:pt x="362029" y="224393"/>
                </a:lnTo>
                <a:cubicBezTo>
                  <a:pt x="360204" y="226139"/>
                  <a:pt x="359410" y="228679"/>
                  <a:pt x="359807" y="231140"/>
                </a:cubicBezTo>
                <a:lnTo>
                  <a:pt x="369332" y="286782"/>
                </a:lnTo>
                <a:cubicBezTo>
                  <a:pt x="370364" y="292973"/>
                  <a:pt x="363855" y="297736"/>
                  <a:pt x="358299" y="294799"/>
                </a:cubicBezTo>
                <a:lnTo>
                  <a:pt x="308292" y="268526"/>
                </a:lnTo>
                <a:cubicBezTo>
                  <a:pt x="306070" y="267335"/>
                  <a:pt x="303451" y="267335"/>
                  <a:pt x="301228" y="268526"/>
                </a:cubicBezTo>
                <a:lnTo>
                  <a:pt x="251222" y="294799"/>
                </a:lnTo>
                <a:cubicBezTo>
                  <a:pt x="245666" y="297736"/>
                  <a:pt x="239078" y="292973"/>
                  <a:pt x="240189" y="286782"/>
                </a:cubicBezTo>
                <a:lnTo>
                  <a:pt x="249714" y="231140"/>
                </a:lnTo>
                <a:cubicBezTo>
                  <a:pt x="250111" y="228679"/>
                  <a:pt x="249317" y="226139"/>
                  <a:pt x="247491" y="224393"/>
                </a:cubicBezTo>
                <a:lnTo>
                  <a:pt x="207169" y="185023"/>
                </a:lnTo>
                <a:cubicBezTo>
                  <a:pt x="202644" y="180578"/>
                  <a:pt x="205105" y="172958"/>
                  <a:pt x="211376" y="172006"/>
                </a:cubicBezTo>
                <a:lnTo>
                  <a:pt x="267256" y="163909"/>
                </a:lnTo>
                <a:cubicBezTo>
                  <a:pt x="269716" y="163513"/>
                  <a:pt x="271859" y="162004"/>
                  <a:pt x="272971" y="159703"/>
                </a:cubicBezTo>
                <a:lnTo>
                  <a:pt x="297974" y="109061"/>
                </a:lnTo>
                <a:close/>
              </a:path>
            </a:pathLst>
          </a:custGeom>
          <a:solidFill>
            <a:srgbClr val="C9A96E"/>
          </a:solidFill>
          <a:ln/>
        </p:spPr>
      </p:sp>
      <p:sp>
        <p:nvSpPr>
          <p:cNvPr id="26" name="Text 24"/>
          <p:cNvSpPr/>
          <p:nvPr/>
        </p:nvSpPr>
        <p:spPr>
          <a:xfrm>
            <a:off x="12293600" y="3810000"/>
            <a:ext cx="292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5F0E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Islam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293600" y="4254500"/>
            <a:ext cx="292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D4AF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الرحمن </a:t>
            </a:r>
            <a:pPr>
              <a:lnSpc>
                <a:spcPct val="100000"/>
              </a:lnSpc>
            </a:pPr>
            <a:r>
              <a:rPr lang="en-US" sz="1800" i="1" dirty="0">
                <a:solidFill>
                  <a:srgbClr val="D4AF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Al-Rahman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293600" y="4699000"/>
            <a:ext cx="292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A39B9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Most Merciful. Mercy as a divine attribute, and the obligation of humans to embody mercy.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62000" y="6921500"/>
            <a:ext cx="14732000" cy="0"/>
          </a:xfrm>
          <a:prstGeom prst="straightConnector1">
            <a:avLst/>
          </a:prstGeom>
          <a:noFill/>
          <a:ln w="12700">
            <a:solidFill>
              <a:srgbClr val="C9A96E">
                <a:alpha val="30196"/>
              </a:srgbClr>
            </a:solidFill>
            <a:prstDash val="solid"/>
            <a:headEnd type="none"/>
            <a:tailEnd type="none"/>
          </a:ln>
        </p:spPr>
      </p:sp>
      <p:sp>
        <p:nvSpPr>
          <p:cNvPr id="30" name="Text 28"/>
          <p:cNvSpPr/>
          <p:nvPr/>
        </p:nvSpPr>
        <p:spPr>
          <a:xfrm>
            <a:off x="762000" y="7112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C9A9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At the center of the artwork, these four symbols coexist in harmony — this was the original vision.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62000" y="8763000"/>
            <a:ext cx="2540000" cy="0"/>
          </a:xfrm>
          <a:prstGeom prst="straightConnector1">
            <a:avLst/>
          </a:prstGeom>
          <a:noFill/>
          <a:ln w="12700">
            <a:solidFill>
              <a:srgbClr val="C9A96E"/>
            </a:solidFill>
            <a:prstDash val="solid"/>
            <a:headEnd type="none"/>
            <a:tailEnd type="none"/>
          </a:ln>
        </p:spPr>
      </p:sp>
      <p:sp>
        <p:nvSpPr>
          <p:cNvPr id="32" name="Text 30"/>
          <p:cNvSpPr/>
          <p:nvPr/>
        </p:nvSpPr>
        <p:spPr>
          <a:xfrm>
            <a:off x="14986000" y="87376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A39B9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spc="100" kern="0" dirty="0">
                <a:solidFill>
                  <a:srgbClr val="F5F0E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What Happened? — </a:t>
            </a:r>
            <a:pPr>
              <a:lnSpc>
                <a:spcPct val="130000"/>
              </a:lnSpc>
            </a:pPr>
            <a:r>
              <a:rPr lang="en-US" sz="3000" spc="100" kern="0" dirty="0">
                <a:solidFill>
                  <a:srgbClr val="C9A96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Fracture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206500"/>
            <a:ext cx="1524000" cy="0"/>
          </a:xfrm>
          <a:prstGeom prst="straightConnector1">
            <a:avLst/>
          </a:prstGeom>
          <a:noFill/>
          <a:ln w="12700">
            <a:solidFill>
              <a:srgbClr val="C9A96E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1460500"/>
            <a:ext cx="147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A39B9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As "humanity" traveled across cultures, it was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translated — and mistranslated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A39B9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2159000"/>
            <a:ext cx="342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C9A96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1863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857500"/>
            <a:ext cx="342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spc="200" kern="0" dirty="0">
                <a:solidFill>
                  <a:srgbClr val="D4AF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GENEVA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330200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"Humanité"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Universal, apolitical, unconditional. Aid as a moral imperative transcending national borders.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18000" y="3683000"/>
            <a:ext cx="381000" cy="0"/>
          </a:xfrm>
          <a:prstGeom prst="straightConnector1">
            <a:avLst/>
          </a:prstGeom>
          <a:noFill/>
          <a:ln w="12700">
            <a:solidFill>
              <a:srgbClr val="A39B91"/>
            </a:solidFill>
            <a:prstDash val="solid"/>
            <a:headEnd type="none"/>
            <a:tailEnd type="arrow"/>
          </a:ln>
        </p:spPr>
      </p:sp>
      <p:sp>
        <p:nvSpPr>
          <p:cNvPr id="9" name="Text 7"/>
          <p:cNvSpPr/>
          <p:nvPr/>
        </p:nvSpPr>
        <p:spPr>
          <a:xfrm>
            <a:off x="4826000" y="2159000"/>
            <a:ext cx="342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C9A96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1904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26000" y="2857500"/>
            <a:ext cx="342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spc="200" kern="0" dirty="0">
                <a:solidFill>
                  <a:srgbClr val="D4AF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SHANGHAI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26000" y="330200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"人道" Rendao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Resonated with Confucian ethics, but reframed as a marker of "modern civilization" — a tool of cultural diplomacy.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382000" y="3683000"/>
            <a:ext cx="381000" cy="0"/>
          </a:xfrm>
          <a:prstGeom prst="straightConnector1">
            <a:avLst/>
          </a:prstGeom>
          <a:noFill/>
          <a:ln w="12700">
            <a:solidFill>
              <a:srgbClr val="A39B91"/>
            </a:solidFill>
            <a:prstDash val="solid"/>
            <a:headEnd type="none"/>
            <a:tailEnd type="arrow"/>
          </a:ln>
        </p:spPr>
      </p:sp>
      <p:sp>
        <p:nvSpPr>
          <p:cNvPr id="13" name="Text 11"/>
          <p:cNvSpPr/>
          <p:nvPr/>
        </p:nvSpPr>
        <p:spPr>
          <a:xfrm>
            <a:off x="8890000" y="2159000"/>
            <a:ext cx="342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C9A96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1949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890000" y="2857500"/>
            <a:ext cx="342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spc="200" kern="0" dirty="0">
                <a:solidFill>
                  <a:srgbClr val="D4AF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DIPLOMACY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890000" y="330200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International Law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Codified into the Geneva Conventions, but subject to state sovereignty and political veto.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446000" y="3683000"/>
            <a:ext cx="381000" cy="0"/>
          </a:xfrm>
          <a:prstGeom prst="straightConnector1">
            <a:avLst/>
          </a:prstGeom>
          <a:noFill/>
          <a:ln w="12700">
            <a:solidFill>
              <a:srgbClr val="A39B91"/>
            </a:solidFill>
            <a:prstDash val="solid"/>
            <a:headEnd type="none"/>
            <a:tailEnd type="arrow"/>
          </a:ln>
        </p:spPr>
      </p:sp>
      <p:sp>
        <p:nvSpPr>
          <p:cNvPr id="17" name="Text 15"/>
          <p:cNvSpPr/>
          <p:nvPr/>
        </p:nvSpPr>
        <p:spPr>
          <a:xfrm>
            <a:off x="12954000" y="2159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8B1A2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2024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954000" y="2857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spc="200" kern="0" dirty="0">
                <a:solidFill>
                  <a:srgbClr val="8B1A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GEOPOLITICS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954000" y="3302000"/>
            <a:ext cx="2540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8B1A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Weaponized Aid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8B1A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"Humanitarian intervention" as pretext for conflict. Selective aid as leverage.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62000" y="5969000"/>
            <a:ext cx="14732000" cy="0"/>
          </a:xfrm>
          <a:prstGeom prst="straightConnector1">
            <a:avLst/>
          </a:prstGeom>
          <a:noFill/>
          <a:ln w="12700">
            <a:solidFill>
              <a:srgbClr val="8B1A2B"/>
            </a:solidFill>
            <a:prstDash val="sysDot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7721600" y="609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8B1A2B"/>
          </a:solidFill>
          <a:ln/>
        </p:spPr>
      </p:sp>
      <p:sp>
        <p:nvSpPr>
          <p:cNvPr id="22" name="Text 20"/>
          <p:cNvSpPr/>
          <p:nvPr/>
        </p:nvSpPr>
        <p:spPr>
          <a:xfrm>
            <a:off x="2032000" y="6540500"/>
            <a:ext cx="1219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8B1A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outer ring of the artwork shows this fracture: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A39B9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barbed wire, tanks, political borders — the sacred halo torn apart.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62000" y="8763000"/>
            <a:ext cx="2540000" cy="0"/>
          </a:xfrm>
          <a:prstGeom prst="straightConnector1">
            <a:avLst/>
          </a:prstGeom>
          <a:noFill/>
          <a:ln w="12700">
            <a:solidFill>
              <a:srgbClr val="C9A96E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14986000" y="87376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A39B9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016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spc="100" kern="0" dirty="0">
                <a:solidFill>
                  <a:srgbClr val="F5F0E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What Does It Mean </a:t>
            </a:r>
            <a:pPr>
              <a:lnSpc>
                <a:spcPct val="130000"/>
              </a:lnSpc>
            </a:pPr>
            <a:r>
              <a:rPr lang="en-US" sz="3000" spc="100" kern="0" dirty="0">
                <a:solidFill>
                  <a:srgbClr val="C9A96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Today</a:t>
            </a:r>
            <a:pPr>
              <a:lnSpc>
                <a:spcPct val="130000"/>
              </a:lnSpc>
            </a:pPr>
            <a:r>
              <a:rPr lang="en-US" sz="3000" spc="100" kern="0" dirty="0">
                <a:solidFill>
                  <a:srgbClr val="F5F0E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206500"/>
            <a:ext cx="1524000" cy="0"/>
          </a:xfrm>
          <a:prstGeom prst="straightConnector1">
            <a:avLst/>
          </a:prstGeom>
          <a:noFill/>
          <a:ln w="12700">
            <a:solidFill>
              <a:srgbClr val="C9A96E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15240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D4AF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artwork's bottom-right corner — a single beam of light piercing through the cracks — holds the answer.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2667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300" kern="0" dirty="0">
                <a:solidFill>
                  <a:srgbClr val="C9A9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CORE ARGUMENT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3048000"/>
            <a:ext cx="9398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 are not witnessing the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death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humanitarianism, but a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D4AF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test of its resilience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four civilizational traditions of compassion remain alive — in grassroots aid workers, in cross-border medical volunteers, in refugee camps where caregivers serve 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i="1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"the Other"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regardless of politics.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541000" y="2667000"/>
            <a:ext cx="4953000" cy="3048000"/>
          </a:xfrm>
          <a:prstGeom prst="rect">
            <a:avLst/>
          </a:prstGeom>
          <a:solidFill>
            <a:srgbClr val="1E1B17"/>
          </a:solidFill>
          <a:ln/>
        </p:spPr>
      </p:sp>
      <p:sp>
        <p:nvSpPr>
          <p:cNvPr id="8" name="Text 6"/>
          <p:cNvSpPr/>
          <p:nvPr/>
        </p:nvSpPr>
        <p:spPr>
          <a:xfrm>
            <a:off x="10858500" y="2857500"/>
            <a:ext cx="431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300" kern="0" dirty="0">
                <a:solidFill>
                  <a:srgbClr val="C9A9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 CONNECTION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858500" y="3238500"/>
            <a:ext cx="4318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future of Chinese and world civilization depends not on erasing differences, but on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D4AF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returning to the translation table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where 仁, </a:t>
            </a:r>
            <a:pPr>
              <a:lnSpc>
                <a:spcPct val="170000"/>
              </a:lnSpc>
            </a:pPr>
            <a:r>
              <a:rPr lang="en-US" sz="1600" i="1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caritas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70000"/>
              </a:lnSpc>
            </a:pPr>
            <a:r>
              <a:rPr lang="en-US" sz="1600" i="1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cibei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and </a:t>
            </a:r>
            <a:pPr>
              <a:lnSpc>
                <a:spcPct val="170000"/>
              </a:lnSpc>
            </a:pPr>
            <a:r>
              <a:rPr lang="en-US" sz="1600" i="1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al-Rahman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once sat together.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2000" y="5969000"/>
            <a:ext cx="14732000" cy="1651000"/>
          </a:xfrm>
          <a:prstGeom prst="rect">
            <a:avLst/>
          </a:prstGeom>
          <a:solidFill>
            <a:srgbClr val="1E1B17"/>
          </a:solidFill>
          <a:ln w="12700">
            <a:solidFill>
              <a:srgbClr val="C9A96E">
                <a:alpha val="18824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" y="6286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74940"/>
                </a:moveTo>
                <a:lnTo>
                  <a:pt x="167382" y="60494"/>
                </a:lnTo>
                <a:cubicBezTo>
                  <a:pt x="150019" y="36463"/>
                  <a:pt x="122168" y="22225"/>
                  <a:pt x="92442" y="22225"/>
                </a:cubicBezTo>
                <a:cubicBezTo>
                  <a:pt x="41394" y="22225"/>
                  <a:pt x="0" y="63619"/>
                  <a:pt x="0" y="114667"/>
                </a:cubicBezTo>
                <a:lnTo>
                  <a:pt x="0" y="116473"/>
                </a:lnTo>
                <a:cubicBezTo>
                  <a:pt x="0" y="132864"/>
                  <a:pt x="4306" y="149810"/>
                  <a:pt x="11529" y="166688"/>
                </a:cubicBezTo>
                <a:lnTo>
                  <a:pt x="85150" y="166688"/>
                </a:lnTo>
                <a:cubicBezTo>
                  <a:pt x="87372" y="166688"/>
                  <a:pt x="89386" y="165368"/>
                  <a:pt x="90289" y="163284"/>
                </a:cubicBezTo>
                <a:lnTo>
                  <a:pt x="112375" y="110292"/>
                </a:lnTo>
                <a:cubicBezTo>
                  <a:pt x="114945" y="104180"/>
                  <a:pt x="120918" y="100151"/>
                  <a:pt x="127516" y="100013"/>
                </a:cubicBezTo>
                <a:cubicBezTo>
                  <a:pt x="134114" y="99874"/>
                  <a:pt x="140226" y="103763"/>
                  <a:pt x="142935" y="109805"/>
                </a:cubicBezTo>
                <a:lnTo>
                  <a:pt x="178564" y="188913"/>
                </a:lnTo>
                <a:lnTo>
                  <a:pt x="207318" y="131405"/>
                </a:lnTo>
                <a:cubicBezTo>
                  <a:pt x="210165" y="125780"/>
                  <a:pt x="215930" y="122168"/>
                  <a:pt x="222250" y="122168"/>
                </a:cubicBezTo>
                <a:cubicBezTo>
                  <a:pt x="228570" y="122168"/>
                  <a:pt x="234335" y="125710"/>
                  <a:pt x="237182" y="131405"/>
                </a:cubicBezTo>
                <a:lnTo>
                  <a:pt x="253296" y="163562"/>
                </a:lnTo>
                <a:cubicBezTo>
                  <a:pt x="254268" y="165437"/>
                  <a:pt x="256143" y="166618"/>
                  <a:pt x="258296" y="166618"/>
                </a:cubicBezTo>
                <a:lnTo>
                  <a:pt x="344140" y="166618"/>
                </a:lnTo>
                <a:cubicBezTo>
                  <a:pt x="351433" y="149741"/>
                  <a:pt x="355669" y="132794"/>
                  <a:pt x="355669" y="116403"/>
                </a:cubicBezTo>
                <a:lnTo>
                  <a:pt x="355669" y="114598"/>
                </a:lnTo>
                <a:cubicBezTo>
                  <a:pt x="355600" y="63619"/>
                  <a:pt x="314206" y="22225"/>
                  <a:pt x="263158" y="22225"/>
                </a:cubicBezTo>
                <a:cubicBezTo>
                  <a:pt x="233501" y="22225"/>
                  <a:pt x="205581" y="36463"/>
                  <a:pt x="188218" y="60494"/>
                </a:cubicBezTo>
                <a:lnTo>
                  <a:pt x="177800" y="74870"/>
                </a:lnTo>
                <a:close/>
                <a:moveTo>
                  <a:pt x="326152" y="200025"/>
                </a:moveTo>
                <a:lnTo>
                  <a:pt x="258227" y="200025"/>
                </a:lnTo>
                <a:cubicBezTo>
                  <a:pt x="243503" y="200025"/>
                  <a:pt x="230029" y="191691"/>
                  <a:pt x="223431" y="178495"/>
                </a:cubicBezTo>
                <a:lnTo>
                  <a:pt x="222250" y="176133"/>
                </a:lnTo>
                <a:lnTo>
                  <a:pt x="192732" y="235238"/>
                </a:lnTo>
                <a:cubicBezTo>
                  <a:pt x="189885" y="241002"/>
                  <a:pt x="183912" y="244614"/>
                  <a:pt x="177453" y="244475"/>
                </a:cubicBezTo>
                <a:cubicBezTo>
                  <a:pt x="170994" y="244336"/>
                  <a:pt x="165229" y="240516"/>
                  <a:pt x="162590" y="234682"/>
                </a:cubicBezTo>
                <a:lnTo>
                  <a:pt x="128349" y="158631"/>
                </a:lnTo>
                <a:lnTo>
                  <a:pt x="121057" y="176133"/>
                </a:lnTo>
                <a:cubicBezTo>
                  <a:pt x="115014" y="190649"/>
                  <a:pt x="100846" y="200094"/>
                  <a:pt x="85150" y="200094"/>
                </a:cubicBezTo>
                <a:lnTo>
                  <a:pt x="29448" y="200094"/>
                </a:lnTo>
                <a:cubicBezTo>
                  <a:pt x="62230" y="251351"/>
                  <a:pt x="114875" y="298510"/>
                  <a:pt x="147796" y="323652"/>
                </a:cubicBezTo>
                <a:cubicBezTo>
                  <a:pt x="156408" y="330180"/>
                  <a:pt x="166965" y="333444"/>
                  <a:pt x="177731" y="333444"/>
                </a:cubicBezTo>
                <a:cubicBezTo>
                  <a:pt x="188496" y="333444"/>
                  <a:pt x="199122" y="330250"/>
                  <a:pt x="207665" y="323652"/>
                </a:cubicBezTo>
                <a:cubicBezTo>
                  <a:pt x="240725" y="298440"/>
                  <a:pt x="293370" y="251281"/>
                  <a:pt x="326152" y="200025"/>
                </a:cubicBezTo>
                <a:close/>
              </a:path>
            </a:pathLst>
          </a:custGeom>
          <a:solidFill>
            <a:srgbClr val="C9A96E"/>
          </a:solidFill>
          <a:ln/>
        </p:spPr>
      </p:sp>
      <p:sp>
        <p:nvSpPr>
          <p:cNvPr id="12" name="Text 10"/>
          <p:cNvSpPr/>
          <p:nvPr/>
        </p:nvSpPr>
        <p:spPr>
          <a:xfrm>
            <a:off x="1651000" y="6286500"/>
            <a:ext cx="444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C9A9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MEDICINE / PUBLIC HEALTH LENS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6731000"/>
            <a:ext cx="1397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 health knows no borders —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COVID-19, H5N1, climate health crises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force us to remember: compassion must be practical, not ideological.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8763000"/>
            <a:ext cx="2540000" cy="0"/>
          </a:xfrm>
          <a:prstGeom prst="straightConnector1">
            <a:avLst/>
          </a:prstGeom>
          <a:noFill/>
          <a:ln w="12700">
            <a:solidFill>
              <a:srgbClr val="C9A96E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14986000" y="87376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A39B9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er2i45tfols2y/mnt/agents/output/humanitarian-ppt/images/ai_visual_work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rcRect l="0" r="0" t="21875" b="218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41210">
                  <a:alpha val="38000"/>
                </a:srgbClr>
              </a:gs>
              <a:gs pos="60000">
                <a:srgbClr val="141210">
                  <a:alpha val="75000"/>
                </a:srgbClr>
              </a:gs>
              <a:gs pos="100000">
                <a:srgbClr val="141210">
                  <a:alpha val="94000"/>
                </a:srgbClr>
              </a:gs>
            </a:gsLst>
            <a:path path="circle"/>
          </a:gradFill>
          <a:ln/>
        </p:spPr>
      </p:sp>
      <p:sp>
        <p:nvSpPr>
          <p:cNvPr id="4" name="Shape 1"/>
          <p:cNvSpPr/>
          <p:nvPr/>
        </p:nvSpPr>
        <p:spPr>
          <a:xfrm>
            <a:off x="6858000" y="2794000"/>
            <a:ext cx="2540000" cy="0"/>
          </a:xfrm>
          <a:prstGeom prst="straightConnector1">
            <a:avLst/>
          </a:prstGeom>
          <a:noFill/>
          <a:ln w="12700">
            <a:solidFill>
              <a:srgbClr val="C9A96E"/>
            </a:solidFill>
            <a:prstDash val="solid"/>
            <a:headEnd type="none"/>
            <a:tailEnd type="none"/>
          </a:ln>
        </p:spPr>
      </p:sp>
      <p:sp>
        <p:nvSpPr>
          <p:cNvPr id="5" name="Text 2"/>
          <p:cNvSpPr/>
          <p:nvPr/>
        </p:nvSpPr>
        <p:spPr>
          <a:xfrm>
            <a:off x="2540000" y="3175000"/>
            <a:ext cx="1117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200" spc="600" kern="0" dirty="0">
                <a:solidFill>
                  <a:srgbClr val="F5F0E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2286000" y="4318000"/>
            <a:ext cx="1168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i="1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"To heal is to translate — across languages, borders, and civilizations."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858000" y="5461000"/>
            <a:ext cx="2540000" cy="0"/>
          </a:xfrm>
          <a:prstGeom prst="straightConnector1">
            <a:avLst/>
          </a:prstGeom>
          <a:noFill/>
          <a:ln w="12700">
            <a:solidFill>
              <a:srgbClr val="C9A96E"/>
            </a:solidFill>
            <a:prstDash val="solid"/>
            <a:headEnd type="none"/>
            <a:tailEnd type="none"/>
          </a:ln>
        </p:spPr>
      </p:sp>
      <p:sp>
        <p:nvSpPr>
          <p:cNvPr id="8" name="Text 5"/>
          <p:cNvSpPr/>
          <p:nvPr/>
        </p:nvSpPr>
        <p:spPr>
          <a:xfrm>
            <a:off x="5080000" y="58420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spc="400" kern="0" dirty="0">
                <a:solidFill>
                  <a:srgbClr val="A39B9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OPEN FOR DISCUSSION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318000" y="7366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A39B9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Medicine / Public Health × Humanistic Civilization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62000" y="8763000"/>
            <a:ext cx="2540000" cy="0"/>
          </a:xfrm>
          <a:prstGeom prst="straightConnector1">
            <a:avLst/>
          </a:prstGeom>
          <a:noFill/>
          <a:ln w="12700">
            <a:solidFill>
              <a:srgbClr val="C9A96E"/>
            </a:solidFill>
            <a:prstDash val="solid"/>
            <a:headEnd type="none"/>
            <a:tailEnd type="none"/>
          </a:ln>
        </p:spPr>
      </p:sp>
      <p:sp>
        <p:nvSpPr>
          <p:cNvPr id="11" name="Text 8"/>
          <p:cNvSpPr/>
          <p:nvPr/>
        </p:nvSpPr>
        <p:spPr>
          <a:xfrm>
            <a:off x="14986000" y="87376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A39B9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Translating Humanity: The Cross-Civilizational Journey of a Concept</dc:title>
  <dc:subject>Translating Humanity: The Cross-Civilizational Journey of a Concept</dc:subject>
  <dc:creator>Kimi</dc:creator>
  <cp:lastModifiedBy>Kimi</cp:lastModifiedBy>
  <cp:revision>1</cp:revision>
  <dcterms:created xsi:type="dcterms:W3CDTF">2026-05-17T08:03:45Z</dcterms:created>
  <dcterms:modified xsi:type="dcterms:W3CDTF">2026-05-17T08:03:45Z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{"Label":"Translating Humanity: The Cross-Civilizational Journey of a Concept","ContentProducer":"001191110108MACG2KBH8F10000","ProduceID":"19e34d34-a102-8ce4-8000-00003358c665","ReservedCode1":"","ContentPropagator":"001191110108MACG2KBH8F20000","PropagateID":"19e34d34-a102-8ce4-8000-00003358c665","ReservedCode2":""}</vt:lpwstr>
  </property>
</Properties>
</file>