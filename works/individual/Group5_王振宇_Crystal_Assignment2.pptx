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58" r:id="rId5"/>
    <p:sldId id="259" r:id="rId6"/>
    <p:sldId id="260" r:id="rId7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85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01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489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1779-34B6-3CC9-C94A-92D99342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911EF-0063-2DE1-D936-66FF14E73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FA6BB-21BA-B61C-D92A-5CB356900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0336D-3174-3F24-313B-5F4B9A6CF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9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7867-0AF9-8046-5296-0DDF50FD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118DB-805A-B218-3074-7F4F67FE8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0697B-9B6B-EA9B-2A3F-943DFB3C1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9C748-6CF2-458B-1EF9-7CC71CE46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15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482" y="1986554"/>
            <a:ext cx="6448055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Education </a:t>
            </a: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&amp;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 Economy in Modern China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553482" y="4908550"/>
            <a:ext cx="1524000" cy="381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75758" y="5624107"/>
            <a:ext cx="552302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The Fuzhou Shipbuilding Academy, 1866–1895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96484F-7E8F-2722-9F71-FE650A047CA8}"/>
              </a:ext>
            </a:extLst>
          </p:cNvPr>
          <p:cNvSpPr/>
          <p:nvPr/>
        </p:nvSpPr>
        <p:spPr>
          <a:xfrm>
            <a:off x="675757" y="6439048"/>
            <a:ext cx="552302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200" dirty="0">
                <a:solidFill>
                  <a:srgbClr val="F5F0E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ang Zhenyu </a:t>
            </a:r>
            <a:endParaRPr lang="en-US" sz="2200" dirty="0">
              <a:solidFill>
                <a:srgbClr val="F5F0E8"/>
              </a:solidFill>
              <a:latin typeface="Times New Roman" panose="02020603050405020304" pitchFamily="18" charset="0"/>
              <a:ea typeface="QuattrocentoSans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BBD4-6D21-849E-1FC4-82DB1C2D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>
            <a:extLst>
              <a:ext uri="{FF2B5EF4-FFF2-40B4-BE49-F238E27FC236}">
                <a16:creationId xmlns:a16="http://schemas.microsoft.com/office/drawing/2014/main" id="{B6D6DDF4-8F20-6C11-AC7A-1E8CE428CC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0D97933-1C27-0727-093D-FD65905430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923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C45BB1-DC82-F365-F823-44B98AABDDB7}"/>
              </a:ext>
            </a:extLst>
          </p:cNvPr>
          <p:cNvSpPr/>
          <p:nvPr/>
        </p:nvSpPr>
        <p:spPr>
          <a:xfrm>
            <a:off x="1015999" y="752727"/>
            <a:ext cx="10844055" cy="596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 Why I Used Claude Code to Build an Interactive Webpage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507AA2F-C187-7CF5-7E8D-B704DAE25214}"/>
              </a:ext>
            </a:extLst>
          </p:cNvPr>
          <p:cNvSpPr/>
          <p:nvPr/>
        </p:nvSpPr>
        <p:spPr>
          <a:xfrm>
            <a:off x="899160" y="1854200"/>
            <a:ext cx="6096000" cy="6350000"/>
          </a:xfrm>
          <a:prstGeom prst="rect">
            <a:avLst/>
          </a:prstGeom>
          <a:solidFill>
            <a:srgbClr val="0F1923">
              <a:alpha val="5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15C1170-CC1A-E347-95CA-5D72D8BFB6A2}"/>
              </a:ext>
            </a:extLst>
          </p:cNvPr>
          <p:cNvSpPr/>
          <p:nvPr/>
        </p:nvSpPr>
        <p:spPr>
          <a:xfrm>
            <a:off x="1339660" y="2051050"/>
            <a:ext cx="2788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CORE INSIGHT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6F12873-5E05-2B88-536F-9EAD875ACB8A}"/>
              </a:ext>
            </a:extLst>
          </p:cNvPr>
          <p:cNvSpPr/>
          <p:nvPr/>
        </p:nvSpPr>
        <p:spPr>
          <a:xfrm>
            <a:off x="1305559" y="2628900"/>
            <a:ext cx="6951463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A webpage lets the audience move through this relationship step by step.</a:t>
            </a:r>
            <a:endParaRPr lang="en-US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4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page can include a timeline from 1866 to 1895, with clickable sections. </a:t>
            </a:r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4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Helps turn an idea into a working webpage quickly.</a:t>
            </a:r>
            <a:endParaRPr lang="en-US" sz="2400" dirty="0">
              <a:solidFill>
                <a:srgbClr val="F5F0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400" dirty="0">
                <a:solidFill>
                  <a:srgbClr val="F5F0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goal is to make the webpage work like a guided explanation. The interaction is not for decoration</a:t>
            </a:r>
          </a:p>
        </p:txBody>
      </p:sp>
      <p:pic>
        <p:nvPicPr>
          <p:cNvPr id="24" name="图片 23" descr="Claude Code: From Zero to Hero. What is Claude Code? | by Daniel Avila |  Medium">
            <a:extLst>
              <a:ext uri="{FF2B5EF4-FFF2-40B4-BE49-F238E27FC236}">
                <a16:creationId xmlns:a16="http://schemas.microsoft.com/office/drawing/2014/main" id="{B92C1F8D-53AA-E209-52CC-2B2F61A97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22" y="1635063"/>
            <a:ext cx="5728218" cy="321189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0A55175-32D6-50B0-08E5-307EFFD80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0" y="5105293"/>
            <a:ext cx="7985876" cy="378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24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7FD7-66E4-881A-399B-7F57F77F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>
            <a:extLst>
              <a:ext uri="{FF2B5EF4-FFF2-40B4-BE49-F238E27FC236}">
                <a16:creationId xmlns:a16="http://schemas.microsoft.com/office/drawing/2014/main" id="{3E1EA373-0890-53CC-D86E-0CD828EF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533E35E-B45E-A18B-FC5E-BF0B55057B21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923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FF38F07-8933-8EAC-F538-4D88432E6931}"/>
              </a:ext>
            </a:extLst>
          </p:cNvPr>
          <p:cNvSpPr/>
          <p:nvPr/>
        </p:nvSpPr>
        <p:spPr>
          <a:xfrm>
            <a:off x="853955" y="580743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Why I Choose 1866 to 1895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E1B9FFC-F096-9084-CFB4-5D31314D7792}"/>
              </a:ext>
            </a:extLst>
          </p:cNvPr>
          <p:cNvSpPr/>
          <p:nvPr/>
        </p:nvSpPr>
        <p:spPr>
          <a:xfrm>
            <a:off x="931922" y="335915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CORE INSIGHT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6CB68C8-33E8-4C7C-7B7F-4C49720B54FE}"/>
              </a:ext>
            </a:extLst>
          </p:cNvPr>
          <p:cNvSpPr/>
          <p:nvPr/>
        </p:nvSpPr>
        <p:spPr>
          <a:xfrm>
            <a:off x="931922" y="4194755"/>
            <a:ext cx="6962012" cy="2969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External Pressure</a:t>
            </a: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Late Qing China lacked modern warships, shipyards, engineers, translators, and naval officers. Without modern technical education, building modern industrial capacity was impossible.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FD217DC-DFD6-7126-6ACD-E560D41D05D2}"/>
              </a:ext>
            </a:extLst>
          </p:cNvPr>
          <p:cNvSpPr/>
          <p:nvPr/>
        </p:nvSpPr>
        <p:spPr>
          <a:xfrm>
            <a:off x="8224456" y="2991734"/>
            <a:ext cx="7112000" cy="2598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Economic Demand Shapes Education</a:t>
            </a: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Fuzhou Shipbuilding Academy's curriculum was shaped by economic and military needs: shipbuilding required engineering, marine engines required mechanics, navigation required mathematics and English.</a:t>
            </a:r>
            <a:endParaRPr lang="en-US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E638682-6C60-548D-21D8-65259BC0761E}"/>
              </a:ext>
            </a:extLst>
          </p:cNvPr>
          <p:cNvSpPr/>
          <p:nvPr/>
        </p:nvSpPr>
        <p:spPr>
          <a:xfrm>
            <a:off x="8224456" y="5988614"/>
            <a:ext cx="7099622" cy="207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Fiscal Capacity Limits Growth</a:t>
            </a: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academy relied on customs revenue. It was not a national education system but one of a small number of technical schools created by concentrating limited resources.</a:t>
            </a:r>
            <a:endParaRPr lang="en-US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47C8389-DCC3-1132-1361-CD440710EE29}"/>
              </a:ext>
            </a:extLst>
          </p:cNvPr>
          <p:cNvSpPr/>
          <p:nvPr/>
        </p:nvSpPr>
        <p:spPr>
          <a:xfrm>
            <a:off x="853955" y="1287281"/>
            <a:ext cx="14482501" cy="1235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Education becomes a foundation for economic development,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but the level of economic development also shapes the size, quality, and direction of education.</a:t>
            </a:r>
          </a:p>
        </p:txBody>
      </p:sp>
    </p:spTree>
    <p:extLst>
      <p:ext uri="{BB962C8B-B14F-4D97-AF65-F5344CB8AC3E}">
        <p14:creationId xmlns:p14="http://schemas.microsoft.com/office/powerpoint/2010/main" val="17412282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923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1016000" y="635000"/>
            <a:ext cx="14224000" cy="12700"/>
          </a:xfrm>
          <a:prstGeom prst="rect">
            <a:avLst/>
          </a:prstGeom>
          <a:solidFill>
            <a:srgbClr val="8B73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200" dirty="0">
                <a:solidFill>
                  <a:srgbClr val="8B735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01 WHY I CHOOSE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kern="0" spc="200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02 WHAT HAPPENED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7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kern="0" spc="200" dirty="0">
                <a:solidFill>
                  <a:srgbClr val="8B735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03 WHAT THIS MEANS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952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What Happened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016000" y="5304260"/>
            <a:ext cx="14224000" cy="25400"/>
          </a:xfrm>
          <a:prstGeom prst="rect">
            <a:avLst/>
          </a:prstGeom>
          <a:solidFill>
            <a:srgbClr val="8B73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2870200" y="5202660"/>
            <a:ext cx="228600" cy="22860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759700" y="5202660"/>
            <a:ext cx="228600" cy="22860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12649200" y="5202660"/>
            <a:ext cx="228600" cy="22860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016000" y="479626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1866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05500" y="479626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1870s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95000" y="479626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1895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30300" y="1800426"/>
            <a:ext cx="393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Foundation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Zuo Zongtang proposed the Fuzhou Arsenal and Academy at Mawei, 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with a front school (French, shipbuilding) and a rear school (English, navigation).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23000" y="1764577"/>
            <a:ext cx="393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Results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Graduates like Liu Buchan and Deng Shichang became Beiyang Navy leaders.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Yan Fu translated Western works including </a:t>
            </a:r>
            <a:r>
              <a:rPr lang="en-US" sz="1800" i="1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Evolution and Ethics</a:t>
            </a: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Wealth of Nations</a:t>
            </a: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85500" y="1789334"/>
            <a:ext cx="4445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Decline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After defeat in the First Sino-Japanese War, the Beiyang Fleet was destroyed. </a:t>
            </a:r>
            <a:endParaRPr lang="en-US" dirty="0">
              <a:solidFill>
                <a:srgbClr val="F5F0E8"/>
              </a:solidFill>
              <a:latin typeface="Times New Roman" panose="02020603050405020304" pitchFamily="18" charset="0"/>
              <a:ea typeface="Quattrocento 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Orders for the Fuzhou Arsenal declined, and the academy's development was interrupted.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16000" y="6032500"/>
            <a:ext cx="14224000" cy="2603500"/>
          </a:xfrm>
          <a:prstGeom prst="rect">
            <a:avLst/>
          </a:prstGeom>
          <a:solidFill>
            <a:srgbClr val="0F1923">
              <a:alpha val="37647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442978" y="5802292"/>
            <a:ext cx="14223999" cy="3031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Key Insight</a:t>
            </a: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This was a recombination of technology, institutions, and talent through cross-civilizational contact. French shipbuilding tech entered China, was reshaped by Qing needs, and students created new effects across industrial and intellectual fields.</a:t>
            </a:r>
            <a:endParaRPr lang="en-US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When the external environment collapsed, even an existing system could be interrupted,</a:t>
            </a:r>
            <a:r>
              <a:rPr lang="zh-CN" alt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mutual support between education and economy does not continue automatically</a:t>
            </a:r>
            <a:r>
              <a:rPr lang="en-US" sz="18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923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1016000" y="635000"/>
            <a:ext cx="14224000" cy="12700"/>
          </a:xfrm>
          <a:prstGeom prst="rect">
            <a:avLst/>
          </a:prstGeom>
          <a:solidFill>
            <a:srgbClr val="8B73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200" dirty="0">
                <a:solidFill>
                  <a:srgbClr val="8B735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01 WHY I CHOOSE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200" dirty="0">
                <a:solidFill>
                  <a:srgbClr val="8B7355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02 WHAT HAPPENED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76000" y="254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b="1" kern="0" spc="200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03 WHAT THIS MEANS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81539" y="999612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What This Means Today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759517" y="2673354"/>
            <a:ext cx="4844166" cy="5714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Decent Work and Economic Growth</a:t>
            </a:r>
            <a:endParaRPr lang="en-US" sz="1600" b="1" dirty="0"/>
          </a:p>
        </p:txBody>
      </p:sp>
      <p:sp>
        <p:nvSpPr>
          <p:cNvPr id="15" name="Text 12"/>
          <p:cNvSpPr/>
          <p:nvPr/>
        </p:nvSpPr>
        <p:spPr>
          <a:xfrm>
            <a:off x="1126683" y="4430931"/>
            <a:ext cx="6332811" cy="293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same is true today for </a:t>
            </a:r>
            <a:r>
              <a:rPr lang="en-US" sz="2000" b="1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artificial intelligence, green energy, semiconductors, and advanced manufacturing</a:t>
            </a: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Industrial upgrading cannot rely only on equipment and capital. It also requires </a:t>
            </a:r>
            <a:r>
              <a:rPr lang="en-US" sz="2000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long-term investment in education</a:t>
            </a: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023627" y="2032000"/>
            <a:ext cx="50800" cy="62230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1590564" y="2420017"/>
            <a:ext cx="3100558" cy="793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Reduced Inequalities</a:t>
            </a:r>
            <a:endParaRPr lang="en-US" sz="1600" b="1" dirty="0"/>
          </a:p>
        </p:txBody>
      </p:sp>
      <p:sp>
        <p:nvSpPr>
          <p:cNvPr id="21" name="Text 18"/>
          <p:cNvSpPr/>
          <p:nvPr/>
        </p:nvSpPr>
        <p:spPr>
          <a:xfrm>
            <a:off x="8814804" y="4346989"/>
            <a:ext cx="6844657" cy="287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Today, if high-quality technical education is concentrated only in a few regions or among a few groups, </a:t>
            </a:r>
            <a:r>
              <a:rPr lang="en-US" sz="2000" b="1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economic opportunities will also become concentrated</a:t>
            </a: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Expanding access to </a:t>
            </a:r>
            <a:r>
              <a:rPr lang="en-US" sz="2000" dirty="0">
                <a:solidFill>
                  <a:srgbClr val="C9A84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vocational education and technical training</a:t>
            </a:r>
            <a:r>
              <a:rPr lang="en-US" sz="2000" dirty="0">
                <a:solidFill>
                  <a:srgbClr val="F5F0E8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can help more people enter new industries.</a:t>
            </a:r>
            <a:endParaRPr lang="en-US" sz="2000" dirty="0"/>
          </a:p>
        </p:txBody>
      </p:sp>
      <p:pic>
        <p:nvPicPr>
          <p:cNvPr id="22" name="图片 21" descr="SDG 8 - Decent Work and Economic Growth explained">
            <a:extLst>
              <a:ext uri="{FF2B5EF4-FFF2-40B4-BE49-F238E27FC236}">
                <a16:creationId xmlns:a16="http://schemas.microsoft.com/office/drawing/2014/main" id="{89F0C89C-7221-32B3-B05D-ADE778502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" y="1870933"/>
            <a:ext cx="1871533" cy="1871533"/>
          </a:xfrm>
          <a:prstGeom prst="rect">
            <a:avLst/>
          </a:prstGeom>
        </p:spPr>
      </p:pic>
      <p:pic>
        <p:nvPicPr>
          <p:cNvPr id="23" name="图片 22" descr="Sustainable Development Goal 10 - Wikipedia">
            <a:extLst>
              <a:ext uri="{FF2B5EF4-FFF2-40B4-BE49-F238E27FC236}">
                <a16:creationId xmlns:a16="http://schemas.microsoft.com/office/drawing/2014/main" id="{E8999722-E613-A68B-5BF7-D4464A7B7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376" y="1870933"/>
            <a:ext cx="1871534" cy="18715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vgsefcuncuze/mnt/agents/output/fuzhou_shipbuilding/images/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52689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923">
                  <a:alpha val="75000"/>
                </a:srgbClr>
              </a:gs>
              <a:gs pos="50000">
                <a:srgbClr val="0F1923">
                  <a:alpha val="91000"/>
                </a:srgbClr>
              </a:gs>
              <a:gs pos="100000">
                <a:srgbClr val="0F1923">
                  <a:alpha val="7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 flipV="1">
            <a:off x="5715321" y="3351512"/>
            <a:ext cx="4778094" cy="457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778000" y="3500738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6000" dirty="0">
                <a:solidFill>
                  <a:srgbClr val="C9A84C"/>
                </a:solidFill>
                <a:latin typeface="Times New Roman" panose="02020603050405020304" pitchFamily="18" charset="0"/>
                <a:ea typeface="Oranienbaum" pitchFamily="34" charset="-122"/>
                <a:cs typeface="Times New Roman" panose="02020603050405020304" pitchFamily="18" charset="0"/>
              </a:rPr>
              <a:t>THANK YOU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 flipV="1">
            <a:off x="5715321" y="5337794"/>
            <a:ext cx="4778094" cy="457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493</Words>
  <Application>Microsoft Office PowerPoint</Application>
  <PresentationFormat>自定义</PresentationFormat>
  <Paragraphs>55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and Economy in Modern China</dc:title>
  <dc:subject>Education and Economy in Modern China</dc:subject>
  <dc:creator>Kimi</dc:creator>
  <cp:lastModifiedBy>Progie</cp:lastModifiedBy>
  <cp:revision>4</cp:revision>
  <dcterms:created xsi:type="dcterms:W3CDTF">2026-05-20T15:23:41Z</dcterms:created>
  <dcterms:modified xsi:type="dcterms:W3CDTF">2026-05-28T08:24:18Z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{"Label":"Education and Economy in Modern China","ContentProducer":"001191110108MACG2KBH8F10000","ProduceID":"19e45f8f-9742-85cd-8000-0000623bcb91","ReservedCode1":"","ContentPropagator":"001191110108MACG2KBH8F20000","PropagateID":"19e45f8f-9742-85cd-8000-0000623bcb91","ReservedCode2":""}</vt:lpwstr>
  </property>
</Properties>
</file>