
<file path=[Content_Types].xml><?xml version="1.0" encoding="utf-8"?>
<Types xmlns="http://schemas.openxmlformats.org/package/2006/content-types">
  <Default Extension="jpeg" ContentType="image/jpeg"/>
  <Default Extension="JPG" ContentType="image/.jpg"/>
  <Default Extension="png" ContentType="image/png"/>
  <Default Extension="mp4" ContentType="video/mp4"/>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media/image11.svg" ContentType="image/svg+xml"/>
  <Override PartName="/ppt/media/image13.svg" ContentType="image/svg+xml"/>
  <Override PartName="/ppt/media/image18.svg" ContentType="image/svg+xml"/>
  <Override PartName="/ppt/media/image2.svg" ContentType="image/svg+xml"/>
  <Override PartName="/ppt/media/image21.svg" ContentType="image/svg+xml"/>
  <Override PartName="/ppt/media/image23.svg" ContentType="image/svg+xml"/>
  <Override PartName="/ppt/media/image4.svg" ContentType="image/svg+xml"/>
  <Override PartName="/ppt/media/image7.svg" ContentType="image/svg+xml"/>
  <Override PartName="/ppt/media/image9.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3"/>
    <p:sldId id="270" r:id="rId4"/>
    <p:sldId id="258" r:id="rId5"/>
    <p:sldId id="259" r:id="rId6"/>
    <p:sldId id="267" r:id="rId7"/>
    <p:sldId id="266" r:id="rId8"/>
  </p:sldIdLst>
  <p:sldSz cx="18288000" cy="10287000"/>
  <p:notesSz cx="6858000" cy="9144000"/>
  <p:embeddedFontLst>
    <p:embeddedFont>
      <p:font typeface="Red Hat Display Bold" panose="02010803040201060303"/>
      <p:bold r:id="rId12"/>
    </p:embeddedFont>
    <p:embeddedFont>
      <p:font typeface="Calibri" panose="020F0502020204030204" charset="0"/>
      <p:regular r:id="rId13"/>
      <p:bold r:id="rId14"/>
      <p:italic r:id="rId15"/>
      <p:boldItalic r:id="rId16"/>
    </p:embeddedFont>
  </p:embeddedFontLst>
  <p:custDataLst>
    <p:tags r:id="rId1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presProps" Target="presProps.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gs" Target="tags/tag3.xml"/><Relationship Id="rId16" Type="http://schemas.openxmlformats.org/officeDocument/2006/relationships/font" Target="fonts/font5.fntdata"/><Relationship Id="rId15" Type="http://schemas.openxmlformats.org/officeDocument/2006/relationships/font" Target="fonts/font4.fntdata"/><Relationship Id="rId14" Type="http://schemas.openxmlformats.org/officeDocument/2006/relationships/font" Target="fonts/font3.fntdata"/><Relationship Id="rId13" Type="http://schemas.openxmlformats.org/officeDocument/2006/relationships/font" Target="fonts/font2.fntdata"/><Relationship Id="rId12" Type="http://schemas.openxmlformats.org/officeDocument/2006/relationships/font" Target="fonts/font1.fntdata"/><Relationship Id="rId11" Type="http://schemas.openxmlformats.org/officeDocument/2006/relationships/tableStyles" Target="tableStyles.xml"/><Relationship Id="rId10" Type="http://schemas.openxmlformats.org/officeDocument/2006/relationships/viewProps" Target="viewProps.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svg"/><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image" Target="../media/image14.png"/><Relationship Id="rId8" Type="http://schemas.openxmlformats.org/officeDocument/2006/relationships/image" Target="../media/image13.svg"/><Relationship Id="rId7" Type="http://schemas.openxmlformats.org/officeDocument/2006/relationships/image" Target="../media/image12.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 Id="rId3" Type="http://schemas.openxmlformats.org/officeDocument/2006/relationships/image" Target="../media/image8.png"/><Relationship Id="rId2" Type="http://schemas.openxmlformats.org/officeDocument/2006/relationships/image" Target="../media/image7.svg"/><Relationship Id="rId12" Type="http://schemas.openxmlformats.org/officeDocument/2006/relationships/slideLayout" Target="../slideLayouts/slideLayout7.xml"/><Relationship Id="rId11" Type="http://schemas.openxmlformats.org/officeDocument/2006/relationships/image" Target="../media/image16.png"/><Relationship Id="rId10" Type="http://schemas.openxmlformats.org/officeDocument/2006/relationships/image" Target="../media/image15.png"/><Relationship Id="rId1" Type="http://schemas.openxmlformats.org/officeDocument/2006/relationships/image" Target="../media/image6.png"/></Relationships>
</file>

<file path=ppt/slides/_rels/slide3.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18.svg"/><Relationship Id="rId3" Type="http://schemas.openxmlformats.org/officeDocument/2006/relationships/image" Target="../media/image17.png"/><Relationship Id="rId2" Type="http://schemas.openxmlformats.org/officeDocument/2006/relationships/image" Target="../media/image2.sv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9" Type="http://schemas.openxmlformats.org/officeDocument/2006/relationships/image" Target="../media/image25.png"/><Relationship Id="rId8" Type="http://schemas.openxmlformats.org/officeDocument/2006/relationships/image" Target="../media/image24.png"/><Relationship Id="rId7" Type="http://schemas.openxmlformats.org/officeDocument/2006/relationships/image" Target="../media/image23.svg"/><Relationship Id="rId6" Type="http://schemas.openxmlformats.org/officeDocument/2006/relationships/image" Target="../media/image22.png"/><Relationship Id="rId5" Type="http://schemas.openxmlformats.org/officeDocument/2006/relationships/tags" Target="../tags/tag1.xml"/><Relationship Id="rId4" Type="http://schemas.openxmlformats.org/officeDocument/2006/relationships/image" Target="../media/image4.svg"/><Relationship Id="rId3" Type="http://schemas.openxmlformats.org/officeDocument/2006/relationships/image" Target="../media/image3.png"/><Relationship Id="rId2" Type="http://schemas.openxmlformats.org/officeDocument/2006/relationships/image" Target="../media/image21.svg"/><Relationship Id="rId10" Type="http://schemas.openxmlformats.org/officeDocument/2006/relationships/slideLayout" Target="../slideLayouts/slideLayout7.xml"/><Relationship Id="rId1" Type="http://schemas.openxmlformats.org/officeDocument/2006/relationships/image" Target="../media/image20.png"/></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26.png"/><Relationship Id="rId3" Type="http://schemas.openxmlformats.org/officeDocument/2006/relationships/tags" Target="../tags/tag2.xml"/><Relationship Id="rId2" Type="http://schemas.microsoft.com/office/2007/relationships/media" Target="../media/media1.mp4"/><Relationship Id="rId1" Type="http://schemas.openxmlformats.org/officeDocument/2006/relationships/video" Target="../media/media1.mp4"/></Relationships>
</file>

<file path=ppt/slides/_rels/slide6.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13.svg"/><Relationship Id="rId7" Type="http://schemas.openxmlformats.org/officeDocument/2006/relationships/image" Target="../media/image12.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BFCFE"/>
        </a:solidFill>
        <a:effectLst/>
      </p:bgPr>
    </p:bg>
    <p:spTree>
      <p:nvGrpSpPr>
        <p:cNvPr id="1" name=""/>
        <p:cNvGrpSpPr/>
        <p:nvPr/>
      </p:nvGrpSpPr>
      <p:grpSpPr>
        <a:xfrm>
          <a:off x="0" y="0"/>
          <a:ext cx="0" cy="0"/>
          <a:chOff x="0" y="0"/>
          <a:chExt cx="0" cy="0"/>
        </a:xfrm>
      </p:grpSpPr>
      <p:sp>
        <p:nvSpPr>
          <p:cNvPr id="4" name="Freeform 4"/>
          <p:cNvSpPr/>
          <p:nvPr/>
        </p:nvSpPr>
        <p:spPr>
          <a:xfrm rot="635325">
            <a:off x="-1336143" y="6923321"/>
            <a:ext cx="9442126" cy="8000056"/>
          </a:xfrm>
          <a:custGeom>
            <a:avLst/>
            <a:gdLst/>
            <a:ahLst/>
            <a:cxnLst/>
            <a:rect l="l" t="t" r="r" b="b"/>
            <a:pathLst>
              <a:path w="9442126" h="8000056">
                <a:moveTo>
                  <a:pt x="0" y="0"/>
                </a:moveTo>
                <a:lnTo>
                  <a:pt x="9442126" y="0"/>
                </a:lnTo>
                <a:lnTo>
                  <a:pt x="9442126" y="8000056"/>
                </a:lnTo>
                <a:lnTo>
                  <a:pt x="0" y="8000056"/>
                </a:lnTo>
                <a:lnTo>
                  <a:pt x="0" y="0"/>
                </a:lnTo>
                <a:close/>
              </a:path>
            </a:pathLst>
          </a:custGeom>
          <a:blipFill>
            <a:blip r:embed="rId1">
              <a:alphaModFix amt="50000"/>
              <a:extLst>
                <a:ext uri="{96DAC541-7B7A-43D3-8B79-37D633B846F1}">
                  <asvg:svgBlip xmlns:asvg="http://schemas.microsoft.com/office/drawing/2016/SVG/main" r:embed="rId2"/>
                </a:ext>
              </a:extLst>
            </a:blip>
            <a:stretch>
              <a:fillRect/>
            </a:stretch>
          </a:blipFill>
        </p:spPr>
      </p:sp>
      <p:sp>
        <p:nvSpPr>
          <p:cNvPr id="5" name="Freeform 5"/>
          <p:cNvSpPr/>
          <p:nvPr/>
        </p:nvSpPr>
        <p:spPr>
          <a:xfrm rot="-226878">
            <a:off x="689862" y="566985"/>
            <a:ext cx="4576141" cy="2579280"/>
          </a:xfrm>
          <a:custGeom>
            <a:avLst/>
            <a:gdLst/>
            <a:ahLst/>
            <a:cxnLst/>
            <a:rect l="l" t="t" r="r" b="b"/>
            <a:pathLst>
              <a:path w="4576141" h="2579280">
                <a:moveTo>
                  <a:pt x="0" y="0"/>
                </a:moveTo>
                <a:lnTo>
                  <a:pt x="4576141" y="0"/>
                </a:lnTo>
                <a:lnTo>
                  <a:pt x="4576141" y="2579280"/>
                </a:lnTo>
                <a:lnTo>
                  <a:pt x="0" y="257928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TextBox 8"/>
          <p:cNvSpPr txBox="1"/>
          <p:nvPr/>
        </p:nvSpPr>
        <p:spPr>
          <a:xfrm>
            <a:off x="457200" y="3467100"/>
            <a:ext cx="10026650" cy="2256790"/>
          </a:xfrm>
          <a:prstGeom prst="rect">
            <a:avLst/>
          </a:prstGeom>
        </p:spPr>
        <p:txBody>
          <a:bodyPr wrap="square" lIns="0" tIns="0" rIns="0" bIns="0" rtlCol="0" anchor="t">
            <a:spAutoFit/>
          </a:bodyPr>
          <a:lstStyle/>
          <a:p>
            <a:pPr algn="l">
              <a:lnSpc>
                <a:spcPts val="8800"/>
              </a:lnSpc>
            </a:pPr>
            <a:r>
              <a:rPr lang="en-US" altLang="zh-CN" sz="7075" b="1">
                <a:solidFill>
                  <a:srgbClr val="2D2261"/>
                </a:solidFill>
                <a:latin typeface="Red Hat Display Bold" panose="02010803040201060303"/>
                <a:ea typeface="Red Hat Display Bold" panose="02010803040201060303"/>
                <a:cs typeface="Red Hat Display Bold" panose="02010803040201060303"/>
                <a:sym typeface="Red Hat Display Bold" panose="02010803040201060303"/>
              </a:rPr>
              <a:t>Technology of Sanxingdui Civilization</a:t>
            </a:r>
            <a:endParaRPr lang="en-US" altLang="zh-CN" sz="7075" b="1">
              <a:solidFill>
                <a:srgbClr val="2D2261"/>
              </a:solidFill>
              <a:latin typeface="Red Hat Display Bold" panose="02010803040201060303"/>
              <a:ea typeface="Red Hat Display Bold" panose="02010803040201060303"/>
              <a:cs typeface="Red Hat Display Bold" panose="02010803040201060303"/>
              <a:sym typeface="Red Hat Display Bold" panose="02010803040201060303"/>
            </a:endParaRPr>
          </a:p>
        </p:txBody>
      </p:sp>
      <p:sp>
        <p:nvSpPr>
          <p:cNvPr id="9" name="文本框 8"/>
          <p:cNvSpPr txBox="1"/>
          <p:nvPr/>
        </p:nvSpPr>
        <p:spPr>
          <a:xfrm>
            <a:off x="1371600" y="6057900"/>
            <a:ext cx="8947785" cy="1198880"/>
          </a:xfrm>
          <a:prstGeom prst="rect">
            <a:avLst/>
          </a:prstGeom>
          <a:noFill/>
        </p:spPr>
        <p:txBody>
          <a:bodyPr wrap="square" rtlCol="0">
            <a:spAutoFit/>
          </a:bodyPr>
          <a:p>
            <a:r>
              <a:rPr lang="en-US" altLang="zh-CN" sz="3600"/>
              <a:t>Mutual Learning of Technologies and Exchanges of Civilizations</a:t>
            </a:r>
            <a:endParaRPr lang="en-US" altLang="zh-CN" sz="3600"/>
          </a:p>
        </p:txBody>
      </p:sp>
      <p:pic>
        <p:nvPicPr>
          <p:cNvPr id="10" name="图片 9"/>
          <p:cNvPicPr>
            <a:picLocks noChangeAspect="1"/>
          </p:cNvPicPr>
          <p:nvPr/>
        </p:nvPicPr>
        <p:blipFill>
          <a:blip r:embed="rId5"/>
          <a:stretch>
            <a:fillRect/>
          </a:stretch>
        </p:blipFill>
        <p:spPr>
          <a:xfrm>
            <a:off x="10591800" y="800100"/>
            <a:ext cx="6557010" cy="8877300"/>
          </a:xfrm>
          <a:prstGeom prst="rect">
            <a:avLst/>
          </a:prstGeom>
        </p:spPr>
      </p:pic>
      <p:sp>
        <p:nvSpPr>
          <p:cNvPr id="11" name="文本框 10"/>
          <p:cNvSpPr txBox="1"/>
          <p:nvPr/>
        </p:nvSpPr>
        <p:spPr>
          <a:xfrm>
            <a:off x="5715000" y="8115300"/>
            <a:ext cx="4298315" cy="583565"/>
          </a:xfrm>
          <a:prstGeom prst="rect">
            <a:avLst/>
          </a:prstGeom>
          <a:noFill/>
        </p:spPr>
        <p:txBody>
          <a:bodyPr wrap="square" rtlCol="0">
            <a:spAutoFit/>
          </a:bodyPr>
          <a:p>
            <a:r>
              <a:rPr lang="en-US" altLang="zh-CN" sz="3200" b="1"/>
              <a:t>Zane XIA 2430005079</a:t>
            </a:r>
            <a:endParaRPr lang="en-US" altLang="zh-CN" sz="3200" b="1"/>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BFCFE"/>
        </a:solidFill>
        <a:effectLst/>
      </p:bgPr>
    </p:bg>
    <p:spTree>
      <p:nvGrpSpPr>
        <p:cNvPr id="1" name=""/>
        <p:cNvGrpSpPr/>
        <p:nvPr/>
      </p:nvGrpSpPr>
      <p:grpSpPr>
        <a:xfrm>
          <a:off x="0" y="0"/>
          <a:ext cx="0" cy="0"/>
          <a:chOff x="0" y="0"/>
          <a:chExt cx="0" cy="0"/>
        </a:xfrm>
      </p:grpSpPr>
      <p:sp>
        <p:nvSpPr>
          <p:cNvPr id="21" name="TextBox 21"/>
          <p:cNvSpPr txBox="1"/>
          <p:nvPr/>
        </p:nvSpPr>
        <p:spPr>
          <a:xfrm>
            <a:off x="2561139" y="3522789"/>
            <a:ext cx="3503040" cy="815340"/>
          </a:xfrm>
          <a:prstGeom prst="rect">
            <a:avLst/>
          </a:prstGeom>
        </p:spPr>
        <p:txBody>
          <a:bodyPr lIns="0" tIns="0" rIns="0" bIns="0" rtlCol="0" anchor="t">
            <a:spAutoFit/>
          </a:bodyPr>
          <a:lstStyle/>
          <a:p>
            <a:pPr algn="ctr">
              <a:lnSpc>
                <a:spcPts val="3360"/>
              </a:lnSpc>
            </a:pPr>
            <a:r>
              <a:rPr lang="en-US" sz="2400" b="1">
                <a:solidFill>
                  <a:srgbClr val="FBFCFE"/>
                </a:solidFill>
                <a:latin typeface="Red Hat Display Bold" panose="02010803040201060303"/>
                <a:ea typeface="Red Hat Display Bold" panose="02010803040201060303"/>
                <a:cs typeface="Red Hat Display Bold" panose="02010803040201060303"/>
                <a:sym typeface="Red Hat Display Bold" panose="02010803040201060303"/>
              </a:rPr>
              <a:t>Comprehensive Business Assessment</a:t>
            </a:r>
            <a:endParaRPr lang="en-US" sz="2400" b="1">
              <a:solidFill>
                <a:srgbClr val="FBFCFE"/>
              </a:solidFill>
              <a:latin typeface="Red Hat Display Bold" panose="02010803040201060303"/>
              <a:ea typeface="Red Hat Display Bold" panose="02010803040201060303"/>
              <a:cs typeface="Red Hat Display Bold" panose="02010803040201060303"/>
              <a:sym typeface="Red Hat Display Bold" panose="02010803040201060303"/>
            </a:endParaRPr>
          </a:p>
        </p:txBody>
      </p:sp>
      <p:sp>
        <p:nvSpPr>
          <p:cNvPr id="27" name="Freeform 27"/>
          <p:cNvSpPr/>
          <p:nvPr/>
        </p:nvSpPr>
        <p:spPr>
          <a:xfrm rot="-2080684">
            <a:off x="10082077" y="8242051"/>
            <a:ext cx="10960234" cy="7472887"/>
          </a:xfrm>
          <a:custGeom>
            <a:avLst/>
            <a:gdLst/>
            <a:ahLst/>
            <a:cxnLst/>
            <a:rect l="l" t="t" r="r" b="b"/>
            <a:pathLst>
              <a:path w="10960234" h="7472887">
                <a:moveTo>
                  <a:pt x="0" y="0"/>
                </a:moveTo>
                <a:lnTo>
                  <a:pt x="10960235" y="0"/>
                </a:lnTo>
                <a:lnTo>
                  <a:pt x="10960235" y="7472887"/>
                </a:lnTo>
                <a:lnTo>
                  <a:pt x="0" y="7472887"/>
                </a:lnTo>
                <a:lnTo>
                  <a:pt x="0" y="0"/>
                </a:lnTo>
                <a:close/>
              </a:path>
            </a:pathLst>
          </a:custGeom>
          <a:blipFill>
            <a:blip r:embed="rId1">
              <a:alphaModFix amt="50000"/>
              <a:extLst>
                <a:ext uri="{96DAC541-7B7A-43D3-8B79-37D633B846F1}">
                  <asvg:svgBlip xmlns:asvg="http://schemas.microsoft.com/office/drawing/2016/SVG/main" r:embed="rId2"/>
                </a:ext>
              </a:extLst>
            </a:blip>
            <a:stretch>
              <a:fillRect/>
            </a:stretch>
          </a:blipFill>
        </p:spPr>
      </p:sp>
      <p:sp>
        <p:nvSpPr>
          <p:cNvPr id="28" name="Freeform 28"/>
          <p:cNvSpPr/>
          <p:nvPr/>
        </p:nvSpPr>
        <p:spPr>
          <a:xfrm rot="9426524">
            <a:off x="-3984660" y="-4993686"/>
            <a:ext cx="9442126" cy="8000056"/>
          </a:xfrm>
          <a:custGeom>
            <a:avLst/>
            <a:gdLst/>
            <a:ahLst/>
            <a:cxnLst/>
            <a:rect l="l" t="t" r="r" b="b"/>
            <a:pathLst>
              <a:path w="9442126" h="8000056">
                <a:moveTo>
                  <a:pt x="0" y="0"/>
                </a:moveTo>
                <a:lnTo>
                  <a:pt x="9442126" y="0"/>
                </a:lnTo>
                <a:lnTo>
                  <a:pt x="9442126" y="8000056"/>
                </a:lnTo>
                <a:lnTo>
                  <a:pt x="0" y="8000056"/>
                </a:lnTo>
                <a:lnTo>
                  <a:pt x="0" y="0"/>
                </a:lnTo>
                <a:close/>
              </a:path>
            </a:pathLst>
          </a:custGeom>
          <a:blipFill>
            <a:blip r:embed="rId3">
              <a:alphaModFix amt="50000"/>
              <a:extLst>
                <a:ext uri="{96DAC541-7B7A-43D3-8B79-37D633B846F1}">
                  <asvg:svgBlip xmlns:asvg="http://schemas.microsoft.com/office/drawing/2016/SVG/main" r:embed="rId4"/>
                </a:ext>
              </a:extLst>
            </a:blip>
            <a:stretch>
              <a:fillRect/>
            </a:stretch>
          </a:blipFill>
        </p:spPr>
      </p:sp>
      <p:sp>
        <p:nvSpPr>
          <p:cNvPr id="29" name="Freeform 29"/>
          <p:cNvSpPr/>
          <p:nvPr/>
        </p:nvSpPr>
        <p:spPr>
          <a:xfrm rot="-2624874">
            <a:off x="-884948" y="9077955"/>
            <a:ext cx="3242701" cy="1827704"/>
          </a:xfrm>
          <a:custGeom>
            <a:avLst/>
            <a:gdLst/>
            <a:ahLst/>
            <a:cxnLst/>
            <a:rect l="l" t="t" r="r" b="b"/>
            <a:pathLst>
              <a:path w="3242701" h="1827704">
                <a:moveTo>
                  <a:pt x="0" y="0"/>
                </a:moveTo>
                <a:lnTo>
                  <a:pt x="3242701" y="0"/>
                </a:lnTo>
                <a:lnTo>
                  <a:pt x="3242701" y="1827704"/>
                </a:lnTo>
                <a:lnTo>
                  <a:pt x="0" y="182770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30" name="Freeform 30"/>
          <p:cNvSpPr/>
          <p:nvPr/>
        </p:nvSpPr>
        <p:spPr>
          <a:xfrm rot="2830696">
            <a:off x="16075185" y="-1028700"/>
            <a:ext cx="2835471" cy="4114800"/>
          </a:xfrm>
          <a:custGeom>
            <a:avLst/>
            <a:gdLst/>
            <a:ahLst/>
            <a:cxnLst/>
            <a:rect l="l" t="t" r="r" b="b"/>
            <a:pathLst>
              <a:path w="2835471" h="4114800">
                <a:moveTo>
                  <a:pt x="0" y="0"/>
                </a:moveTo>
                <a:lnTo>
                  <a:pt x="2835471" y="0"/>
                </a:lnTo>
                <a:lnTo>
                  <a:pt x="2835471"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pic>
        <p:nvPicPr>
          <p:cNvPr id="31" name="图片 30"/>
          <p:cNvPicPr>
            <a:picLocks noChangeAspect="1"/>
          </p:cNvPicPr>
          <p:nvPr/>
        </p:nvPicPr>
        <p:blipFill>
          <a:blip r:embed="rId9"/>
          <a:stretch>
            <a:fillRect/>
          </a:stretch>
        </p:blipFill>
        <p:spPr>
          <a:xfrm>
            <a:off x="1600200" y="2171700"/>
            <a:ext cx="4112895" cy="5829935"/>
          </a:xfrm>
          <a:prstGeom prst="rect">
            <a:avLst/>
          </a:prstGeom>
        </p:spPr>
      </p:pic>
      <p:pic>
        <p:nvPicPr>
          <p:cNvPr id="32" name="图片 31"/>
          <p:cNvPicPr>
            <a:picLocks noChangeAspect="1"/>
          </p:cNvPicPr>
          <p:nvPr/>
        </p:nvPicPr>
        <p:blipFill>
          <a:blip r:embed="rId10"/>
          <a:stretch>
            <a:fillRect/>
          </a:stretch>
        </p:blipFill>
        <p:spPr>
          <a:xfrm>
            <a:off x="6793230" y="2172335"/>
            <a:ext cx="4396740" cy="5829300"/>
          </a:xfrm>
          <a:prstGeom prst="rect">
            <a:avLst/>
          </a:prstGeom>
        </p:spPr>
      </p:pic>
      <p:pic>
        <p:nvPicPr>
          <p:cNvPr id="33" name="图片 32"/>
          <p:cNvPicPr>
            <a:picLocks noChangeAspect="1"/>
          </p:cNvPicPr>
          <p:nvPr/>
        </p:nvPicPr>
        <p:blipFill>
          <a:blip r:embed="rId11"/>
          <a:stretch>
            <a:fillRect/>
          </a:stretch>
        </p:blipFill>
        <p:spPr>
          <a:xfrm>
            <a:off x="12270740" y="2171700"/>
            <a:ext cx="4144645" cy="5829935"/>
          </a:xfrm>
          <a:prstGeom prst="rect">
            <a:avLst/>
          </a:prstGeom>
        </p:spPr>
      </p:pic>
      <p:sp>
        <p:nvSpPr>
          <p:cNvPr id="2" name="TextBox 2"/>
          <p:cNvSpPr txBox="1"/>
          <p:nvPr/>
        </p:nvSpPr>
        <p:spPr>
          <a:xfrm>
            <a:off x="2590800" y="876300"/>
            <a:ext cx="12675870" cy="777240"/>
          </a:xfrm>
          <a:prstGeom prst="rect">
            <a:avLst/>
          </a:prstGeom>
        </p:spPr>
        <p:txBody>
          <a:bodyPr wrap="square" lIns="0" tIns="0" rIns="0" bIns="0" rtlCol="0" anchor="t">
            <a:spAutoFit/>
          </a:bodyPr>
          <a:lstStyle/>
          <a:p>
            <a:pPr algn="ctr">
              <a:lnSpc>
                <a:spcPts val="6065"/>
              </a:lnSpc>
            </a:pPr>
            <a:r>
              <a:rPr lang="en-US" altLang="zh-CN" sz="4330" b="1">
                <a:solidFill>
                  <a:srgbClr val="2D2261"/>
                </a:solidFill>
                <a:latin typeface="Red Hat Display Bold" panose="02010803040201060303"/>
                <a:ea typeface="Red Hat Display Bold" panose="02010803040201060303"/>
                <a:cs typeface="Red Hat Display Bold" panose="02010803040201060303"/>
                <a:sym typeface="Red Hat Display Bold" panose="02010803040201060303"/>
              </a:rPr>
              <a:t>Typical Cases of Sanxingdui Technologies</a:t>
            </a:r>
            <a:endParaRPr lang="en-US" altLang="zh-CN" sz="4330" b="1">
              <a:solidFill>
                <a:srgbClr val="2D2261"/>
              </a:solidFill>
              <a:latin typeface="Red Hat Display Bold" panose="02010803040201060303"/>
              <a:ea typeface="Red Hat Display Bold" panose="02010803040201060303"/>
              <a:cs typeface="Red Hat Display Bold" panose="02010803040201060303"/>
              <a:sym typeface="Red Hat Display Bold" panose="02010803040201060303"/>
            </a:endParaRPr>
          </a:p>
        </p:txBody>
      </p:sp>
      <p:sp>
        <p:nvSpPr>
          <p:cNvPr id="34" name="文本框 33"/>
          <p:cNvSpPr txBox="1"/>
          <p:nvPr/>
        </p:nvSpPr>
        <p:spPr>
          <a:xfrm>
            <a:off x="2819400" y="8420100"/>
            <a:ext cx="13181330" cy="1814830"/>
          </a:xfrm>
          <a:prstGeom prst="rect">
            <a:avLst/>
          </a:prstGeom>
          <a:noFill/>
        </p:spPr>
        <p:txBody>
          <a:bodyPr wrap="square" rtlCol="0">
            <a:spAutoFit/>
          </a:bodyPr>
          <a:p>
            <a:r>
              <a:rPr lang="en-US" altLang="zh-CN" sz="2800" b="1">
                <a:solidFill>
                  <a:srgbClr val="2D2261"/>
                </a:solidFill>
                <a:latin typeface="Red Hat Display Bold" panose="02010803040201060303"/>
                <a:ea typeface="Red Hat Display Bold" panose="02010803040201060303"/>
                <a:cs typeface="Red Hat Display Bold" panose="02010803040201060303"/>
                <a:sym typeface="Red Hat Display Bold" panose="02010803040201060303"/>
              </a:rPr>
              <a:t>These technologies were world-leading more than 3,000 years ago, fully demonstrating the extraordinary creativity and technical strength of the ancient Shu civilization.</a:t>
            </a:r>
            <a:endParaRPr lang="en-US" altLang="zh-CN" sz="2800" b="1">
              <a:solidFill>
                <a:srgbClr val="2D2261"/>
              </a:solidFill>
              <a:latin typeface="Red Hat Display Bold" panose="02010803040201060303"/>
              <a:ea typeface="Red Hat Display Bold" panose="02010803040201060303"/>
              <a:cs typeface="Red Hat Display Bold" panose="02010803040201060303"/>
              <a:sym typeface="Red Hat Display Bold" panose="02010803040201060303"/>
            </a:endParaRPr>
          </a:p>
          <a:p>
            <a:endParaRPr lang="zh-CN" altLang="en-US" sz="2800" b="1"/>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BFCFE"/>
        </a:solidFill>
        <a:effectLst/>
      </p:bgPr>
    </p:bg>
    <p:spTree>
      <p:nvGrpSpPr>
        <p:cNvPr id="1" name=""/>
        <p:cNvGrpSpPr/>
        <p:nvPr/>
      </p:nvGrpSpPr>
      <p:grpSpPr>
        <a:xfrm>
          <a:off x="0" y="0"/>
          <a:ext cx="0" cy="0"/>
          <a:chOff x="0" y="0"/>
          <a:chExt cx="0" cy="0"/>
        </a:xfrm>
      </p:grpSpPr>
      <p:sp>
        <p:nvSpPr>
          <p:cNvPr id="27" name="Freeform 27"/>
          <p:cNvSpPr/>
          <p:nvPr/>
        </p:nvSpPr>
        <p:spPr>
          <a:xfrm rot="635325">
            <a:off x="-1442576" y="8071855"/>
            <a:ext cx="7907020" cy="6699403"/>
          </a:xfrm>
          <a:custGeom>
            <a:avLst/>
            <a:gdLst/>
            <a:ahLst/>
            <a:cxnLst/>
            <a:rect l="l" t="t" r="r" b="b"/>
            <a:pathLst>
              <a:path w="7907020" h="6699403">
                <a:moveTo>
                  <a:pt x="0" y="0"/>
                </a:moveTo>
                <a:lnTo>
                  <a:pt x="7907020" y="0"/>
                </a:lnTo>
                <a:lnTo>
                  <a:pt x="7907020" y="6699403"/>
                </a:lnTo>
                <a:lnTo>
                  <a:pt x="0" y="6699403"/>
                </a:lnTo>
                <a:lnTo>
                  <a:pt x="0" y="0"/>
                </a:lnTo>
                <a:close/>
              </a:path>
            </a:pathLst>
          </a:custGeom>
          <a:blipFill>
            <a:blip r:embed="rId1">
              <a:alphaModFix amt="50000"/>
              <a:extLst>
                <a:ext uri="{96DAC541-7B7A-43D3-8B79-37D633B846F1}">
                  <asvg:svgBlip xmlns:asvg="http://schemas.microsoft.com/office/drawing/2016/SVG/main" r:embed="rId2"/>
                </a:ext>
              </a:extLst>
            </a:blip>
            <a:stretch>
              <a:fillRect/>
            </a:stretch>
          </a:blipFill>
        </p:spPr>
      </p:sp>
      <p:sp>
        <p:nvSpPr>
          <p:cNvPr id="29" name="Freeform 29"/>
          <p:cNvSpPr/>
          <p:nvPr/>
        </p:nvSpPr>
        <p:spPr>
          <a:xfrm rot="2830696">
            <a:off x="14939466" y="8144946"/>
            <a:ext cx="2835471" cy="4114800"/>
          </a:xfrm>
          <a:custGeom>
            <a:avLst/>
            <a:gdLst/>
            <a:ahLst/>
            <a:cxnLst/>
            <a:rect l="l" t="t" r="r" b="b"/>
            <a:pathLst>
              <a:path w="2835471" h="4114800">
                <a:moveTo>
                  <a:pt x="0" y="0"/>
                </a:moveTo>
                <a:lnTo>
                  <a:pt x="2835471" y="0"/>
                </a:lnTo>
                <a:lnTo>
                  <a:pt x="2835471"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pic>
        <p:nvPicPr>
          <p:cNvPr id="30" name="图片 29"/>
          <p:cNvPicPr>
            <a:picLocks noChangeAspect="1"/>
          </p:cNvPicPr>
          <p:nvPr/>
        </p:nvPicPr>
        <p:blipFill>
          <a:blip r:embed="rId5"/>
          <a:stretch>
            <a:fillRect/>
          </a:stretch>
        </p:blipFill>
        <p:spPr>
          <a:xfrm>
            <a:off x="2590800" y="2705100"/>
            <a:ext cx="12989560" cy="3812540"/>
          </a:xfrm>
          <a:prstGeom prst="rect">
            <a:avLst/>
          </a:prstGeom>
        </p:spPr>
      </p:pic>
      <p:sp>
        <p:nvSpPr>
          <p:cNvPr id="25" name="TextBox 25"/>
          <p:cNvSpPr txBox="1"/>
          <p:nvPr/>
        </p:nvSpPr>
        <p:spPr>
          <a:xfrm>
            <a:off x="1948180" y="266700"/>
            <a:ext cx="13912850" cy="1824355"/>
          </a:xfrm>
          <a:prstGeom prst="rect">
            <a:avLst/>
          </a:prstGeom>
        </p:spPr>
        <p:txBody>
          <a:bodyPr wrap="square" lIns="0" tIns="0" rIns="0" bIns="0" rtlCol="0" anchor="t">
            <a:spAutoFit/>
          </a:bodyPr>
          <a:lstStyle/>
          <a:p>
            <a:pPr algn="ctr">
              <a:lnSpc>
                <a:spcPts val="7115"/>
              </a:lnSpc>
            </a:pPr>
            <a:r>
              <a:rPr lang="en-US" altLang="zh-CN" sz="4000" b="1">
                <a:solidFill>
                  <a:srgbClr val="2D2261"/>
                </a:solidFill>
                <a:latin typeface="Red Hat Display Bold" panose="02010803040201060303"/>
                <a:ea typeface="Red Hat Display Bold" panose="02010803040201060303"/>
                <a:cs typeface="Red Hat Display Bold" panose="02010803040201060303"/>
                <a:sym typeface="Red Hat Display Bold" panose="02010803040201060303"/>
              </a:rPr>
              <a:t>Analysis of Sanxingdui's Cross-Civilization Exchanges </a:t>
            </a:r>
            <a:endParaRPr lang="en-US" altLang="zh-CN" sz="4000" b="1">
              <a:solidFill>
                <a:srgbClr val="2D2261"/>
              </a:solidFill>
              <a:latin typeface="Red Hat Display Bold" panose="02010803040201060303"/>
              <a:ea typeface="Red Hat Display Bold" panose="02010803040201060303"/>
              <a:cs typeface="Red Hat Display Bold" panose="02010803040201060303"/>
              <a:sym typeface="Red Hat Display Bold" panose="02010803040201060303"/>
            </a:endParaRPr>
          </a:p>
          <a:p>
            <a:pPr algn="ctr">
              <a:lnSpc>
                <a:spcPts val="7115"/>
              </a:lnSpc>
            </a:pPr>
            <a:r>
              <a:rPr lang="en-US" altLang="zh-CN" sz="4000" b="1">
                <a:solidFill>
                  <a:srgbClr val="2D2261"/>
                </a:solidFill>
                <a:latin typeface="Red Hat Display Bold" panose="02010803040201060303"/>
                <a:ea typeface="Red Hat Display Bold" panose="02010803040201060303"/>
                <a:cs typeface="Red Hat Display Bold" panose="02010803040201060303"/>
                <a:sym typeface="Red Hat Display Bold" panose="02010803040201060303"/>
              </a:rPr>
              <a:t>      from a Scientific and Technological Perspective</a:t>
            </a:r>
            <a:endParaRPr lang="en-US" altLang="zh-CN" sz="4000" b="1">
              <a:solidFill>
                <a:srgbClr val="2D2261"/>
              </a:solidFill>
              <a:latin typeface="Red Hat Display Bold" panose="02010803040201060303"/>
              <a:ea typeface="Red Hat Display Bold" panose="02010803040201060303"/>
              <a:cs typeface="Red Hat Display Bold" panose="02010803040201060303"/>
              <a:sym typeface="Red Hat Display Bold" panose="02010803040201060303"/>
            </a:endParaRPr>
          </a:p>
        </p:txBody>
      </p:sp>
      <p:sp>
        <p:nvSpPr>
          <p:cNvPr id="31" name="文本框 30"/>
          <p:cNvSpPr txBox="1"/>
          <p:nvPr/>
        </p:nvSpPr>
        <p:spPr>
          <a:xfrm>
            <a:off x="2895600" y="7124700"/>
            <a:ext cx="12435840" cy="1714500"/>
          </a:xfrm>
          <a:prstGeom prst="rect">
            <a:avLst/>
          </a:prstGeom>
          <a:noFill/>
        </p:spPr>
        <p:txBody>
          <a:bodyPr wrap="square" rtlCol="0">
            <a:spAutoFit/>
          </a:bodyPr>
          <a:p>
            <a:pPr>
              <a:lnSpc>
                <a:spcPct val="110000"/>
              </a:lnSpc>
            </a:pPr>
            <a:r>
              <a:rPr lang="en-US" altLang="zh-CN" sz="3200" b="1">
                <a:solidFill>
                  <a:srgbClr val="2D2261"/>
                </a:solidFill>
                <a:latin typeface="Red Hat Display Bold" panose="02010803040201060303"/>
                <a:ea typeface="Red Hat Display Bold" panose="02010803040201060303"/>
                <a:cs typeface="Red Hat Display Bold" panose="02010803040201060303"/>
                <a:sym typeface="Red Hat Display Bold" panose="02010803040201060303"/>
              </a:rPr>
              <a:t>Sanxingdui was a pivotal node in the early cross-civilization network of technological and material exchanges across East Asia, Central Asia and West Asia.</a:t>
            </a:r>
            <a:endParaRPr lang="zh-CN" altLang="en-US" sz="3200" b="1">
              <a:solidFill>
                <a:srgbClr val="2D2261"/>
              </a:solidFill>
              <a:latin typeface="Red Hat Display Bold" panose="02010803040201060303"/>
              <a:ea typeface="宋体" panose="02010600030101010101" pitchFamily="2" charset="-122"/>
              <a:cs typeface="Red Hat Display Bold" panose="02010803040201060303"/>
              <a:sym typeface="Red Hat Display Bold" panose="02010803040201060303"/>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BFCFE"/>
        </a:solidFill>
        <a:effectLst/>
      </p:bgPr>
    </p:bg>
    <p:spTree>
      <p:nvGrpSpPr>
        <p:cNvPr id="1" name=""/>
        <p:cNvGrpSpPr/>
        <p:nvPr/>
      </p:nvGrpSpPr>
      <p:grpSpPr>
        <a:xfrm>
          <a:off x="0" y="0"/>
          <a:ext cx="0" cy="0"/>
          <a:chOff x="0" y="0"/>
          <a:chExt cx="0" cy="0"/>
        </a:xfrm>
      </p:grpSpPr>
      <p:sp>
        <p:nvSpPr>
          <p:cNvPr id="2" name="TextBox 2"/>
          <p:cNvSpPr txBox="1"/>
          <p:nvPr/>
        </p:nvSpPr>
        <p:spPr>
          <a:xfrm>
            <a:off x="1371600" y="571500"/>
            <a:ext cx="6076950" cy="1841500"/>
          </a:xfrm>
          <a:prstGeom prst="rect">
            <a:avLst/>
          </a:prstGeom>
        </p:spPr>
        <p:txBody>
          <a:bodyPr wrap="square" lIns="0" tIns="0" rIns="0" bIns="0" rtlCol="0" anchor="t">
            <a:noAutofit/>
          </a:bodyPr>
          <a:lstStyle/>
          <a:p>
            <a:pPr algn="ctr">
              <a:lnSpc>
                <a:spcPts val="6065"/>
              </a:lnSpc>
            </a:pPr>
            <a:r>
              <a:rPr lang="en-US" altLang="zh-CN" sz="3600" b="1">
                <a:solidFill>
                  <a:srgbClr val="2D2261"/>
                </a:solidFill>
                <a:latin typeface="Red Hat Display Bold" panose="02010803040201060303"/>
                <a:ea typeface="Red Hat Display Bold" panose="02010803040201060303"/>
                <a:cs typeface="Red Hat Display Bold" panose="02010803040201060303"/>
                <a:sym typeface="Red Hat Display Bold" panose="02010803040201060303"/>
              </a:rPr>
              <a:t>The History of Sanxingdui Civilization</a:t>
            </a:r>
            <a:endParaRPr lang="en-US" altLang="zh-CN" sz="3600" b="1">
              <a:solidFill>
                <a:srgbClr val="2D2261"/>
              </a:solidFill>
              <a:latin typeface="Red Hat Display Bold" panose="02010803040201060303"/>
              <a:ea typeface="Red Hat Display Bold" panose="02010803040201060303"/>
              <a:cs typeface="Red Hat Display Bold" panose="02010803040201060303"/>
              <a:sym typeface="Red Hat Display Bold" panose="02010803040201060303"/>
            </a:endParaRPr>
          </a:p>
        </p:txBody>
      </p:sp>
      <p:sp>
        <p:nvSpPr>
          <p:cNvPr id="9" name="TextBox 9"/>
          <p:cNvSpPr txBox="1"/>
          <p:nvPr/>
        </p:nvSpPr>
        <p:spPr>
          <a:xfrm>
            <a:off x="2269843" y="3737394"/>
            <a:ext cx="3018068" cy="396174"/>
          </a:xfrm>
          <a:prstGeom prst="rect">
            <a:avLst/>
          </a:prstGeom>
        </p:spPr>
        <p:txBody>
          <a:bodyPr lIns="0" tIns="0" rIns="0" bIns="0" rtlCol="0" anchor="t">
            <a:spAutoFit/>
          </a:bodyPr>
          <a:lstStyle/>
          <a:p>
            <a:pPr algn="ctr">
              <a:lnSpc>
                <a:spcPts val="3360"/>
              </a:lnSpc>
            </a:pPr>
            <a:r>
              <a:rPr lang="en-US" sz="2400" b="1">
                <a:solidFill>
                  <a:srgbClr val="FBFCFE"/>
                </a:solidFill>
                <a:latin typeface="Red Hat Display Bold" panose="02010803040201060303"/>
                <a:ea typeface="Red Hat Display Bold" panose="02010803040201060303"/>
                <a:cs typeface="Red Hat Display Bold" panose="02010803040201060303"/>
                <a:sym typeface="Red Hat Display Bold" panose="02010803040201060303"/>
              </a:rPr>
              <a:t>Strengths</a:t>
            </a:r>
            <a:endParaRPr lang="en-US" sz="2400" b="1">
              <a:solidFill>
                <a:srgbClr val="FBFCFE"/>
              </a:solidFill>
              <a:latin typeface="Red Hat Display Bold" panose="02010803040201060303"/>
              <a:ea typeface="Red Hat Display Bold" panose="02010803040201060303"/>
              <a:cs typeface="Red Hat Display Bold" panose="02010803040201060303"/>
              <a:sym typeface="Red Hat Display Bold" panose="02010803040201060303"/>
            </a:endParaRPr>
          </a:p>
        </p:txBody>
      </p:sp>
      <p:sp>
        <p:nvSpPr>
          <p:cNvPr id="33" name="TextBox 33"/>
          <p:cNvSpPr txBox="1"/>
          <p:nvPr/>
        </p:nvSpPr>
        <p:spPr>
          <a:xfrm>
            <a:off x="14021814" y="3737394"/>
            <a:ext cx="2734329" cy="396174"/>
          </a:xfrm>
          <a:prstGeom prst="rect">
            <a:avLst/>
          </a:prstGeom>
        </p:spPr>
        <p:txBody>
          <a:bodyPr lIns="0" tIns="0" rIns="0" bIns="0" rtlCol="0" anchor="t">
            <a:spAutoFit/>
          </a:bodyPr>
          <a:lstStyle/>
          <a:p>
            <a:pPr algn="ctr">
              <a:lnSpc>
                <a:spcPts val="3360"/>
              </a:lnSpc>
            </a:pPr>
            <a:r>
              <a:rPr lang="en-US" sz="2400" b="1">
                <a:solidFill>
                  <a:srgbClr val="FBFCFE"/>
                </a:solidFill>
                <a:latin typeface="Red Hat Display Bold" panose="02010803040201060303"/>
                <a:ea typeface="Red Hat Display Bold" panose="02010803040201060303"/>
                <a:cs typeface="Red Hat Display Bold" panose="02010803040201060303"/>
                <a:sym typeface="Red Hat Display Bold" panose="02010803040201060303"/>
              </a:rPr>
              <a:t>Threats</a:t>
            </a:r>
            <a:endParaRPr lang="en-US" sz="2400" b="1">
              <a:solidFill>
                <a:srgbClr val="FBFCFE"/>
              </a:solidFill>
              <a:latin typeface="Red Hat Display Bold" panose="02010803040201060303"/>
              <a:ea typeface="Red Hat Display Bold" panose="02010803040201060303"/>
              <a:cs typeface="Red Hat Display Bold" panose="02010803040201060303"/>
              <a:sym typeface="Red Hat Display Bold" panose="02010803040201060303"/>
            </a:endParaRPr>
          </a:p>
        </p:txBody>
      </p:sp>
      <p:sp>
        <p:nvSpPr>
          <p:cNvPr id="35" name="Freeform 35"/>
          <p:cNvSpPr/>
          <p:nvPr/>
        </p:nvSpPr>
        <p:spPr>
          <a:xfrm rot="-2080684">
            <a:off x="10082077" y="8242051"/>
            <a:ext cx="10960234" cy="7472887"/>
          </a:xfrm>
          <a:custGeom>
            <a:avLst/>
            <a:gdLst/>
            <a:ahLst/>
            <a:cxnLst/>
            <a:rect l="l" t="t" r="r" b="b"/>
            <a:pathLst>
              <a:path w="10960234" h="7472887">
                <a:moveTo>
                  <a:pt x="0" y="0"/>
                </a:moveTo>
                <a:lnTo>
                  <a:pt x="10960235" y="0"/>
                </a:lnTo>
                <a:lnTo>
                  <a:pt x="10960235" y="7472887"/>
                </a:lnTo>
                <a:lnTo>
                  <a:pt x="0" y="7472887"/>
                </a:lnTo>
                <a:lnTo>
                  <a:pt x="0" y="0"/>
                </a:lnTo>
                <a:close/>
              </a:path>
            </a:pathLst>
          </a:custGeom>
          <a:blipFill>
            <a:blip r:embed="rId1">
              <a:alphaModFix amt="50000"/>
              <a:extLst>
                <a:ext uri="{96DAC541-7B7A-43D3-8B79-37D633B846F1}">
                  <asvg:svgBlip xmlns:asvg="http://schemas.microsoft.com/office/drawing/2016/SVG/main" r:embed="rId2"/>
                </a:ext>
              </a:extLst>
            </a:blip>
            <a:stretch>
              <a:fillRect/>
            </a:stretch>
          </a:blipFill>
        </p:spPr>
      </p:sp>
      <p:sp>
        <p:nvSpPr>
          <p:cNvPr id="37" name="Freeform 37"/>
          <p:cNvSpPr/>
          <p:nvPr/>
        </p:nvSpPr>
        <p:spPr>
          <a:xfrm rot="-2624874">
            <a:off x="-884948" y="9077955"/>
            <a:ext cx="3242701" cy="1827704"/>
          </a:xfrm>
          <a:custGeom>
            <a:avLst/>
            <a:gdLst/>
            <a:ahLst/>
            <a:cxnLst/>
            <a:rect l="l" t="t" r="r" b="b"/>
            <a:pathLst>
              <a:path w="3242701" h="1827704">
                <a:moveTo>
                  <a:pt x="0" y="0"/>
                </a:moveTo>
                <a:lnTo>
                  <a:pt x="3242701" y="0"/>
                </a:lnTo>
                <a:lnTo>
                  <a:pt x="3242701" y="1827704"/>
                </a:lnTo>
                <a:lnTo>
                  <a:pt x="0" y="182770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pic>
        <p:nvPicPr>
          <p:cNvPr id="39" name="图片 38" descr="箭头-直角-向右"/>
          <p:cNvPicPr>
            <a:picLocks noChangeAspect="1"/>
          </p:cNvPicPr>
          <p:nvPr>
            <p:custDataLst>
              <p:tags r:id="rId5"/>
            </p:custDataLst>
          </p:nvPr>
        </p:nvPicPr>
        <p:blipFill>
          <a:blip r:embed="rId6">
            <a:extLst>
              <a:ext uri="{96DAC541-7B7A-43D3-8B79-37D633B846F1}">
                <asvg:svgBlip xmlns:asvg="http://schemas.microsoft.com/office/drawing/2016/SVG/main" r:embed="rId7"/>
              </a:ext>
            </a:extLst>
          </a:blip>
          <a:stretch>
            <a:fillRect/>
          </a:stretch>
        </p:blipFill>
        <p:spPr>
          <a:xfrm>
            <a:off x="7999730" y="800100"/>
            <a:ext cx="2409825" cy="1482090"/>
          </a:xfrm>
          <a:prstGeom prst="rect">
            <a:avLst/>
          </a:prstGeom>
        </p:spPr>
      </p:pic>
      <p:sp>
        <p:nvSpPr>
          <p:cNvPr id="41" name="文本框 40"/>
          <p:cNvSpPr txBox="1"/>
          <p:nvPr/>
        </p:nvSpPr>
        <p:spPr>
          <a:xfrm>
            <a:off x="10744200" y="723900"/>
            <a:ext cx="6349365" cy="2251710"/>
          </a:xfrm>
          <a:prstGeom prst="rect">
            <a:avLst/>
          </a:prstGeom>
          <a:noFill/>
        </p:spPr>
        <p:txBody>
          <a:bodyPr wrap="square" rtlCol="0">
            <a:spAutoFit/>
          </a:bodyPr>
          <a:p>
            <a:pPr lvl="1" algn="ctr">
              <a:lnSpc>
                <a:spcPct val="130000"/>
              </a:lnSpc>
            </a:pPr>
            <a:r>
              <a:rPr lang="en-US" altLang="zh-CN" sz="3600" b="1">
                <a:solidFill>
                  <a:srgbClr val="2D2261"/>
                </a:solidFill>
                <a:latin typeface="Red Hat Display Bold" panose="02010803040201060303"/>
                <a:ea typeface="Red Hat Display Bold" panose="02010803040201060303"/>
                <a:cs typeface="Red Hat Display Bold" panose="02010803040201060303"/>
                <a:sym typeface="Red Hat Display Bold" panose="02010803040201060303"/>
              </a:rPr>
              <a:t>Today’s Technological Civilization</a:t>
            </a:r>
            <a:endParaRPr lang="en-US" altLang="zh-CN" sz="3600" b="1">
              <a:solidFill>
                <a:srgbClr val="2D2261"/>
              </a:solidFill>
              <a:latin typeface="Red Hat Display Bold" panose="02010803040201060303"/>
              <a:ea typeface="Red Hat Display Bold" panose="02010803040201060303"/>
              <a:cs typeface="Red Hat Display Bold" panose="02010803040201060303"/>
              <a:sym typeface="Red Hat Display Bold" panose="02010803040201060303"/>
            </a:endParaRPr>
          </a:p>
          <a:p>
            <a:pPr lvl="1" algn="ctr">
              <a:lnSpc>
                <a:spcPct val="130000"/>
              </a:lnSpc>
            </a:pPr>
            <a:endParaRPr lang="zh-CN" altLang="en-US" sz="3600"/>
          </a:p>
        </p:txBody>
      </p:sp>
      <p:pic>
        <p:nvPicPr>
          <p:cNvPr id="42" name="图片 41"/>
          <p:cNvPicPr>
            <a:picLocks noChangeAspect="1"/>
          </p:cNvPicPr>
          <p:nvPr/>
        </p:nvPicPr>
        <p:blipFill>
          <a:blip r:embed="rId8"/>
          <a:stretch>
            <a:fillRect/>
          </a:stretch>
        </p:blipFill>
        <p:spPr>
          <a:xfrm>
            <a:off x="10409555" y="2781300"/>
            <a:ext cx="7105015" cy="3765550"/>
          </a:xfrm>
          <a:prstGeom prst="rect">
            <a:avLst/>
          </a:prstGeom>
        </p:spPr>
      </p:pic>
      <p:pic>
        <p:nvPicPr>
          <p:cNvPr id="43" name="图片 42"/>
          <p:cNvPicPr>
            <a:picLocks noChangeAspect="1"/>
          </p:cNvPicPr>
          <p:nvPr/>
        </p:nvPicPr>
        <p:blipFill>
          <a:blip r:embed="rId9"/>
          <a:stretch>
            <a:fillRect/>
          </a:stretch>
        </p:blipFill>
        <p:spPr>
          <a:xfrm>
            <a:off x="1371600" y="2730500"/>
            <a:ext cx="6947535" cy="3771900"/>
          </a:xfrm>
          <a:prstGeom prst="rect">
            <a:avLst/>
          </a:prstGeom>
        </p:spPr>
      </p:pic>
      <p:sp>
        <p:nvSpPr>
          <p:cNvPr id="44" name="文本框 43"/>
          <p:cNvSpPr txBox="1"/>
          <p:nvPr/>
        </p:nvSpPr>
        <p:spPr>
          <a:xfrm>
            <a:off x="2270125" y="7048500"/>
            <a:ext cx="12934950" cy="1641475"/>
          </a:xfrm>
          <a:prstGeom prst="rect">
            <a:avLst/>
          </a:prstGeom>
          <a:noFill/>
        </p:spPr>
        <p:txBody>
          <a:bodyPr wrap="square" rtlCol="0">
            <a:spAutoFit/>
          </a:bodyPr>
          <a:p>
            <a:pPr>
              <a:lnSpc>
                <a:spcPct val="120000"/>
              </a:lnSpc>
            </a:pPr>
            <a:r>
              <a:rPr lang="en-US" altLang="zh-CN" sz="2800" b="1"/>
              <a:t>First, technology diffusion has never been one-way.</a:t>
            </a:r>
            <a:endParaRPr lang="en-US" altLang="zh-CN" sz="2800" b="1"/>
          </a:p>
          <a:p>
            <a:pPr>
              <a:lnSpc>
                <a:spcPct val="120000"/>
              </a:lnSpc>
            </a:pPr>
            <a:r>
              <a:rPr lang="en-US" altLang="zh-CN" sz="2800" b="1"/>
              <a:t>Second, technology shapes cultural identity.</a:t>
            </a:r>
            <a:endParaRPr lang="en-US" altLang="zh-CN" sz="2800" b="1"/>
          </a:p>
          <a:p>
            <a:pPr>
              <a:lnSpc>
                <a:spcPct val="120000"/>
              </a:lnSpc>
            </a:pPr>
            <a:r>
              <a:rPr lang="en-US" altLang="zh-CN" sz="2800" b="1"/>
              <a:t>Thirdly, ancient technological exchanges were mutually beneficial and respectful.</a:t>
            </a:r>
            <a:endParaRPr lang="en-US" altLang="zh-CN" sz="2800" b="1"/>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BFCFE"/>
        </a:solidFill>
        <a:effectLst/>
      </p:bgPr>
    </p:bg>
    <p:spTree>
      <p:nvGrpSpPr>
        <p:cNvPr id="1" name=""/>
        <p:cNvGrpSpPr/>
        <p:nvPr/>
      </p:nvGrpSpPr>
      <p:grpSpPr>
        <a:xfrm>
          <a:off x="0" y="0"/>
          <a:ext cx="0" cy="0"/>
          <a:chOff x="0" y="0"/>
          <a:chExt cx="0" cy="0"/>
        </a:xfrm>
      </p:grpSpPr>
      <p:sp>
        <p:nvSpPr>
          <p:cNvPr id="9" name="TextBox 9"/>
          <p:cNvSpPr txBox="1"/>
          <p:nvPr/>
        </p:nvSpPr>
        <p:spPr>
          <a:xfrm>
            <a:off x="2269843" y="3737394"/>
            <a:ext cx="3018068" cy="396174"/>
          </a:xfrm>
          <a:prstGeom prst="rect">
            <a:avLst/>
          </a:prstGeom>
        </p:spPr>
        <p:txBody>
          <a:bodyPr lIns="0" tIns="0" rIns="0" bIns="0" rtlCol="0" anchor="t">
            <a:spAutoFit/>
          </a:bodyPr>
          <a:lstStyle/>
          <a:p>
            <a:pPr algn="ctr">
              <a:lnSpc>
                <a:spcPts val="3360"/>
              </a:lnSpc>
            </a:pPr>
            <a:r>
              <a:rPr lang="en-US" sz="2400" b="1">
                <a:solidFill>
                  <a:srgbClr val="FBFCFE"/>
                </a:solidFill>
                <a:latin typeface="Red Hat Display Bold" panose="02010803040201060303"/>
                <a:ea typeface="Red Hat Display Bold" panose="02010803040201060303"/>
                <a:cs typeface="Red Hat Display Bold" panose="02010803040201060303"/>
                <a:sym typeface="Red Hat Display Bold" panose="02010803040201060303"/>
              </a:rPr>
              <a:t>Strengths</a:t>
            </a:r>
            <a:endParaRPr lang="en-US" sz="2400" b="1">
              <a:solidFill>
                <a:srgbClr val="FBFCFE"/>
              </a:solidFill>
              <a:latin typeface="Red Hat Display Bold" panose="02010803040201060303"/>
              <a:ea typeface="Red Hat Display Bold" panose="02010803040201060303"/>
              <a:cs typeface="Red Hat Display Bold" panose="02010803040201060303"/>
              <a:sym typeface="Red Hat Display Bold" panose="02010803040201060303"/>
            </a:endParaRPr>
          </a:p>
        </p:txBody>
      </p:sp>
      <p:sp>
        <p:nvSpPr>
          <p:cNvPr id="33" name="TextBox 33"/>
          <p:cNvSpPr txBox="1"/>
          <p:nvPr/>
        </p:nvSpPr>
        <p:spPr>
          <a:xfrm>
            <a:off x="14021814" y="3737394"/>
            <a:ext cx="2734329" cy="396174"/>
          </a:xfrm>
          <a:prstGeom prst="rect">
            <a:avLst/>
          </a:prstGeom>
        </p:spPr>
        <p:txBody>
          <a:bodyPr lIns="0" tIns="0" rIns="0" bIns="0" rtlCol="0" anchor="t">
            <a:spAutoFit/>
          </a:bodyPr>
          <a:lstStyle/>
          <a:p>
            <a:pPr algn="ctr">
              <a:lnSpc>
                <a:spcPts val="3360"/>
              </a:lnSpc>
            </a:pPr>
            <a:r>
              <a:rPr lang="en-US" sz="2400" b="1">
                <a:solidFill>
                  <a:srgbClr val="FBFCFE"/>
                </a:solidFill>
                <a:latin typeface="Red Hat Display Bold" panose="02010803040201060303"/>
                <a:ea typeface="Red Hat Display Bold" panose="02010803040201060303"/>
                <a:cs typeface="Red Hat Display Bold" panose="02010803040201060303"/>
                <a:sym typeface="Red Hat Display Bold" panose="02010803040201060303"/>
              </a:rPr>
              <a:t>Threats</a:t>
            </a:r>
            <a:endParaRPr lang="en-US" sz="2400" b="1">
              <a:solidFill>
                <a:srgbClr val="FBFCFE"/>
              </a:solidFill>
              <a:latin typeface="Red Hat Display Bold" panose="02010803040201060303"/>
              <a:ea typeface="Red Hat Display Bold" panose="02010803040201060303"/>
              <a:cs typeface="Red Hat Display Bold" panose="02010803040201060303"/>
              <a:sym typeface="Red Hat Display Bold" panose="02010803040201060303"/>
            </a:endParaRPr>
          </a:p>
        </p:txBody>
      </p:sp>
      <p:pic>
        <p:nvPicPr>
          <p:cNvPr id="3" name="ai v">
            <a:hlinkClick r:id="" action="ppaction://media"/>
          </p:cNvPr>
          <p:cNvPicPr/>
          <p:nvPr>
            <a:videoFile r:link="rId1"/>
            <p:extLst>
              <p:ext uri="{DAA4B4D4-6D71-4841-9C94-3DE7FCFB9230}">
                <p14:media xmlns:p14="http://schemas.microsoft.com/office/powerpoint/2010/main" r:embed="rId2"/>
              </p:ext>
            </p:extLst>
            <p:custDataLst>
              <p:tags r:id="rId3"/>
            </p:custDataLst>
          </p:nvPr>
        </p:nvPicPr>
        <p:blipFill>
          <a:blip r:embed="rId4"/>
          <a:stretch>
            <a:fillRect/>
          </a:stretch>
        </p:blipFill>
        <p:spPr>
          <a:xfrm>
            <a:off x="2487295" y="1459865"/>
            <a:ext cx="12987020" cy="6928485"/>
          </a:xfrm>
          <a:prstGeom prst="rect">
            <a:avLst/>
          </a:prstGeom>
        </p:spPr>
      </p:pic>
    </p:spTree>
  </p:cSld>
  <p:clrMapOvr>
    <a:masterClrMapping/>
  </p:clrMapOvr>
  <p:timing>
    <p:tnLst>
      <p:par>
        <p:cTn id="1" dur="indefinite" restart="never" nodeType="tmRoot">
          <p:childTnLst>
            <p:video fullScrn="0">
              <p:cMediaNode>
                <p:cTn id="2" fill="hold" display="1">
                  <p:stCondLst>
                    <p:cond delay="indefinite"/>
                  </p:stCondLst>
                </p:cTn>
                <p:tgtEl>
                  <p:spTgt spid="3"/>
                </p:tgtEl>
              </p:cMediaNode>
            </p:video>
            <p:seq concurrent="1" nextAc="seek">
              <p:cTn id="3" restart="whenNotActive" fill="hold" evtFilter="cancelBubble" nodeType="interactiveSeq">
                <p:stCondLst>
                  <p:cond evt="onClick" delay="0">
                    <p:tgtEl>
                      <p:spTgt spid="3"/>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additive="base">
                                        <p:cTn id="7"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BFCFE"/>
        </a:solidFill>
        <a:effectLst/>
      </p:bgPr>
    </p:bg>
    <p:spTree>
      <p:nvGrpSpPr>
        <p:cNvPr id="1" name=""/>
        <p:cNvGrpSpPr/>
        <p:nvPr/>
      </p:nvGrpSpPr>
      <p:grpSpPr>
        <a:xfrm>
          <a:off x="0" y="0"/>
          <a:ext cx="0" cy="0"/>
          <a:chOff x="0" y="0"/>
          <a:chExt cx="0" cy="0"/>
        </a:xfrm>
      </p:grpSpPr>
      <p:sp>
        <p:nvSpPr>
          <p:cNvPr id="2" name="TextBox 2"/>
          <p:cNvSpPr txBox="1"/>
          <p:nvPr/>
        </p:nvSpPr>
        <p:spPr>
          <a:xfrm>
            <a:off x="4264475" y="952500"/>
            <a:ext cx="9759051" cy="777240"/>
          </a:xfrm>
          <a:prstGeom prst="rect">
            <a:avLst/>
          </a:prstGeom>
        </p:spPr>
        <p:txBody>
          <a:bodyPr lIns="0" tIns="0" rIns="0" bIns="0" rtlCol="0" anchor="t">
            <a:spAutoFit/>
          </a:bodyPr>
          <a:lstStyle/>
          <a:p>
            <a:pPr algn="ctr">
              <a:lnSpc>
                <a:spcPts val="6065"/>
              </a:lnSpc>
            </a:pPr>
            <a:r>
              <a:rPr lang="en-US" sz="4330" b="1">
                <a:solidFill>
                  <a:srgbClr val="2D2261"/>
                </a:solidFill>
                <a:latin typeface="Red Hat Display Bold" panose="02010803040201060303"/>
                <a:ea typeface="Red Hat Display Bold" panose="02010803040201060303"/>
                <a:cs typeface="Red Hat Display Bold" panose="02010803040201060303"/>
                <a:sym typeface="Red Hat Display Bold" panose="02010803040201060303"/>
              </a:rPr>
              <a:t>Conclusion</a:t>
            </a:r>
            <a:endParaRPr lang="en-US" altLang="zh-CN" sz="4330" b="1">
              <a:solidFill>
                <a:srgbClr val="2D2261"/>
              </a:solidFill>
              <a:latin typeface="Red Hat Display Bold" panose="02010803040201060303"/>
              <a:ea typeface="Red Hat Display Bold" panose="02010803040201060303"/>
              <a:cs typeface="Red Hat Display Bold" panose="02010803040201060303"/>
              <a:sym typeface="Red Hat Display Bold" panose="02010803040201060303"/>
            </a:endParaRPr>
          </a:p>
        </p:txBody>
      </p:sp>
      <p:sp>
        <p:nvSpPr>
          <p:cNvPr id="9" name="TextBox 9"/>
          <p:cNvSpPr txBox="1"/>
          <p:nvPr/>
        </p:nvSpPr>
        <p:spPr>
          <a:xfrm>
            <a:off x="1809750" y="2552700"/>
            <a:ext cx="15114905" cy="5657850"/>
          </a:xfrm>
          <a:prstGeom prst="rect">
            <a:avLst/>
          </a:prstGeom>
        </p:spPr>
        <p:txBody>
          <a:bodyPr wrap="square" lIns="0" tIns="0" rIns="0" bIns="0" rtlCol="0" anchor="t">
            <a:noAutofit/>
          </a:bodyPr>
          <a:lstStyle/>
          <a:p>
            <a:pPr algn="ctr">
              <a:lnSpc>
                <a:spcPts val="6065"/>
              </a:lnSpc>
            </a:pPr>
            <a:r>
              <a:rPr lang="en-US" altLang="zh-CN" sz="2800" b="1">
                <a:solidFill>
                  <a:srgbClr val="2D2261"/>
                </a:solidFill>
                <a:latin typeface="Red Hat Display Bold" panose="02010803040201060303"/>
                <a:ea typeface="Red Hat Display Bold" panose="02010803040201060303"/>
                <a:cs typeface="Red Hat Display Bold" panose="02010803040201060303"/>
                <a:sym typeface="Red Hat Display Bold" panose="02010803040201060303"/>
              </a:rPr>
              <a:t>From an archaeological perspective, bronze, gold, ivory and other Sanxingdui relics prove the advanced technology of ancient Shu civilization. Modern tests confirm that Sanxingdui was never isolated, but a key part of early cross-civilization exchanges, witnessing material circulation, technological learning and cultural integration. This history tells us that technological progress relies on open communication, mutual learning and independent innovation. Archaeology uncovers ancient wisdom and offers valuable insights into modern technological development and cultural communication.</a:t>
            </a:r>
            <a:endParaRPr lang="en-US" sz="2800" b="1">
              <a:solidFill>
                <a:srgbClr val="FBFCFE"/>
              </a:solidFill>
              <a:latin typeface="Red Hat Display Bold" panose="02010803040201060303"/>
              <a:ea typeface="Red Hat Display Bold" panose="02010803040201060303"/>
              <a:cs typeface="Red Hat Display Bold" panose="02010803040201060303"/>
              <a:sym typeface="Red Hat Display Bold" panose="02010803040201060303"/>
            </a:endParaRPr>
          </a:p>
        </p:txBody>
      </p:sp>
      <p:sp>
        <p:nvSpPr>
          <p:cNvPr id="33" name="TextBox 33"/>
          <p:cNvSpPr txBox="1"/>
          <p:nvPr/>
        </p:nvSpPr>
        <p:spPr>
          <a:xfrm>
            <a:off x="14021814" y="3737394"/>
            <a:ext cx="2734329" cy="396174"/>
          </a:xfrm>
          <a:prstGeom prst="rect">
            <a:avLst/>
          </a:prstGeom>
        </p:spPr>
        <p:txBody>
          <a:bodyPr lIns="0" tIns="0" rIns="0" bIns="0" rtlCol="0" anchor="t">
            <a:spAutoFit/>
          </a:bodyPr>
          <a:lstStyle/>
          <a:p>
            <a:pPr algn="ctr">
              <a:lnSpc>
                <a:spcPts val="3360"/>
              </a:lnSpc>
            </a:pPr>
            <a:r>
              <a:rPr lang="en-US" sz="2400" b="1">
                <a:solidFill>
                  <a:srgbClr val="FBFCFE"/>
                </a:solidFill>
                <a:latin typeface="Red Hat Display Bold" panose="02010803040201060303"/>
                <a:ea typeface="Red Hat Display Bold" panose="02010803040201060303"/>
                <a:cs typeface="Red Hat Display Bold" panose="02010803040201060303"/>
                <a:sym typeface="Red Hat Display Bold" panose="02010803040201060303"/>
              </a:rPr>
              <a:t>Threats</a:t>
            </a:r>
            <a:endParaRPr lang="en-US" sz="2400" b="1">
              <a:solidFill>
                <a:srgbClr val="FBFCFE"/>
              </a:solidFill>
              <a:latin typeface="Red Hat Display Bold" panose="02010803040201060303"/>
              <a:ea typeface="Red Hat Display Bold" panose="02010803040201060303"/>
              <a:cs typeface="Red Hat Display Bold" panose="02010803040201060303"/>
              <a:sym typeface="Red Hat Display Bold" panose="02010803040201060303"/>
            </a:endParaRPr>
          </a:p>
        </p:txBody>
      </p:sp>
      <p:sp>
        <p:nvSpPr>
          <p:cNvPr id="35" name="Freeform 35"/>
          <p:cNvSpPr/>
          <p:nvPr/>
        </p:nvSpPr>
        <p:spPr>
          <a:xfrm rot="-2080684">
            <a:off x="10082077" y="8242051"/>
            <a:ext cx="10960234" cy="7472887"/>
          </a:xfrm>
          <a:custGeom>
            <a:avLst/>
            <a:gdLst/>
            <a:ahLst/>
            <a:cxnLst/>
            <a:rect l="l" t="t" r="r" b="b"/>
            <a:pathLst>
              <a:path w="10960234" h="7472887">
                <a:moveTo>
                  <a:pt x="0" y="0"/>
                </a:moveTo>
                <a:lnTo>
                  <a:pt x="10960235" y="0"/>
                </a:lnTo>
                <a:lnTo>
                  <a:pt x="10960235" y="7472887"/>
                </a:lnTo>
                <a:lnTo>
                  <a:pt x="0" y="7472887"/>
                </a:lnTo>
                <a:lnTo>
                  <a:pt x="0" y="0"/>
                </a:lnTo>
                <a:close/>
              </a:path>
            </a:pathLst>
          </a:custGeom>
          <a:blipFill>
            <a:blip r:embed="rId1">
              <a:alphaModFix amt="50000"/>
              <a:extLst>
                <a:ext uri="{96DAC541-7B7A-43D3-8B79-37D633B846F1}">
                  <asvg:svgBlip xmlns:asvg="http://schemas.microsoft.com/office/drawing/2016/SVG/main" r:embed="rId2"/>
                </a:ext>
              </a:extLst>
            </a:blip>
            <a:stretch>
              <a:fillRect/>
            </a:stretch>
          </a:blipFill>
        </p:spPr>
      </p:sp>
      <p:sp>
        <p:nvSpPr>
          <p:cNvPr id="36" name="Freeform 36"/>
          <p:cNvSpPr/>
          <p:nvPr/>
        </p:nvSpPr>
        <p:spPr>
          <a:xfrm rot="9426524">
            <a:off x="-3984660" y="-4765086"/>
            <a:ext cx="9442126" cy="8000056"/>
          </a:xfrm>
          <a:custGeom>
            <a:avLst/>
            <a:gdLst/>
            <a:ahLst/>
            <a:cxnLst/>
            <a:rect l="l" t="t" r="r" b="b"/>
            <a:pathLst>
              <a:path w="9442126" h="8000056">
                <a:moveTo>
                  <a:pt x="0" y="0"/>
                </a:moveTo>
                <a:lnTo>
                  <a:pt x="9442126" y="0"/>
                </a:lnTo>
                <a:lnTo>
                  <a:pt x="9442126" y="8000056"/>
                </a:lnTo>
                <a:lnTo>
                  <a:pt x="0" y="8000056"/>
                </a:lnTo>
                <a:lnTo>
                  <a:pt x="0" y="0"/>
                </a:lnTo>
                <a:close/>
              </a:path>
            </a:pathLst>
          </a:custGeom>
          <a:blipFill>
            <a:blip r:embed="rId3">
              <a:alphaModFix amt="50000"/>
              <a:extLst>
                <a:ext uri="{96DAC541-7B7A-43D3-8B79-37D633B846F1}">
                  <asvg:svgBlip xmlns:asvg="http://schemas.microsoft.com/office/drawing/2016/SVG/main" r:embed="rId4"/>
                </a:ext>
              </a:extLst>
            </a:blip>
            <a:stretch>
              <a:fillRect/>
            </a:stretch>
          </a:blipFill>
        </p:spPr>
        <p:txBody>
          <a:bodyPr/>
          <a:p>
            <a:endParaRPr lang="zh-CN" altLang="en-US"/>
          </a:p>
        </p:txBody>
      </p:sp>
      <p:sp>
        <p:nvSpPr>
          <p:cNvPr id="37" name="Freeform 37"/>
          <p:cNvSpPr/>
          <p:nvPr/>
        </p:nvSpPr>
        <p:spPr>
          <a:xfrm rot="-2624874">
            <a:off x="-884948" y="9077955"/>
            <a:ext cx="3242701" cy="1827704"/>
          </a:xfrm>
          <a:custGeom>
            <a:avLst/>
            <a:gdLst/>
            <a:ahLst/>
            <a:cxnLst/>
            <a:rect l="l" t="t" r="r" b="b"/>
            <a:pathLst>
              <a:path w="3242701" h="1827704">
                <a:moveTo>
                  <a:pt x="0" y="0"/>
                </a:moveTo>
                <a:lnTo>
                  <a:pt x="3242701" y="0"/>
                </a:lnTo>
                <a:lnTo>
                  <a:pt x="3242701" y="1827704"/>
                </a:lnTo>
                <a:lnTo>
                  <a:pt x="0" y="182770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38" name="Freeform 38"/>
          <p:cNvSpPr/>
          <p:nvPr/>
        </p:nvSpPr>
        <p:spPr>
          <a:xfrm rot="2830696">
            <a:off x="16075185" y="-1028700"/>
            <a:ext cx="2835471" cy="4114800"/>
          </a:xfrm>
          <a:custGeom>
            <a:avLst/>
            <a:gdLst/>
            <a:ahLst/>
            <a:cxnLst/>
            <a:rect l="l" t="t" r="r" b="b"/>
            <a:pathLst>
              <a:path w="2835471" h="4114800">
                <a:moveTo>
                  <a:pt x="0" y="0"/>
                </a:moveTo>
                <a:lnTo>
                  <a:pt x="2835471" y="0"/>
                </a:lnTo>
                <a:lnTo>
                  <a:pt x="2835471"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Tree>
  </p:cSld>
  <p:clrMapOvr>
    <a:masterClrMapping/>
  </p:clrMapOvr>
</p:sld>
</file>

<file path=ppt/tags/tag1.xml><?xml version="1.0" encoding="utf-8"?>
<p:tagLst xmlns:p="http://schemas.openxmlformats.org/presentationml/2006/main">
  <p:tag name="KSO_DOCER_RESOURCE_TRACE_INFO" val="{&quot;id&quot;:&quot;50059176&quot;,&quot;origin&quot;:0,&quot;type&quot;:&quot;icons&quot;,&quot;user&quot;:&quot;1716238568&quot;}"/>
</p:tagLst>
</file>

<file path=ppt/tags/tag2.xml><?xml version="1.0" encoding="utf-8"?>
<p:tagLst xmlns:p="http://schemas.openxmlformats.org/presentationml/2006/main">
  <p:tag name="KSO_WM_MEDIACOVER_FLAG" val="1"/>
  <p:tag name="KSO_WM_UNIT_MEDIACOVER_BTN_STATE" val="1"/>
  <p:tag name="KSO_WM_UNIT_MEDIACOVER_BTNRECT" val="0*0*0*0"/>
</p:tagLst>
</file>

<file path=ppt/tags/tag3.xml><?xml version="1.0" encoding="utf-8"?>
<p:tagLst xmlns:p="http://schemas.openxmlformats.org/presentationml/2006/main">
  <p:tag name="resource_record_key" val="{&quot;10&quot;:[50059176]}"/>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1509</Words>
  <Application>WPS 演示</Application>
  <PresentationFormat>On-screen Show (4:3)</PresentationFormat>
  <Paragraphs>41</Paragraphs>
  <Slides>6</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6</vt:i4>
      </vt:variant>
    </vt:vector>
  </HeadingPairs>
  <TitlesOfParts>
    <vt:vector size="15" baseType="lpstr">
      <vt:lpstr>Arial</vt:lpstr>
      <vt:lpstr>宋体</vt:lpstr>
      <vt:lpstr>Wingdings</vt:lpstr>
      <vt:lpstr>Red Hat Display</vt:lpstr>
      <vt:lpstr>Red Hat Display Bold</vt:lpstr>
      <vt:lpstr>微软雅黑</vt:lpstr>
      <vt:lpstr>Arial Unicode MS</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XIA Chenqian</cp:lastModifiedBy>
  <cp:revision>2</cp:revision>
  <dcterms:created xsi:type="dcterms:W3CDTF">2006-08-16T00:00:00Z</dcterms:created>
  <dcterms:modified xsi:type="dcterms:W3CDTF">2026-05-20T15:08:44Z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2052-12.1.0.26375</vt:lpwstr>
  </property>
  <property fmtid="{D5CDD505-2E9C-101B-9397-08002B2CF9AE}" pid="3" name="ICV">
    <vt:lpwstr>8A3D6A69FD884D8C9BEB0E9C5BB88671_13</vt:lpwstr>
  </property>
</Properties>
</file>