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2435" autoAdjust="0"/>
  </p:normalViewPr>
  <p:slideViewPr>
    <p:cSldViewPr snapToGrid="0">
      <p:cViewPr varScale="1">
        <p:scale>
          <a:sx n="51" d="100"/>
          <a:sy n="51" d="100"/>
        </p:scale>
        <p:origin x="1680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altLang="zh-CN" b="1" dirty="0"/>
              <a:t>"Archaeology and Technological Civilization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altLang="zh-CN" dirty="0"/>
              <a:t>This project combines </a:t>
            </a:r>
            <a:r>
              <a:rPr lang="en-US" altLang="zh-CN" b="1" dirty="0"/>
              <a:t>Archaeology</a:t>
            </a:r>
            <a:r>
              <a:rPr lang="en-US" altLang="zh-CN" dirty="0"/>
              <a:t> and </a:t>
            </a:r>
            <a:r>
              <a:rPr lang="en-US" altLang="zh-CN" b="1" dirty="0"/>
              <a:t>Technological Civilization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I chose the </a:t>
            </a:r>
            <a:r>
              <a:rPr lang="en-US" altLang="zh-CN" b="1" dirty="0"/>
              <a:t>Silk Road Era</a:t>
            </a:r>
            <a:r>
              <a:rPr lang="en-US" altLang="zh-CN" dirty="0"/>
              <a:t> and </a:t>
            </a:r>
            <a:r>
              <a:rPr lang="en-US" altLang="zh-CN" b="1" dirty="0"/>
              <a:t>Contemporary Globalization</a:t>
            </a:r>
            <a:r>
              <a:rPr lang="en-US" altLang="zh-CN" dirty="0"/>
              <a:t> as my focus.</a:t>
            </a:r>
          </a:p>
          <a:p>
            <a:r>
              <a:rPr lang="en-US" altLang="zh-CN" dirty="0"/>
              <a:t>The Silk Road connected civilizations in the past, while technology is creating new connections today.</a:t>
            </a:r>
          </a:p>
          <a:p>
            <a:r>
              <a:rPr lang="en-US" altLang="zh-CN" dirty="0"/>
              <a:t>This project explores the relationship between these two forms of connection.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altLang="zh-CN" dirty="0"/>
              <a:t>For this project, I used </a:t>
            </a:r>
            <a:r>
              <a:rPr lang="en-US" altLang="zh-CN" b="1" dirty="0" err="1"/>
              <a:t>JiMeng</a:t>
            </a:r>
            <a:r>
              <a:rPr lang="en-US" altLang="zh-CN" b="1" dirty="0"/>
              <a:t> AI video generation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I chose it because it is one of the most popular AI video tools, and the videos it creates are very realistic.</a:t>
            </a:r>
          </a:p>
          <a:p>
            <a:r>
              <a:rPr lang="en-US" altLang="zh-CN" dirty="0"/>
              <a:t>It helped me visualize historical scenes and create a more immersive experience.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altLang="zh-CN" dirty="0"/>
              <a:t>I selected the Ancient Silk Road because it was an important network of cultural exchange.</a:t>
            </a:r>
          </a:p>
          <a:p>
            <a:r>
              <a:rPr lang="en-US" altLang="zh-CN" dirty="0"/>
              <a:t>It connected China, Central Asia, the Middle East, and Europe through trade and knowledge exchange.</a:t>
            </a:r>
          </a:p>
          <a:p>
            <a:r>
              <a:rPr lang="en-US" altLang="zh-CN" dirty="0"/>
              <a:t>According to UNESCO, the Silk Road was not a single road but a network of cultural exchange.</a:t>
            </a:r>
          </a:p>
          <a:p>
            <a:r>
              <a:rPr lang="en-US" altLang="zh-CN" dirty="0"/>
              <a:t>Today, the Digital Silk Road connects people through technology and global communication.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altLang="zh-CN" dirty="0"/>
              <a:t>Historically, the Silk Road connected different civilizations through trade, religion, and culture.</a:t>
            </a:r>
          </a:p>
          <a:p>
            <a:r>
              <a:rPr lang="en-US" altLang="zh-CN" dirty="0"/>
              <a:t>For example, Buddhism spread to China, Chinese silk reached Europe, and Islamic culture interacted with Chinese civilization.</a:t>
            </a:r>
          </a:p>
          <a:p>
            <a:r>
              <a:rPr lang="en-US" altLang="zh-CN" dirty="0"/>
              <a:t>According to Mortimer Wheeler, </a:t>
            </a:r>
            <a:r>
              <a:rPr lang="en-US" altLang="zh-CN" i="1" dirty="0"/>
              <a:t>"Archaeology is not the search for treasures, but for knowledge."</a:t>
            </a:r>
            <a:endParaRPr lang="en-US" altLang="zh-CN" dirty="0"/>
          </a:p>
          <a:p>
            <a:r>
              <a:rPr lang="en-US" altLang="zh-CN" dirty="0"/>
              <a:t>Today, technologies such as 3D scanning, VR, AI, and drone mapping help archaeologists study and preserve cultural heritage.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altLang="zh-CN" dirty="0"/>
              <a:t>This topic is important today because technology is changing the way people connect with history.</a:t>
            </a:r>
          </a:p>
          <a:p>
            <a:r>
              <a:rPr lang="en-US" altLang="zh-CN" dirty="0"/>
              <a:t>Virtual museums and digital exhibitions make cultural heritage more accessible.</a:t>
            </a:r>
          </a:p>
          <a:p>
            <a:r>
              <a:rPr lang="en-US" altLang="zh-CN" dirty="0"/>
              <a:t>According to UNESCO, digital technologies have changed the way people experience and access culture.</a:t>
            </a:r>
          </a:p>
          <a:p>
            <a:r>
              <a:rPr lang="en-US" altLang="zh-CN" dirty="0"/>
              <a:t>Technology is helping us reconnect with the past.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en-US" altLang="zh-CN" dirty="0"/>
              <a:t>In conclusion, the Silk Road once connected civilizations through trade and cultural exchange.</a:t>
            </a:r>
          </a:p>
          <a:p>
            <a:r>
              <a:rPr lang="en-US" altLang="zh-CN" dirty="0"/>
              <a:t>Today, technology is becoming a new bridge between civilizations.</a:t>
            </a:r>
          </a:p>
          <a:p>
            <a:r>
              <a:rPr lang="en-US" altLang="zh-CN" dirty="0"/>
              <a:t>Technology is not replacing archaeology.</a:t>
            </a:r>
          </a:p>
          <a:p>
            <a:r>
              <a:rPr lang="en-US" altLang="zh-CN" dirty="0"/>
              <a:t>Instead, it is helping us preserve, understand, and share human history.</a:t>
            </a:r>
          </a:p>
          <a:p>
            <a:r>
              <a:rPr lang="en-US" altLang="zh-CN" dirty="0"/>
              <a:t>Thank you.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4A671-7F48-0668-836A-6D38A53FA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5B648BE-E3F4-73C4-528E-049049ED64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0BBB8-96A8-CE35-CAC9-0D6DB0E621E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AE7175C-637C-A1C3-60F0-0E488F36EC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F428D02-ACA9-1879-7B98-60984B1EA9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BBD61-44BB-9A65-344B-550BC3404D8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CD565-02D5-926E-F1C0-9745C4A38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75403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4D7DD-19E2-6F67-AAE5-55BBBC9C8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AEE828-89D7-ADEC-9BA3-593300D5C3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34D13B-5878-AE74-05C0-93E8D655FA1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E1F087C-7D44-7FD9-A93F-0963EE4FA1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5C0DCDF-DFD1-B2F7-5FB0-06CDFE4E32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FBFC0-844A-6632-9F09-17E14A80B00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31CB2-4714-E6C1-EA71-868D01C43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18145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unesco.org/en/culture-and-digital-technologies?utm_source=chatgpt.com" TargetMode="External"/><Relationship Id="rId5" Type="http://schemas.openxmlformats.org/officeDocument/2006/relationships/hyperlink" Target="https://www.unesco.org/en/culture-and-digital-technologies" TargetMode="External"/><Relationship Id="rId4" Type="http://schemas.openxmlformats.org/officeDocument/2006/relationships/hyperlink" Target="https://www.unesco.org/en/silk-roads/about-silk-road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1016000" y="2032000"/>
            <a:ext cx="1016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Archaeology and</a:t>
            </a:r>
            <a:br>
              <a:rPr lang="en-US" sz="4800" b="1" i="0" u="none" strike="noStrik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lang="en-US" sz="4800" b="1" i="0" u="none" strike="noStrik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Technological Civilization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419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4699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0" i="1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How Technology Reconnects Civilizations</a:t>
            </a:r>
            <a:endParaRPr lang="en-US" sz="11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6192BC-DFD9-4C11-4259-ADDA4A7BE4CE}"/>
              </a:ext>
            </a:extLst>
          </p:cNvPr>
          <p:cNvSpPr txBox="1"/>
          <p:nvPr/>
        </p:nvSpPr>
        <p:spPr>
          <a:xfrm>
            <a:off x="1016000" y="5824834"/>
            <a:ext cx="4534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Liu </a:t>
            </a:r>
            <a:r>
              <a:rPr lang="en-US" altLang="zh-C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Yumeng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2230026108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Coordinates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A90E2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4A90E2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ACADEMIC DISCIPLINE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lnSpc>
                <a:spcPct val="108333"/>
              </a:lnSpc>
            </a:pPr>
            <a:r>
              <a:rPr lang="en-US" sz="1800" b="1" i="0" u="none" strike="noStrike" dirty="0">
                <a:solidFill>
                  <a:srgbClr val="FFFFFF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Major: </a:t>
            </a:r>
            <a:r>
              <a:rPr lang="en-US" sz="1800" b="0" i="0" u="none" strike="noStrike" dirty="0">
                <a:solidFill>
                  <a:srgbClr val="E5E7E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Archaeology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A90E2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3365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4A90E2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CIVILIZATIONAL THEME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lnSpc>
                <a:spcPct val="108333"/>
              </a:lnSpc>
            </a:pPr>
            <a:r>
              <a:rPr lang="en-US" sz="1800" b="1" i="0" u="none" strike="noStrike" dirty="0">
                <a:solidFill>
                  <a:srgbClr val="FFFFFF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Focus: </a:t>
            </a:r>
            <a:r>
              <a:rPr lang="en-US" sz="1800" b="0" i="0" u="none" strike="noStrike" dirty="0">
                <a:solidFill>
                  <a:srgbClr val="E5E7E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Technological Civilization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4572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A90E2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89000" y="4776537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4A90E2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HISTORICAL SCOPE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lnSpc>
                <a:spcPct val="108333"/>
              </a:lnSpc>
            </a:pPr>
            <a:r>
              <a:rPr lang="en-US" sz="1800" b="1" i="0" u="none" strike="noStrike" dirty="0">
                <a:solidFill>
                  <a:srgbClr val="FFFFFF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Timeline: </a:t>
            </a:r>
            <a:r>
              <a:rPr lang="en-US" sz="1800" b="0" i="0" u="none" strike="noStrike" dirty="0">
                <a:solidFill>
                  <a:srgbClr val="E5E7E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Silk Road Era • Contemporary Globalization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 t="6038" b="6038"/>
          <a:stretch>
            <a:fillRect/>
          </a:stretch>
        </p:blipFill>
        <p:spPr>
          <a:xfrm>
            <a:off x="6477000" y="825500"/>
            <a:ext cx="5080000" cy="3556000"/>
          </a:xfrm>
          <a:prstGeom prst="rect">
            <a:avLst/>
          </a:prstGeom>
          <a:noFill/>
          <a:ln w="25400" cap="flat" cmpd="sng">
            <a:solidFill>
              <a:srgbClr val="D4AF37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1" name="AutoShape 11"/>
          <p:cNvSpPr/>
          <p:nvPr/>
        </p:nvSpPr>
        <p:spPr>
          <a:xfrm>
            <a:off x="6350000" y="4572000"/>
            <a:ext cx="5080000" cy="1206500"/>
          </a:xfrm>
          <a:prstGeom prst="roundRect">
            <a:avLst>
              <a:gd name="adj" fmla="val 8421"/>
            </a:avLst>
          </a:prstGeom>
          <a:solidFill>
            <a:srgbClr val="D4AF37">
              <a:alpha val="10000"/>
            </a:srgbClr>
          </a:solidFill>
          <a:ln w="12700" cap="flat" cmpd="sng">
            <a:solidFill>
              <a:srgbClr val="D4AF3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604000" y="4762500"/>
            <a:ext cx="457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Keywords:  </a:t>
            </a:r>
            <a:r>
              <a:rPr lang="en-US" sz="1800" i="0" u="none" strike="noStrike" dirty="0">
                <a:solidFill>
                  <a:srgbClr val="D4AF37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Cross-civilizational exchange | Digital Silk Road | Cultural heritage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This AI Tool?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400" b="1" i="0" u="none" strike="noStrike" dirty="0">
                <a:solidFill>
                  <a:srgbClr val="4A90E2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TOOL USED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zh-CN" altLang="en-US" sz="2400" b="0" i="0" u="none" strike="noStrike" dirty="0">
                <a:solidFill>
                  <a:srgbClr val="ECEFF1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即梦</a:t>
            </a:r>
            <a:r>
              <a:rPr lang="en-US" sz="2400" b="0" i="0" u="none" strike="noStrike" dirty="0">
                <a:solidFill>
                  <a:srgbClr val="ECEFF1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AI video generation</a:t>
            </a:r>
            <a:r>
              <a:rPr lang="zh-CN" altLang="en-US" sz="2400" b="0" i="0" u="none" strike="noStrike" dirty="0">
                <a:solidFill>
                  <a:srgbClr val="ECEFF1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（</a:t>
            </a:r>
            <a:r>
              <a:rPr lang="en-US" altLang="zh-CN" sz="2400" b="0" i="0" u="none" strike="noStrike" dirty="0" err="1">
                <a:solidFill>
                  <a:srgbClr val="ECEFF1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Seedence</a:t>
            </a:r>
            <a:r>
              <a:rPr lang="en-US" altLang="zh-CN" sz="2400" b="0" i="0" u="none" strike="noStrike" dirty="0">
                <a:solidFill>
                  <a:srgbClr val="ECEFF1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2.0</a:t>
            </a:r>
            <a:r>
              <a:rPr lang="zh-CN" altLang="en-US" sz="2400" b="0" i="0" u="none" strike="noStrike" dirty="0">
                <a:solidFill>
                  <a:srgbClr val="ECEFF1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）</a:t>
            </a:r>
            <a:endParaRPr lang="en-US" sz="2400" b="0" i="0" u="none" strike="noStrike" dirty="0">
              <a:solidFill>
                <a:srgbClr val="ECEFF1"/>
              </a:solidFill>
              <a:latin typeface="Times New Roman" panose="02020603050405020304" pitchFamily="18" charset="0"/>
              <a:ea typeface="Noto Sans SC"/>
              <a:cs typeface="Times New Roman" panose="02020603050405020304" pitchFamily="18" charset="0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223000" y="1905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477000" y="2095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400" b="1" i="0" u="none" strike="noStrike" dirty="0">
                <a:solidFill>
                  <a:srgbClr val="4A90E2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PURPOSE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2400" b="0" i="0" u="none" strike="noStrike" dirty="0">
                <a:solidFill>
                  <a:srgbClr val="ECEFF1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Cinematic storytelling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3810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4000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400" b="1" i="0" u="none" strike="noStrike" dirty="0">
                <a:solidFill>
                  <a:srgbClr val="4A90E2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FUNCTION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2400" b="0" i="0" u="none" strike="noStrike" dirty="0">
                <a:solidFill>
                  <a:srgbClr val="ECEFF1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Visualizing impossible </a:t>
            </a:r>
            <a:r>
              <a:rPr lang="en-US" sz="2400" b="0" i="0" u="none" strike="noStrike" dirty="0">
                <a:solidFill>
                  <a:srgbClr val="FFC000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historical scenes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3810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4000500"/>
            <a:ext cx="5554579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400" b="1" i="0" u="none" strike="noStrike" dirty="0">
                <a:solidFill>
                  <a:srgbClr val="4A90E2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RESULT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2400" b="0" i="0" u="none" strike="noStrike" dirty="0">
                <a:solidFill>
                  <a:srgbClr val="ECEFF1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AI reconstruction and </a:t>
            </a:r>
            <a:r>
              <a:rPr lang="en-US" sz="2400" b="0" i="0" u="none" strike="noStrike" dirty="0">
                <a:solidFill>
                  <a:srgbClr val="FFC000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immersive experience</a:t>
            </a:r>
          </a:p>
        </p:txBody>
      </p:sp>
      <p:sp>
        <p:nvSpPr>
          <p:cNvPr id="12" name="AutoShape 12"/>
          <p:cNvSpPr/>
          <p:nvPr/>
        </p:nvSpPr>
        <p:spPr>
          <a:xfrm>
            <a:off x="0" y="571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1" u="none" strike="noStrike" dirty="0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"Technology is not only studying history, but reactivating history."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21824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These Historical Periods?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2413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362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Ancient Silk Road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143000" y="3175000"/>
            <a:ext cx="762000" cy="381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3644901"/>
            <a:ext cx="444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2000" b="0" i="0" u="none" strike="noStrike" dirty="0">
                <a:solidFill>
                  <a:srgbClr val="ECEFF1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• Connected China, Central Asia, the Middle East, and Europe in a vast network.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lnSpc>
                <a:spcPct val="133333"/>
              </a:lnSpc>
            </a:pPr>
            <a:r>
              <a:rPr lang="en-US" sz="2000" b="0" i="0" u="none" strike="noStrike" dirty="0">
                <a:solidFill>
                  <a:srgbClr val="ECEFF1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• A conduit for the exchange of trade goods, religious beliefs, cultural practices, and scientific knowledge.</a:t>
            </a:r>
          </a:p>
        </p:txBody>
      </p:sp>
      <p:sp>
        <p:nvSpPr>
          <p:cNvPr id="9" name="AutoShape 9"/>
          <p:cNvSpPr/>
          <p:nvPr/>
        </p:nvSpPr>
        <p:spPr>
          <a:xfrm>
            <a:off x="6350000" y="2032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413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239000" y="23622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Digital Silk Road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3175000"/>
            <a:ext cx="762000" cy="381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578600" y="3517901"/>
            <a:ext cx="4826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2000" b="0" i="0" u="none" strike="noStrike" dirty="0">
                <a:solidFill>
                  <a:srgbClr val="ECEFF1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• Leveraging modern technology to build a new bridge for global interaction.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lnSpc>
                <a:spcPct val="133333"/>
              </a:lnSpc>
            </a:pPr>
            <a:r>
              <a:rPr lang="en-US" sz="2000" b="0" i="0" u="none" strike="noStrike" dirty="0">
                <a:solidFill>
                  <a:srgbClr val="B4BEC8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Keywords:</a:t>
            </a:r>
            <a:r>
              <a:rPr lang="en-US" sz="2000" dirty="0">
                <a:solidFill>
                  <a:srgbClr val="B4BEC8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</a:t>
            </a:r>
            <a:r>
              <a:rPr lang="en-US" sz="2000" b="1" i="0" u="none" strike="noStrike" dirty="0">
                <a:solidFill>
                  <a:srgbClr val="D4AF37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Trade · Knowledge Transfer · Civilizational Exchange · Global Connection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4C9E588-F468-22B7-E5CF-DF4951AC9B3F}"/>
              </a:ext>
            </a:extLst>
          </p:cNvPr>
          <p:cNvSpPr txBox="1"/>
          <p:nvPr/>
        </p:nvSpPr>
        <p:spPr>
          <a:xfrm>
            <a:off x="1549400" y="1492935"/>
            <a:ext cx="10667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 Silk Road was not a single road, but a network of cultural exchange.” (UNESCO, n.d.)</a:t>
            </a:r>
          </a:p>
          <a:p>
            <a:endParaRPr lang="zh-CN" altLang="en-US" sz="20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Happened Historically?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D4AF3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Historical Crossroads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25683" b="25683"/>
          <a:stretch>
            <a:fillRect/>
          </a:stretch>
        </p:blipFill>
        <p:spPr>
          <a:xfrm>
            <a:off x="1016000" y="2794000"/>
            <a:ext cx="2159000" cy="1397000"/>
          </a:xfrm>
          <a:prstGeom prst="rect">
            <a:avLst/>
          </a:prstGeom>
          <a:noFill/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 l="16434" r="16434"/>
          <a:stretch>
            <a:fillRect/>
          </a:stretch>
        </p:blipFill>
        <p:spPr>
          <a:xfrm>
            <a:off x="3429000" y="2794000"/>
            <a:ext cx="2159000" cy="1397000"/>
          </a:xfrm>
          <a:prstGeom prst="rect">
            <a:avLst/>
          </a:prstGeom>
          <a:noFill/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952500" y="4699000"/>
            <a:ext cx="514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000" b="0" i="0" u="none" strike="noStrike" dirty="0">
                <a:solidFill>
                  <a:srgbClr val="E5E7EB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•</a:t>
            </a:r>
            <a:r>
              <a:rPr lang="en-US" sz="2000" b="1" i="0" u="none" strike="noStrike" dirty="0">
                <a:solidFill>
                  <a:srgbClr val="D4AF3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Buddhism </a:t>
            </a:r>
            <a:r>
              <a:rPr lang="en-US" sz="2000" b="0" i="0" u="none" strike="noStrike" dirty="0">
                <a:solidFill>
                  <a:srgbClr val="E5E7EB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spread from India to China, enriching art &amp; philosophy.</a:t>
            </a:r>
            <a:br>
              <a:rPr lang="en-US" sz="2000" b="0" i="0" u="none" strike="noStrike" dirty="0">
                <a:solidFill>
                  <a:srgbClr val="1F232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</a:br>
            <a:r>
              <a:rPr lang="en-US" sz="2000" b="0" i="0" u="none" strike="noStrike" dirty="0">
                <a:solidFill>
                  <a:srgbClr val="E5E7EB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• Chinese </a:t>
            </a:r>
            <a:r>
              <a:rPr lang="en-US" sz="2000" b="1" i="0" u="none" strike="noStrike" dirty="0">
                <a:solidFill>
                  <a:srgbClr val="D4AF3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silk </a:t>
            </a:r>
            <a:r>
              <a:rPr lang="en-US" sz="2000" b="0" i="0" u="none" strike="noStrike" dirty="0">
                <a:solidFill>
                  <a:srgbClr val="E5E7EB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and technologies traversed continents to Europe.</a:t>
            </a:r>
            <a:br>
              <a:rPr lang="en-US" sz="2000" b="0" i="0" u="none" strike="noStrike" dirty="0">
                <a:solidFill>
                  <a:srgbClr val="1F232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</a:br>
            <a:r>
              <a:rPr lang="en-US" sz="2000" b="0" i="0" u="none" strike="noStrike" dirty="0">
                <a:solidFill>
                  <a:srgbClr val="E5E7EB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•</a:t>
            </a:r>
            <a:r>
              <a:rPr lang="en-US" sz="2000" b="1" i="0" u="none" strike="noStrike" dirty="0">
                <a:solidFill>
                  <a:srgbClr val="D4AF3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Islamic culture </a:t>
            </a:r>
            <a:r>
              <a:rPr lang="en-US" sz="2000" b="0" i="0" u="none" strike="noStrike" dirty="0">
                <a:solidFill>
                  <a:srgbClr val="E5E7EB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deeply interacted with Chinese civilization.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159500" y="1778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4A90E2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90E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Modern Archaeological Lens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 t="17647" b="17647"/>
          <a:stretch>
            <a:fillRect/>
          </a:stretch>
        </p:blipFill>
        <p:spPr>
          <a:xfrm>
            <a:off x="6477000" y="2794000"/>
            <a:ext cx="2159000" cy="1397000"/>
          </a:xfrm>
          <a:prstGeom prst="rect">
            <a:avLst/>
          </a:prstGeom>
          <a:noFill/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rcRect t="2187" b="2187"/>
          <a:stretch>
            <a:fillRect/>
          </a:stretch>
        </p:blipFill>
        <p:spPr>
          <a:xfrm>
            <a:off x="8890000" y="2794000"/>
            <a:ext cx="2159000" cy="1397000"/>
          </a:xfrm>
          <a:prstGeom prst="rect">
            <a:avLst/>
          </a:prstGeom>
          <a:noFill/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6377642" y="4667250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000" b="0" i="0" u="none" strike="noStrike" dirty="0">
                <a:solidFill>
                  <a:srgbClr val="E5E7EB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•</a:t>
            </a:r>
            <a:r>
              <a:rPr lang="en-US" sz="2000" b="1" i="0" u="none" strike="noStrike" dirty="0">
                <a:solidFill>
                  <a:srgbClr val="4A90E2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3D scanning &amp; VR </a:t>
            </a:r>
            <a:r>
              <a:rPr lang="en-US" sz="2000" b="0" i="0" u="none" strike="noStrike" dirty="0">
                <a:solidFill>
                  <a:srgbClr val="E5E7EB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preserve artifacts in virtual reality.</a:t>
            </a:r>
            <a:br>
              <a:rPr lang="en-US" sz="2000" b="0" i="0" u="none" strike="noStrike" dirty="0">
                <a:solidFill>
                  <a:srgbClr val="1F232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</a:br>
            <a:r>
              <a:rPr lang="en-US" sz="2000" b="0" i="0" u="none" strike="noStrike" dirty="0">
                <a:solidFill>
                  <a:srgbClr val="E5E7EB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•</a:t>
            </a:r>
            <a:r>
              <a:rPr lang="en-US" sz="2000" b="1" i="0" u="none" strike="noStrike" dirty="0">
                <a:solidFill>
                  <a:srgbClr val="4A90E2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AI analysis </a:t>
            </a:r>
            <a:r>
              <a:rPr lang="en-US" sz="2000" b="0" i="0" u="none" strike="noStrike" dirty="0">
                <a:solidFill>
                  <a:srgbClr val="E5E7EB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uncovers hidden patterns in ancient data.</a:t>
            </a:r>
            <a:br>
              <a:rPr lang="en-US" sz="2000" b="0" i="0" u="none" strike="noStrike" dirty="0">
                <a:solidFill>
                  <a:srgbClr val="1F232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</a:br>
            <a:r>
              <a:rPr lang="en-US" sz="2000" b="0" i="0" u="none" strike="noStrike" dirty="0">
                <a:solidFill>
                  <a:srgbClr val="E5E7EB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•</a:t>
            </a:r>
            <a:r>
              <a:rPr lang="en-US" sz="2000" b="1" i="0" u="none" strike="noStrike" dirty="0">
                <a:solidFill>
                  <a:srgbClr val="4A90E2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Drone mapping </a:t>
            </a:r>
            <a:r>
              <a:rPr lang="en-US" sz="2000" b="0" i="0" u="none" strike="noStrike" dirty="0">
                <a:solidFill>
                  <a:srgbClr val="E5E7EB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reveals forgotten landscapes.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3043" y="6098489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1" u="none" strike="noStrik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"Technology helps civilizations reconnect."</a:t>
            </a:r>
            <a:endParaRPr lang="en-US" sz="11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17F66C-01F1-CCD0-B04C-7C78496BEF07}"/>
              </a:ext>
            </a:extLst>
          </p:cNvPr>
          <p:cNvSpPr txBox="1"/>
          <p:nvPr/>
        </p:nvSpPr>
        <p:spPr>
          <a:xfrm>
            <a:off x="1871579" y="1319421"/>
            <a:ext cx="95584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“Archaeology is not the search for treasures, but for knowledge.” (Wheeler, 1954)</a:t>
            </a:r>
          </a:p>
          <a:p>
            <a:endParaRPr lang="zh-CN" altLang="en-US" sz="20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1923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Does It Mean Today?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2909" b="2909"/>
          <a:stretch>
            <a:fillRect/>
          </a:stretch>
        </p:blipFill>
        <p:spPr>
          <a:xfrm>
            <a:off x="762000" y="1905000"/>
            <a:ext cx="4826000" cy="3048000"/>
          </a:xfrm>
          <a:prstGeom prst="rect">
            <a:avLst/>
          </a:prstGeom>
          <a:noFill/>
          <a:ln w="25400" cap="flat" cmpd="sng">
            <a:solidFill>
              <a:srgbClr val="D4AF37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096000" y="1460500"/>
            <a:ext cx="76200" cy="6985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350000" y="1365250"/>
            <a:ext cx="508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Disconnection from History</a:t>
            </a:r>
            <a:endParaRPr lang="en-US" sz="2400" dirty="0"/>
          </a:p>
          <a:p>
            <a:pPr indent="0" algn="l">
              <a:lnSpc>
                <a:spcPct val="108333"/>
              </a:lnSpc>
            </a:pPr>
            <a:r>
              <a:rPr lang="en-US" sz="2000" b="0" i="0" u="none" strike="noStrike" dirty="0">
                <a:solidFill>
                  <a:srgbClr val="E6E6E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Young people are becoming increasingly distant from traditional historical narratives and physical artifacts.</a:t>
            </a:r>
          </a:p>
        </p:txBody>
      </p:sp>
      <p:sp>
        <p:nvSpPr>
          <p:cNvPr id="7" name="AutoShape 7"/>
          <p:cNvSpPr/>
          <p:nvPr/>
        </p:nvSpPr>
        <p:spPr>
          <a:xfrm>
            <a:off x="6118058" y="2635250"/>
            <a:ext cx="76200" cy="6985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350000" y="2825750"/>
            <a:ext cx="508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Immersive Digital Reconnection</a:t>
            </a:r>
            <a:endParaRPr lang="en-US" sz="2400" dirty="0"/>
          </a:p>
          <a:p>
            <a:pPr indent="0" algn="l">
              <a:lnSpc>
                <a:spcPct val="108333"/>
              </a:lnSpc>
            </a:pPr>
            <a:r>
              <a:rPr lang="en-US" sz="2000" b="0" i="0" u="none" strike="noStrike" dirty="0">
                <a:solidFill>
                  <a:srgbClr val="E6E6E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VR museums and interactive digital exhibitions create vivid, immersive experiences that bring history to life.</a:t>
            </a:r>
          </a:p>
        </p:txBody>
      </p:sp>
      <p:sp>
        <p:nvSpPr>
          <p:cNvPr id="9" name="AutoShape 9"/>
          <p:cNvSpPr/>
          <p:nvPr/>
        </p:nvSpPr>
        <p:spPr>
          <a:xfrm>
            <a:off x="6096000" y="4000500"/>
            <a:ext cx="76200" cy="6985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350000" y="4134518"/>
            <a:ext cx="508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Safeguarding Heritage</a:t>
            </a:r>
            <a:endParaRPr lang="en-US" sz="2400" dirty="0"/>
          </a:p>
          <a:p>
            <a:pPr indent="0" algn="l">
              <a:lnSpc>
                <a:spcPct val="108333"/>
              </a:lnSpc>
            </a:pPr>
            <a:r>
              <a:rPr lang="en-US" sz="2000" b="0" i="0" u="none" strike="noStrike" dirty="0">
                <a:solidFill>
                  <a:srgbClr val="E6E6E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Advanced technology provides new methods to protect, restore, and preserve fragile cultural heritage.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096000" y="5270500"/>
            <a:ext cx="76200" cy="6985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350000" y="5373437"/>
            <a:ext cx="5564605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Global Accessibility</a:t>
            </a:r>
            <a:endParaRPr lang="en-US" sz="2400" dirty="0"/>
          </a:p>
          <a:p>
            <a:pPr indent="0" algn="l">
              <a:lnSpc>
                <a:spcPct val="108333"/>
              </a:lnSpc>
            </a:pPr>
            <a:r>
              <a:rPr lang="en-US" sz="2000" b="0" i="0" u="none" strike="noStrike" dirty="0">
                <a:solidFill>
                  <a:srgbClr val="E6E6E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Digital archives break down geographical barriers, enabling worldwide access to humanity’s shared past.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0" y="6129421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1" u="none" strike="noStrike" dirty="0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"Technological civilization reconnects humanity with the past."</a:t>
            </a:r>
            <a:endParaRPr lang="en-US" sz="11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EA63FE2-E28B-C0C1-4D04-F30A65BA24AB}"/>
              </a:ext>
            </a:extLst>
          </p:cNvPr>
          <p:cNvSpPr txBox="1"/>
          <p:nvPr/>
        </p:nvSpPr>
        <p:spPr>
          <a:xfrm>
            <a:off x="2161673" y="2667000"/>
            <a:ext cx="7912769" cy="919401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technologies have a profound impact on the way we experience and access culture (UNESCO, n.d.).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21C2D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175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dirty="0">
                <a:solidFill>
                  <a:srgbClr val="FFFFFF">
                    <a:alpha val="85098"/>
                  </a:srgbClr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Ancient civilizations once connected the world through the Silk Road.</a:t>
            </a:r>
            <a:br>
              <a:rPr lang="en-US" sz="2400" b="0" i="0" u="none" strike="noStrike" dirty="0">
                <a:solidFill>
                  <a:srgbClr val="FFFFFF">
                    <a:alpha val="85098"/>
                  </a:srgbClr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</a:br>
            <a:r>
              <a:rPr lang="en-US" sz="2400" b="0" i="0" u="none" strike="noStrike" dirty="0">
                <a:solidFill>
                  <a:srgbClr val="FFFFFF">
                    <a:alpha val="85098"/>
                  </a:srgbClr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Today, technology is becoming a new bridge between civilizations.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43180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2800" b="0" i="1" u="none" strike="noStrik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"Technology is not replacing archaeology.</a:t>
            </a:r>
            <a:br>
              <a:rPr lang="en-US" sz="2800" b="0" i="1" u="none" strike="noStrik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lang="en-US" sz="2800" b="0" i="1" u="none" strike="noStrik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Technology is giving archaeology a new life.</a:t>
            </a:r>
          </a:p>
          <a:p>
            <a:pPr indent="0" algn="ctr">
              <a:lnSpc>
                <a:spcPct val="116666"/>
              </a:lnSpc>
              <a:defRPr/>
            </a:pPr>
            <a:r>
              <a:rPr lang="en-US" altLang="zh-CN" sz="2800" i="1" dirty="0">
                <a:solidFill>
                  <a:srgbClr val="FFFFFF"/>
                </a:solidFill>
                <a:latin typeface="Playfair Display"/>
              </a:rPr>
              <a:t>Technology is becoming a new bridge between civilizations.</a:t>
            </a:r>
            <a:r>
              <a:rPr lang="en-US" sz="2800" i="1" dirty="0">
                <a:solidFill>
                  <a:srgbClr val="FFFFFF"/>
                </a:solidFill>
                <a:latin typeface="Playfair Display"/>
                <a:sym typeface="Playfair Display"/>
              </a:rPr>
              <a:t>"</a:t>
            </a:r>
            <a:endParaRPr lang="en-US" sz="2800" i="1" dirty="0">
              <a:solidFill>
                <a:srgbClr val="FFFFFF"/>
              </a:solidFill>
              <a:latin typeface="Playfair Display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461000" y="5842000"/>
            <a:ext cx="1270000" cy="381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11FF15-DA73-BD3F-6AF9-AC5944C05361}"/>
              </a:ext>
            </a:extLst>
          </p:cNvPr>
          <p:cNvSpPr txBox="1"/>
          <p:nvPr/>
        </p:nvSpPr>
        <p:spPr>
          <a:xfrm>
            <a:off x="1419068" y="958503"/>
            <a:ext cx="9353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Link to the visual work</a:t>
            </a:r>
            <a:r>
              <a:rPr lang="zh-CN" altLang="en-US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：</a:t>
            </a:r>
            <a:r>
              <a:rPr lang="en-US" altLang="zh-CN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https://2230026108.github.io/spuseum/</a:t>
            </a:r>
            <a:endParaRPr lang="zh-CN" altLang="en-US" sz="2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9BB649-8B2B-6667-F6A7-D4FC2C36A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1781BB2-FAF8-EADB-6CEF-97D8B37369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21C2D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1B5AADC-CD42-E668-1C1B-E8C7B90AB301}"/>
              </a:ext>
            </a:extLst>
          </p:cNvPr>
          <p:cNvSpPr/>
          <p:nvPr/>
        </p:nvSpPr>
        <p:spPr>
          <a:xfrm>
            <a:off x="4898189" y="332873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</a:t>
            </a:r>
            <a:r>
              <a:rPr lang="en-US" altLang="zh-CN" sz="3600" b="1" i="0" u="none" strike="noStrik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eference</a:t>
            </a:r>
            <a:endParaRPr lang="en-US" sz="110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A1F2738-A04E-53A9-F325-19D3A2BACB1B}"/>
              </a:ext>
            </a:extLst>
          </p:cNvPr>
          <p:cNvSpPr/>
          <p:nvPr/>
        </p:nvSpPr>
        <p:spPr>
          <a:xfrm>
            <a:off x="1222524" y="2533442"/>
            <a:ext cx="10534316" cy="203400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-457200">
              <a:buClr>
                <a:schemeClr val="bg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UNESCO. (n.d.). </a:t>
            </a:r>
            <a:r>
              <a:rPr lang="en-US" altLang="zh-CN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Silk Roads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UNESCO.   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https://www.unesco.org/en/silk-roads/about-silk-roads</a:t>
            </a:r>
            <a:endParaRPr lang="en-US" altLang="zh-C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bg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fr-FR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UNESCO. (n.d.). Culture and digital technologies. UNESCO. </a:t>
            </a:r>
            <a:r>
              <a:rPr lang="fr-FR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https://www.unesco.org/en/culture-and-digital-technologies</a:t>
            </a:r>
            <a:endParaRPr lang="fr-FR" altLang="zh-C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bg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Wheeler, M. (1954). </a:t>
            </a:r>
            <a:r>
              <a:rPr lang="en-US" altLang="zh-CN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Archaeology from the earth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Oxford University Press.</a:t>
            </a:r>
          </a:p>
          <a:p>
            <a:pPr marL="342900" indent="-342900">
              <a:buClr>
                <a:schemeClr val="bg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fr-FR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UNESCO. (n.d.). </a:t>
            </a:r>
            <a:r>
              <a:rPr lang="fr-FR" altLang="zh-CN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Culture and digital technologies</a:t>
            </a:r>
            <a:r>
              <a:rPr lang="fr-FR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UNESCO. </a:t>
            </a:r>
            <a:r>
              <a:rPr lang="fr-FR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https://www.unesco.org/en/culture-and-digital-technologies</a:t>
            </a:r>
            <a:endParaRPr lang="en-US" altLang="zh-C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buClr>
                <a:schemeClr val="bg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977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00F7D-75D2-6485-478D-B17BEC98C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50D8939-EB04-D4E8-C027-99076A7726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21C2D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596E0F8-B4BB-9AFE-906C-207824ADC2FB}"/>
              </a:ext>
            </a:extLst>
          </p:cNvPr>
          <p:cNvSpPr/>
          <p:nvPr/>
        </p:nvSpPr>
        <p:spPr>
          <a:xfrm>
            <a:off x="3608651" y="2901462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8000" b="1" i="0" u="none" strike="noStrik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</a:t>
            </a:r>
            <a:r>
              <a:rPr lang="en-US" altLang="zh-CN" sz="8000" b="1" i="0" u="none" strike="noStrik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hank you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54045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923</Words>
  <Application>Microsoft Office PowerPoint</Application>
  <PresentationFormat>宽屏</PresentationFormat>
  <Paragraphs>101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Noto Sans SC</vt:lpstr>
      <vt:lpstr>Arial</vt:lpstr>
      <vt:lpstr>Lato</vt:lpstr>
      <vt:lpstr>Playfair Display</vt:lpstr>
      <vt:lpstr>Times New Roman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雨萌 刘</cp:lastModifiedBy>
  <cp:revision>44</cp:revision>
  <dcterms:modified xsi:type="dcterms:W3CDTF">2026-05-27T06:14:39Z</dcterms:modified>
</cp:coreProperties>
</file>