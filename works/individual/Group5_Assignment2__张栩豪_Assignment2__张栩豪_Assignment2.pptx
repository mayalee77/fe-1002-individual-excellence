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7475200" cy="97536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91490" y="6780107"/>
            <a:ext cx="2293620" cy="389467"/>
          </a:xfrm>
        </p:spPr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58515" y="6780107"/>
            <a:ext cx="3112770" cy="38946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44690" y="6780107"/>
            <a:ext cx="2293620" cy="389467"/>
          </a:xfrm>
        </p:spPr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hatGPT Image 2026年5月18日 13_17_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41275"/>
            <a:ext cx="17475835" cy="98355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5708680" y="1011842"/>
            <a:ext cx="11500484" cy="8671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85850" algn="l" rtl="0" eaLnBrk="0">
              <a:lnSpc>
                <a:spcPts val="3475"/>
              </a:lnSpc>
            </a:pP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Networks that connect civilizations t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hrough trade...</a:t>
            </a:r>
            <a:endParaRPr sz="2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4345"/>
              </a:lnSpc>
              <a:spcBef>
                <a:spcPts val="1175"/>
              </a:spcBef>
            </a:pP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3600" kern="0" spc="-10" baseline="-210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</a:t>
            </a: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</a:t>
            </a:r>
            <a:r>
              <a:rPr sz="3600" kern="0" spc="-10" baseline="-210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</a:t>
            </a: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lang="en-US" sz="23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                                       </a:t>
            </a: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  </a:t>
            </a:r>
            <a:r>
              <a:rPr lang="en-US" sz="23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</a:t>
            </a:r>
            <a:r>
              <a:rPr sz="3900" kern="0" spc="-20" dirty="0">
                <a:solidFill>
                  <a:srgbClr val="E0E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 trade  route  was  also</a:t>
            </a:r>
            <a:endParaRPr sz="39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6247765" algn="l" rtl="0" eaLnBrk="0">
              <a:lnSpc>
                <a:spcPct val="78000"/>
              </a:lnSpc>
              <a:spcBef>
                <a:spcPts val="880"/>
              </a:spcBef>
            </a:pPr>
            <a:r>
              <a:rPr sz="3900" b="1" kern="0" spc="0" dirty="0">
                <a:solidFill>
                  <a:srgbClr val="E0E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3900" b="1" kern="0" spc="580" dirty="0">
                <a:solidFill>
                  <a:srgbClr val="E0E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900" b="1" kern="0" spc="0" dirty="0">
                <a:solidFill>
                  <a:srgbClr val="E0E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transmission</a:t>
            </a:r>
            <a:r>
              <a:rPr sz="3900" b="1" kern="0" spc="650" dirty="0">
                <a:solidFill>
                  <a:srgbClr val="E0E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900" b="1" kern="0" spc="0" dirty="0">
                <a:solidFill>
                  <a:srgbClr val="E0E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route</a:t>
            </a:r>
            <a:r>
              <a:rPr sz="3900" b="1" kern="0" spc="90" dirty="0">
                <a:solidFill>
                  <a:srgbClr val="E0E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39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r" rtl="0" eaLnBrk="0">
              <a:lnSpc>
                <a:spcPct val="81000"/>
              </a:lnSpc>
              <a:spcBef>
                <a:spcPts val="150"/>
              </a:spcBef>
            </a:pPr>
            <a:endParaRPr lang="zh-CN" sz="1500" kern="0" spc="-10" dirty="0">
              <a:solidFill>
                <a:srgbClr val="000000">
                  <a:alpha val="100000"/>
                </a:srgbClr>
              </a:solidFill>
              <a:latin typeface="Arial" panose="020B0604020202090204"/>
              <a:ea typeface="宋体" charset="0"/>
              <a:cs typeface="Arial" panose="020B0604020202090204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164652" y="8389570"/>
            <a:ext cx="464187" cy="593860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7931425" y="8713467"/>
            <a:ext cx="180339" cy="256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</a:t>
            </a:r>
            <a:endParaRPr sz="23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7780410" y="8713467"/>
            <a:ext cx="165735" cy="256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</a:t>
            </a:r>
            <a:endParaRPr sz="23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7068010" y="8563943"/>
            <a:ext cx="56260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135000"/>
              </a:lnSpc>
            </a:pP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dise</a:t>
            </a:r>
            <a:endParaRPr sz="23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7152349" y="8325536"/>
            <a:ext cx="570865" cy="307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0000"/>
              </a:lnSpc>
            </a:pPr>
            <a:endParaRPr sz="23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6410679" y="8713467"/>
            <a:ext cx="414019" cy="256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66000"/>
              </a:lnSpc>
            </a:pPr>
            <a:endParaRPr sz="23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6437605" y="8320463"/>
            <a:ext cx="434975" cy="312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2000"/>
              </a:lnSpc>
            </a:pPr>
            <a:endParaRPr sz="23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08650" y="8319135"/>
            <a:ext cx="5092700" cy="136398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noAutofit/>
          </a:bodyPr>
          <a:p>
            <a:r>
              <a:rPr lang="zh-CN" altLang="en-US" sz="2800">
                <a:ea typeface="宋体" charset="0"/>
              </a:rPr>
              <a:t>…</a:t>
            </a:r>
            <a:r>
              <a:rPr lang="en-US" altLang="zh-CN" sz="2800">
                <a:ea typeface="宋体" charset="0"/>
              </a:rPr>
              <a:t>are the exact same networks that transmit disease between them.</a:t>
            </a:r>
            <a:endParaRPr lang="en-US" altLang="zh-CN" sz="2800">
              <a:ea typeface="宋体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144284" y="3924263"/>
            <a:ext cx="5321198" cy="2819473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11147425" y="728980"/>
            <a:ext cx="5774055" cy="1910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11125" algn="l" rtl="0" eaLnBrk="0">
              <a:lnSpc>
                <a:spcPct val="86000"/>
              </a:lnSpc>
            </a:pPr>
            <a:r>
              <a:rPr sz="3500" kern="0" spc="-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“A multi-tool pipeline,</a:t>
            </a:r>
            <a:r>
              <a:rPr lang="en-US" sz="3500" kern="0" spc="-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500" kern="0" spc="-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woven</a:t>
            </a:r>
            <a:r>
              <a:rPr sz="35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5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by</a:t>
            </a:r>
            <a:r>
              <a:rPr lang="en-US" sz="35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5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hand,shares</a:t>
            </a:r>
            <a:r>
              <a:rPr lang="en-US" sz="35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5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lang="en-US" sz="35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500" kern="0" spc="-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same</a:t>
            </a:r>
            <a:endParaRPr sz="35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11125" algn="l" rtl="0" eaLnBrk="0">
              <a:lnSpc>
                <a:spcPct val="79000"/>
              </a:lnSpc>
              <a:spcBef>
                <a:spcPts val="580"/>
              </a:spcBef>
            </a:pPr>
            <a:r>
              <a:rPr sz="3500" kern="0" spc="-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shape</a:t>
            </a:r>
            <a:r>
              <a:rPr lang="en-US" sz="3500" kern="0" spc="-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500" kern="0" spc="-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</a:t>
            </a:r>
            <a:r>
              <a:rPr lang="en-US" sz="3500" kern="0" spc="-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500" kern="0" spc="-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lang="en-US" sz="3500" kern="0" spc="-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500" kern="0" spc="-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argument:</a:t>
            </a:r>
            <a:endParaRPr sz="35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11125" algn="l" rtl="0" eaLnBrk="0">
              <a:lnSpc>
                <a:spcPct val="79000"/>
              </a:lnSpc>
              <a:spcBef>
                <a:spcPts val="480"/>
              </a:spcBef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Many</a:t>
            </a:r>
            <a:r>
              <a:rPr sz="3500" kern="0" spc="2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flows,</a:t>
            </a:r>
            <a:r>
              <a:rPr lang="en-US" sz="3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one </a:t>
            </a:r>
            <a:r>
              <a:rPr sz="35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network.”</a:t>
            </a:r>
            <a:endParaRPr sz="35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1123887" y="7681412"/>
            <a:ext cx="6633844" cy="1089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3500" kern="0" spc="-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Logic &amp;Assembly:</a:t>
            </a:r>
            <a:r>
              <a:rPr lang="en-US" sz="3500" kern="0" spc="-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500" kern="0" spc="-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Codex</a:t>
            </a:r>
            <a:endParaRPr sz="35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9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87000"/>
              </a:lnSpc>
              <a:spcBef>
                <a:spcPts val="5"/>
              </a:spcBef>
            </a:pP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Character S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ystem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Prompts,Knowledge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Base &amp;React Code</a:t>
            </a:r>
            <a:endParaRPr sz="20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41347" y="1879616"/>
            <a:ext cx="3378305" cy="1803343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635471" y="1879616"/>
            <a:ext cx="3346500" cy="1803343"/>
          </a:xfrm>
          <a:prstGeom prst="rect">
            <a:avLst/>
          </a:prstGeom>
        </p:spPr>
      </p:pic>
      <p:sp>
        <p:nvSpPr>
          <p:cNvPr id="54" name="textbox 54"/>
          <p:cNvSpPr/>
          <p:nvPr/>
        </p:nvSpPr>
        <p:spPr>
          <a:xfrm>
            <a:off x="1123887" y="5293829"/>
            <a:ext cx="5173345" cy="1072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3500" kern="0" spc="-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Environment:</a:t>
            </a:r>
            <a:r>
              <a:rPr lang="en-US" sz="3500" kern="0" spc="-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500" kern="0" spc="-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GPT Image 2</a:t>
            </a:r>
            <a:endParaRPr sz="35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0000"/>
              </a:lnSpc>
            </a:pP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82000"/>
              </a:lnSpc>
              <a:spcBef>
                <a:spcPts val="0"/>
              </a:spcBef>
            </a:pP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Historical</a:t>
            </a:r>
            <a:r>
              <a:rPr sz="1900" kern="0" spc="5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Landscape</a:t>
            </a:r>
            <a:r>
              <a:rPr sz="1900" kern="0" spc="4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Generation</a:t>
            </a:r>
            <a:endParaRPr sz="1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1123950" y="1186180"/>
            <a:ext cx="5307965" cy="445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3500" kern="0" spc="-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Visual Generation:</a:t>
            </a:r>
            <a:r>
              <a:rPr lang="en-US" sz="3500" kern="0" spc="-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500" kern="0" spc="-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Tripo AI</a:t>
            </a:r>
            <a:endParaRPr sz="35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16097336" y="9482691"/>
            <a:ext cx="1151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1000"/>
              </a:lnSpc>
            </a:pP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692074" y="5524158"/>
            <a:ext cx="5780404" cy="38849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3000" b="1" kern="0" spc="-20" dirty="0">
                <a:solidFill>
                  <a:srgbClr val="E0C07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Why this period?</a:t>
            </a:r>
            <a:r>
              <a:rPr lang="en-US" sz="3000" b="1" kern="0" spc="-20" dirty="0">
                <a:solidFill>
                  <a:srgbClr val="E0C07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kern="0" spc="-20" dirty="0">
                <a:solidFill>
                  <a:srgbClr val="E0C07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This is </a:t>
            </a:r>
            <a:r>
              <a:rPr sz="3000" kern="0" spc="-30" dirty="0">
                <a:solidFill>
                  <a:srgbClr val="E0C07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precise</a:t>
            </a:r>
            <a:r>
              <a:rPr sz="3000" kern="0" spc="-10" dirty="0">
                <a:solidFill>
                  <a:srgbClr val="E0C07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3000" kern="0" spc="0" dirty="0">
                <a:solidFill>
                  <a:srgbClr val="E0C07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historical</a:t>
            </a:r>
            <a:r>
              <a:rPr sz="3000" kern="0" spc="140" dirty="0">
                <a:solidFill>
                  <a:srgbClr val="E0C07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kern="0" spc="0" dirty="0">
                <a:solidFill>
                  <a:srgbClr val="E0C07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moment</a:t>
            </a:r>
            <a:r>
              <a:rPr sz="3000" kern="0" spc="140" dirty="0">
                <a:solidFill>
                  <a:srgbClr val="E0C07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kern="0" spc="0" dirty="0">
                <a:solidFill>
                  <a:srgbClr val="E0C07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when</a:t>
            </a:r>
            <a:r>
              <a:rPr sz="3000" kern="0" spc="140" dirty="0">
                <a:solidFill>
                  <a:srgbClr val="E0C07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kern="0" spc="0" dirty="0">
                <a:solidFill>
                  <a:srgbClr val="E0C07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trade</a:t>
            </a:r>
            <a:r>
              <a:rPr sz="3000" kern="0" spc="140" dirty="0">
                <a:solidFill>
                  <a:srgbClr val="E0C07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</a:t>
            </a:r>
            <a:endParaRPr sz="3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0000"/>
              </a:lnSpc>
              <a:spcBef>
                <a:spcPts val="330"/>
              </a:spcBef>
            </a:pPr>
            <a:r>
              <a:rPr sz="3000" kern="0" spc="0" dirty="0">
                <a:solidFill>
                  <a:srgbClr val="E0C07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disease</a:t>
            </a:r>
            <a:r>
              <a:rPr sz="3000" kern="0" spc="120" dirty="0">
                <a:solidFill>
                  <a:srgbClr val="E0C07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</a:t>
            </a:r>
            <a:r>
              <a:rPr sz="3000" kern="0" spc="0" dirty="0">
                <a:solidFill>
                  <a:srgbClr val="E0B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3000" kern="0" spc="120" dirty="0">
                <a:solidFill>
                  <a:srgbClr val="E0B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kern="0" spc="0" dirty="0">
                <a:solidFill>
                  <a:srgbClr val="E0B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formal</a:t>
            </a:r>
            <a:r>
              <a:rPr sz="3000" kern="0" spc="120" dirty="0">
                <a:solidFill>
                  <a:srgbClr val="E0B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kern="0" spc="0" dirty="0">
                <a:solidFill>
                  <a:srgbClr val="E0B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public</a:t>
            </a:r>
            <a:r>
              <a:rPr sz="3000" kern="0" spc="120" dirty="0">
                <a:solidFill>
                  <a:srgbClr val="E0B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kern="0" spc="0" dirty="0">
                <a:solidFill>
                  <a:srgbClr val="E0B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health</a:t>
            </a:r>
            <a:endParaRPr sz="3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0000"/>
              </a:lnSpc>
              <a:spcBef>
                <a:spcPts val="665"/>
              </a:spcBef>
            </a:pPr>
            <a:r>
              <a:rPr sz="3000" kern="0" spc="-10" dirty="0">
                <a:solidFill>
                  <a:srgbClr val="E0C07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responses became inextricably li</a:t>
            </a:r>
            <a:r>
              <a:rPr sz="3000" kern="0" spc="-20" dirty="0">
                <a:solidFill>
                  <a:srgbClr val="E0C07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nked.</a:t>
            </a:r>
            <a:endParaRPr sz="3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6200" algn="l" rtl="0" eaLnBrk="0">
              <a:lnSpc>
                <a:spcPct val="78000"/>
              </a:lnSpc>
              <a:spcBef>
                <a:spcPts val="1180"/>
              </a:spcBef>
            </a:pPr>
            <a:r>
              <a:rPr sz="3900" b="1" kern="0" spc="-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1.The Network</a:t>
            </a:r>
            <a:endParaRPr sz="39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0000"/>
              </a:lnSpc>
              <a:spcBef>
                <a:spcPts val="905"/>
              </a:spcBef>
            </a:pP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Humanity's first mas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sive,</a:t>
            </a:r>
            <a:endParaRPr sz="28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78000"/>
              </a:lnSpc>
              <a:spcBef>
                <a:spcPts val="360"/>
              </a:spcBef>
            </a:pP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cross-civil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izational,</a:t>
            </a:r>
            <a:r>
              <a:rPr lang="en-US" sz="2800" kern="0" spc="-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long-distance</a:t>
            </a:r>
            <a:endParaRPr sz="28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90000"/>
              </a:lnSpc>
              <a:spcBef>
                <a:spcPts val="10"/>
              </a:spcBef>
            </a:pP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trade infrastructure.</a:t>
            </a:r>
            <a:endParaRPr sz="28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12401507" y="7689741"/>
            <a:ext cx="4187190" cy="1711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3900" b="1" kern="0" spc="-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3.The Response</a:t>
            </a:r>
            <a:endParaRPr sz="39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57150" algn="l" rtl="0" eaLnBrk="0">
              <a:lnSpc>
                <a:spcPct val="80000"/>
              </a:lnSpc>
              <a:spcBef>
                <a:spcPts val="1085"/>
              </a:spcBef>
            </a:pP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1377-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Adriatic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port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endParaRPr sz="28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4000"/>
              </a:lnSpc>
              <a:spcBef>
                <a:spcPts val="205"/>
              </a:spcBef>
            </a:pPr>
            <a:r>
              <a:rPr sz="2800" kern="0" spc="-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Ragusa passes a formal 40-day</a:t>
            </a:r>
            <a:r>
              <a:rPr sz="28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quarantine ordinance.</a:t>
            </a:r>
            <a:endParaRPr sz="28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6622981" y="7700114"/>
            <a:ext cx="4133215" cy="1721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3900" b="1" kern="0" spc="-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2.The Disast</a:t>
            </a:r>
            <a:r>
              <a:rPr sz="3900" b="1" kern="0" spc="-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er</a:t>
            </a:r>
            <a:endParaRPr sz="39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8000"/>
              </a:lnSpc>
              <a:spcBef>
                <a:spcPts val="830"/>
              </a:spcBef>
            </a:pP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regional microb</a:t>
            </a:r>
            <a:r>
              <a:rPr sz="2800" kern="0" spc="-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 scales into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cross-continental pande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mic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via commercial arteries.</a:t>
            </a:r>
            <a:endParaRPr sz="28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72" name="textbox 72"/>
          <p:cNvSpPr/>
          <p:nvPr/>
        </p:nvSpPr>
        <p:spPr>
          <a:xfrm>
            <a:off x="1536651" y="6297573"/>
            <a:ext cx="15824200" cy="3367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864100" algn="l" rtl="0" eaLnBrk="0">
              <a:lnSpc>
                <a:spcPct val="79000"/>
              </a:lnSpc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35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Chain</a:t>
            </a:r>
            <a:r>
              <a:rPr sz="3500" kern="0" spc="2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500" kern="0" spc="-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Transmission</a:t>
            </a:r>
            <a:endParaRPr sz="35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73050" algn="l" rtl="0" eaLnBrk="0">
              <a:lnSpc>
                <a:spcPct val="71000"/>
              </a:lnSpc>
              <a:spcBef>
                <a:spcPts val="1060"/>
              </a:spcBef>
            </a:pPr>
            <a:r>
              <a:rPr sz="2800" kern="0" spc="-10" dirty="0">
                <a:solidFill>
                  <a:srgbClr val="FFFFF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Reservoir                                 </a:t>
            </a:r>
            <a:r>
              <a:rPr sz="3500" kern="0" spc="-10" dirty="0">
                <a:solidFill>
                  <a:srgbClr val="FFFFF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Vector                           </a:t>
            </a:r>
            <a:r>
              <a:rPr sz="3000" kern="0" spc="-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Host                            </a:t>
            </a:r>
            <a:r>
              <a:rPr sz="3000" kern="0" spc="-10" dirty="0">
                <a:solidFill>
                  <a:srgbClr val="FFFFF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Mob</a:t>
            </a:r>
            <a:r>
              <a:rPr sz="3000" kern="0" spc="-20" dirty="0">
                <a:solidFill>
                  <a:srgbClr val="FFFFF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ility</a:t>
            </a:r>
            <a:endParaRPr sz="3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8000"/>
              </a:lnSpc>
              <a:spcBef>
                <a:spcPts val="910"/>
              </a:spcBef>
            </a:pP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War</a:t>
            </a:r>
            <a:r>
              <a:rPr sz="3000" i="1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brought</a:t>
            </a:r>
            <a:r>
              <a:rPr sz="3000" i="1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3000" i="1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reservoir</a:t>
            </a:r>
            <a:r>
              <a:rPr sz="3000" i="1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r>
              <a:rPr lang="en-US" sz="3000" i="1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3000" i="1" kern="0" spc="-2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port</a:t>
            </a:r>
            <a:r>
              <a:rPr sz="3000" i="1" kern="0" spc="-3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provided</a:t>
            </a:r>
            <a:r>
              <a:rPr sz="3000" i="1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3000" i="1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mobility</a:t>
            </a:r>
            <a:r>
              <a:rPr sz="3000" i="1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r>
              <a:rPr lang="en-US" sz="3000" i="1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3000" i="1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local</a:t>
            </a:r>
            <a:r>
              <a:rPr sz="3000" i="1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siege</a:t>
            </a:r>
            <a:r>
              <a:rPr sz="3000" i="1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became</a:t>
            </a:r>
            <a:r>
              <a:rPr sz="3000" i="1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long</a:t>
            </a:r>
            <a:r>
              <a:rPr sz="3000" i="1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</a:t>
            </a: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distance</a:t>
            </a:r>
            <a:endParaRPr sz="3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 rtl="0" eaLnBrk="0">
              <a:lnSpc>
                <a:spcPct val="99000"/>
              </a:lnSpc>
              <a:spcBef>
                <a:spcPts val="35"/>
              </a:spcBef>
            </a:pP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transmission</a:t>
            </a:r>
            <a:r>
              <a:rPr sz="30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</a:t>
            </a:r>
            <a:r>
              <a:rPr sz="30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merchants</a:t>
            </a:r>
            <a:r>
              <a:rPr sz="30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carried</a:t>
            </a:r>
            <a:r>
              <a:rPr sz="30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30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infection</a:t>
            </a:r>
            <a:r>
              <a:rPr sz="30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into</a:t>
            </a:r>
            <a:r>
              <a:rPr sz="30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30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Mediterranean</a:t>
            </a:r>
            <a:r>
              <a:rPr sz="30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               </a:t>
            </a:r>
            <a:r>
              <a:rPr sz="3000" i="1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endParaRPr sz="2100" baseline="-350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908068" y="4233438"/>
            <a:ext cx="7404734" cy="3416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286000" algn="l" rtl="0" eaLnBrk="0">
              <a:lnSpc>
                <a:spcPct val="76000"/>
              </a:lnSpc>
            </a:pPr>
            <a:r>
              <a:rPr sz="3600" b="1" kern="0" spc="-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3600" b="1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3600" b="1" kern="0" spc="-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Threat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4065" algn="l" rtl="0" eaLnBrk="0">
              <a:lnSpc>
                <a:spcPct val="79000"/>
              </a:lnSpc>
              <a:spcBef>
                <a:spcPts val="1160"/>
              </a:spcBef>
            </a:pPr>
            <a:r>
              <a:rPr sz="3500" i="1" kern="0" spc="-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Yersinia</a:t>
            </a:r>
            <a:r>
              <a:rPr sz="3500" i="1" kern="0" spc="-4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500" i="1" kern="0" spc="-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pestis </a:t>
            </a:r>
            <a:r>
              <a:rPr sz="3500" kern="0" spc="-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→</a:t>
            </a:r>
            <a:r>
              <a:rPr sz="3500" kern="0" spc="-6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500" kern="0" spc="-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SARS-CoV-2</a:t>
            </a:r>
            <a:endParaRPr sz="35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32865" algn="l" rtl="0" eaLnBrk="0">
              <a:lnSpc>
                <a:spcPct val="78000"/>
              </a:lnSpc>
              <a:spcBef>
                <a:spcPts val="1180"/>
              </a:spcBef>
            </a:pPr>
            <a:r>
              <a:rPr sz="3900" b="1" kern="0" spc="-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Public Heal</a:t>
            </a:r>
            <a:r>
              <a:rPr sz="3900" b="1" kern="0" spc="-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 Power</a:t>
            </a:r>
            <a:endParaRPr sz="39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596265" indent="-583565" algn="l" rtl="0" eaLnBrk="0">
              <a:lnSpc>
                <a:spcPct val="75000"/>
              </a:lnSpc>
              <a:spcBef>
                <a:spcPts val="590"/>
              </a:spcBef>
            </a:pPr>
            <a:r>
              <a:rPr sz="3500" kern="0" spc="-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Ragusa City-State→National</a:t>
            </a:r>
            <a:r>
              <a:rPr sz="3500" kern="0" spc="2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500" kern="0" spc="-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Sovereignty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3400" kern="0" spc="-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(L</a:t>
            </a:r>
            <a:r>
              <a:rPr sz="3400" kern="0" spc="-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ocal Control)      </a:t>
            </a:r>
            <a:r>
              <a:rPr sz="3400" kern="0" spc="-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VS.WHO(Fragmente</a:t>
            </a:r>
            <a:r>
              <a:rPr sz="3400" kern="0" spc="-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</a:t>
            </a:r>
            <a:endParaRPr sz="34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803015" algn="l" rtl="0" eaLnBrk="0">
              <a:lnSpc>
                <a:spcPct val="81000"/>
              </a:lnSpc>
              <a:spcBef>
                <a:spcPts val="50"/>
              </a:spcBef>
            </a:pPr>
            <a:r>
              <a:rPr sz="3400" kern="0" spc="-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Global Control)</a:t>
            </a:r>
            <a:endParaRPr sz="34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50852" y="8362931"/>
            <a:ext cx="17367250" cy="1352550"/>
          </a:xfrm>
          <a:prstGeom prst="rect">
            <a:avLst/>
          </a:prstGeom>
          <a:solidFill>
            <a:srgbClr val="2D2F3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434465" algn="l" rtl="0" eaLnBrk="0">
              <a:lnSpc>
                <a:spcPct val="79000"/>
              </a:lnSpc>
              <a:spcBef>
                <a:spcPts val="5"/>
              </a:spcBef>
            </a:pPr>
            <a:r>
              <a:rPr sz="5200" kern="0" spc="0" dirty="0">
                <a:solidFill>
                  <a:srgbClr val="E0C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lang="en-US" sz="5200" kern="0" spc="0" dirty="0">
                <a:solidFill>
                  <a:srgbClr val="E0C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5200" kern="0" spc="0" dirty="0">
                <a:solidFill>
                  <a:srgbClr val="E0C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microbe</a:t>
            </a:r>
            <a:r>
              <a:rPr lang="en-US" sz="5200" kern="0" spc="0" dirty="0">
                <a:solidFill>
                  <a:srgbClr val="E0C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5200" kern="0" spc="0" dirty="0">
                <a:solidFill>
                  <a:srgbClr val="E0C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chan</a:t>
            </a:r>
            <a:r>
              <a:rPr sz="5200" kern="0" spc="-10" dirty="0">
                <a:solidFill>
                  <a:srgbClr val="E0C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ged.</a:t>
            </a:r>
            <a:r>
              <a:rPr lang="en-US" sz="5200" kern="0" spc="-10" dirty="0">
                <a:solidFill>
                  <a:srgbClr val="E0C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5200" kern="0" spc="-10" dirty="0">
                <a:solidFill>
                  <a:srgbClr val="E0C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</a:t>
            </a:r>
            <a:r>
              <a:rPr lang="en-US" sz="5200" kern="0" spc="-10" dirty="0">
                <a:solidFill>
                  <a:srgbClr val="E0C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 </a:t>
            </a:r>
            <a:r>
              <a:rPr sz="5200" kern="0" spc="-10" dirty="0">
                <a:solidFill>
                  <a:srgbClr val="E0C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structural</a:t>
            </a:r>
            <a:r>
              <a:rPr lang="en-US" sz="5200" kern="0" spc="-10" dirty="0">
                <a:solidFill>
                  <a:srgbClr val="E0C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5200" kern="0" spc="-10" dirty="0">
                <a:solidFill>
                  <a:srgbClr val="E0C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failure</a:t>
            </a:r>
            <a:r>
              <a:rPr lang="en-US" sz="5200" kern="0" spc="-10" dirty="0">
                <a:solidFill>
                  <a:srgbClr val="E0C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5200" kern="0" spc="-10" dirty="0">
                <a:solidFill>
                  <a:srgbClr val="E0C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did</a:t>
            </a:r>
            <a:r>
              <a:rPr lang="en-US" sz="5200" kern="0" spc="-10" dirty="0">
                <a:solidFill>
                  <a:srgbClr val="E0C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5200" kern="0" spc="-10" dirty="0">
                <a:solidFill>
                  <a:srgbClr val="E0C08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not.</a:t>
            </a:r>
            <a:endParaRPr sz="5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6064865" algn="l" rtl="0" eaLnBrk="0">
              <a:lnSpc>
                <a:spcPct val="81000"/>
              </a:lnSpc>
              <a:spcBef>
                <a:spcPts val="235"/>
              </a:spcBef>
            </a:pP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666735" y="805305"/>
            <a:ext cx="7014844" cy="2837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609600" algn="l" rtl="0" eaLnBrk="0">
              <a:lnSpc>
                <a:spcPct val="79000"/>
              </a:lnSpc>
            </a:pPr>
            <a:r>
              <a:rPr sz="7300" kern="0" spc="-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1346</a:t>
            </a:r>
            <a:r>
              <a:rPr sz="73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7300" kern="0" spc="-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vs.</a:t>
            </a:r>
            <a:r>
              <a:rPr lang="en-US" sz="7300" kern="0" spc="-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7300" kern="0" spc="-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Today</a:t>
            </a:r>
            <a:endParaRPr sz="73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4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4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9815" algn="l" rtl="0" eaLnBrk="0">
              <a:lnSpc>
                <a:spcPct val="77000"/>
              </a:lnSpc>
              <a:spcBef>
                <a:spcPts val="1180"/>
              </a:spcBef>
            </a:pPr>
            <a:r>
              <a:rPr sz="3900" b="1" kern="0" spc="-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Networ</a:t>
            </a:r>
            <a:r>
              <a:rPr sz="3900" b="1" kern="0" spc="-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k</a:t>
            </a:r>
            <a:endParaRPr sz="39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082415" indent="-4069715" algn="l" rtl="0" eaLnBrk="0">
              <a:lnSpc>
                <a:spcPct val="76000"/>
              </a:lnSpc>
              <a:spcBef>
                <a:spcPts val="675"/>
              </a:spcBef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Caravans &amp;</a:t>
            </a:r>
            <a:r>
              <a:rPr sz="35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Galleys→Airlines &amp;Global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500" kern="0" spc="-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Supply Ch</a:t>
            </a:r>
            <a:r>
              <a:rPr sz="3500" kern="0" spc="-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ains</a:t>
            </a:r>
            <a:endParaRPr sz="35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13620750" y="5021580"/>
            <a:ext cx="3437890" cy="2774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0000"/>
              </a:lnSpc>
            </a:pPr>
            <a:r>
              <a:rPr sz="4100" b="1" kern="0" spc="-210" dirty="0">
                <a:solidFill>
                  <a:srgbClr val="20306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SDG</a:t>
            </a:r>
            <a:r>
              <a:rPr sz="4100" b="1" kern="0" spc="140" dirty="0">
                <a:solidFill>
                  <a:srgbClr val="20306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4100" b="1" kern="0" spc="-210" dirty="0">
                <a:solidFill>
                  <a:srgbClr val="20306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17</a:t>
            </a:r>
            <a:endParaRPr sz="4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79000"/>
              </a:lnSpc>
              <a:spcBef>
                <a:spcPts val="30"/>
              </a:spcBef>
            </a:pPr>
            <a:r>
              <a:rPr sz="3400" kern="0" spc="-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(Partnership</a:t>
            </a:r>
            <a:r>
              <a:rPr sz="3400" kern="0" spc="-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s)</a:t>
            </a:r>
            <a:endParaRPr sz="34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ts val="2475"/>
              </a:lnSpc>
              <a:spcBef>
                <a:spcPts val="1485"/>
              </a:spcBef>
            </a:pPr>
            <a:r>
              <a:rPr sz="3300" kern="0" spc="-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WHO</a:t>
            </a:r>
            <a:r>
              <a:rPr sz="3300" kern="0" spc="-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can war</a:t>
            </a:r>
            <a:r>
              <a:rPr sz="3300" kern="0" spc="-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</a:t>
            </a:r>
            <a:endParaRPr sz="33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93000"/>
              </a:lnSpc>
              <a:spcBef>
                <a:spcPts val="30"/>
              </a:spcBef>
            </a:pPr>
            <a:r>
              <a:rPr sz="3400" kern="0" spc="-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coord</a:t>
            </a:r>
            <a:r>
              <a:rPr sz="3400" kern="0" spc="-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inate,</a:t>
            </a:r>
            <a:r>
              <a:rPr lang="en-US" sz="3400" kern="0" spc="-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400" kern="0" spc="-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but</a:t>
            </a:r>
            <a:r>
              <a:rPr sz="34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400" kern="0" spc="-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cannot co</a:t>
            </a:r>
            <a:r>
              <a:rPr sz="3400" kern="0" spc="-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mmand</a:t>
            </a:r>
            <a:endParaRPr sz="34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0000"/>
              </a:lnSpc>
              <a:spcBef>
                <a:spcPts val="100"/>
              </a:spcBef>
            </a:pPr>
            <a:r>
              <a:rPr sz="3400" kern="0" spc="-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sovereign sta</a:t>
            </a:r>
            <a:r>
              <a:rPr sz="3400" kern="0" spc="-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tes.</a:t>
            </a:r>
            <a:endParaRPr sz="34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9321852" y="5064761"/>
            <a:ext cx="3463925" cy="2292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2000"/>
              </a:lnSpc>
              <a:buClrTx/>
              <a:buSzTx/>
              <a:buFontTx/>
            </a:pPr>
            <a:r>
              <a:rPr sz="4100" b="1" kern="0" spc="-2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SDG 10</a:t>
            </a:r>
            <a:endParaRPr sz="4100" b="1" kern="0" spc="-210" dirty="0">
              <a:solidFill>
                <a:srgbClr val="C00000">
                  <a:alpha val="100000"/>
                </a:srgbClr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r" rtl="0" eaLnBrk="0">
              <a:lnSpc>
                <a:spcPct val="83000"/>
              </a:lnSpc>
              <a:spcBef>
                <a:spcPts val="15"/>
              </a:spcBef>
            </a:pPr>
            <a:r>
              <a:rPr sz="3200" kern="0" spc="-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(Reduced Inequal</a:t>
            </a:r>
            <a:r>
              <a:rPr sz="3200" kern="0" spc="-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ities)</a:t>
            </a:r>
            <a:endParaRPr sz="3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2000"/>
              </a:lnSpc>
              <a:spcBef>
                <a:spcPts val="1510"/>
              </a:spcBef>
            </a:pPr>
            <a:r>
              <a:rPr sz="3400" kern="0" spc="-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Asymmetric vaccine</a:t>
            </a:r>
            <a:r>
              <a:rPr sz="34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3400" kern="0" spc="-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access fa</a:t>
            </a:r>
            <a:r>
              <a:rPr sz="3400" kern="0" spc="-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voring</a:t>
            </a:r>
            <a:endParaRPr sz="34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79000"/>
              </a:lnSpc>
              <a:spcBef>
                <a:spcPts val="175"/>
              </a:spcBef>
            </a:pPr>
            <a:r>
              <a:rPr sz="3400" kern="0" spc="-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wealthy nat</a:t>
            </a:r>
            <a:r>
              <a:rPr sz="3400" kern="0" spc="-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ions.</a:t>
            </a:r>
            <a:endParaRPr sz="34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13544559" y="1045976"/>
            <a:ext cx="3514090" cy="1975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defTabSz="914400" rtl="0" eaLnBrk="0">
              <a:lnSpc>
                <a:spcPct val="92000"/>
              </a:lnSpc>
              <a:buClrTx/>
              <a:buSzTx/>
              <a:buFontTx/>
            </a:pPr>
            <a:r>
              <a:rPr sz="4100" b="1" kern="0" spc="-2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SDG 8</a:t>
            </a:r>
            <a:endParaRPr sz="4100" b="1" kern="0" spc="-210" dirty="0">
              <a:solidFill>
                <a:srgbClr val="C00000">
                  <a:alpha val="100000"/>
                </a:srgbClr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r" rtl="0" eaLnBrk="0">
              <a:lnSpc>
                <a:spcPct val="75000"/>
              </a:lnSpc>
              <a:spcBef>
                <a:spcPts val="25"/>
              </a:spcBef>
            </a:pPr>
            <a:r>
              <a:rPr sz="3200" kern="0" spc="-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(Decent W</a:t>
            </a:r>
            <a:r>
              <a:rPr sz="3200" kern="0" spc="-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ork/Growth)</a:t>
            </a:r>
            <a:endParaRPr sz="3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8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7465" algn="l" rtl="0" eaLnBrk="0">
              <a:lnSpc>
                <a:spcPct val="82000"/>
              </a:lnSpc>
              <a:spcBef>
                <a:spcPts val="5"/>
              </a:spcBef>
            </a:pPr>
            <a:r>
              <a:rPr sz="3300" kern="0" spc="-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Global su</a:t>
            </a:r>
            <a:r>
              <a:rPr sz="3300" kern="0" spc="-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pply</a:t>
            </a:r>
            <a:r>
              <a:rPr sz="33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300" kern="0" spc="-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chain</a:t>
            </a:r>
            <a:r>
              <a:rPr sz="33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</a:t>
            </a:r>
            <a:r>
              <a:rPr sz="33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interruptions</a:t>
            </a:r>
            <a:r>
              <a:rPr sz="33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33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9321852" y="1187699"/>
            <a:ext cx="2964179" cy="2277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5000"/>
              </a:lnSpc>
            </a:pPr>
            <a:r>
              <a:rPr sz="4100" b="1" kern="0" spc="-210" dirty="0">
                <a:solidFill>
                  <a:srgbClr val="20306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SDG</a:t>
            </a:r>
            <a:r>
              <a:rPr lang="en-US" sz="4100" b="1" kern="0" spc="-210" dirty="0">
                <a:solidFill>
                  <a:srgbClr val="20306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4100" b="1" kern="0" spc="-210" dirty="0">
                <a:solidFill>
                  <a:srgbClr val="20306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</a:t>
            </a:r>
            <a:endParaRPr sz="3300" b="1" dirty="0">
              <a:latin typeface="Times New Roman" panose="02020503050405090304" charset="0"/>
              <a:ea typeface="Times New Roman" panose="02020503050405090304"/>
              <a:cs typeface="Times New Roman" panose="02020503050405090304" charset="0"/>
            </a:endParaRPr>
          </a:p>
          <a:p>
            <a:pPr marL="12700" algn="l" rtl="0" eaLnBrk="0">
              <a:lnSpc>
                <a:spcPct val="85000"/>
              </a:lnSpc>
              <a:spcBef>
                <a:spcPts val="30"/>
              </a:spcBef>
            </a:pPr>
            <a:r>
              <a:rPr sz="3200" kern="0" spc="-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(No Poverty)</a:t>
            </a:r>
            <a:endParaRPr sz="3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4000"/>
              </a:lnSpc>
              <a:spcBef>
                <a:spcPts val="875"/>
              </a:spcBef>
            </a:pPr>
            <a:r>
              <a:rPr sz="3500" kern="0" spc="-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Millions pushed</a:t>
            </a:r>
            <a:r>
              <a:rPr sz="35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3500" kern="0" spc="-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back into extreme</a:t>
            </a:r>
            <a:r>
              <a:rPr sz="3500" kern="0" spc="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500" kern="0" spc="-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poverty.</a:t>
            </a:r>
            <a:endParaRPr sz="35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92" name="textbox 92"/>
          <p:cNvSpPr/>
          <p:nvPr/>
        </p:nvSpPr>
        <p:spPr>
          <a:xfrm>
            <a:off x="781023" y="2752091"/>
            <a:ext cx="16092169" cy="6548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0000"/>
              </a:lnSpc>
            </a:pPr>
            <a:r>
              <a:rPr sz="3900" kern="0" spc="-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Build a global trade </a:t>
            </a:r>
            <a:r>
              <a:rPr sz="3900" kern="0" spc="-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network...</a:t>
            </a:r>
            <a:endParaRPr sz="39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80000"/>
              </a:lnSpc>
              <a:spcBef>
                <a:spcPts val="1180"/>
              </a:spcBef>
            </a:pPr>
            <a:r>
              <a:rPr sz="3900" kern="0" spc="-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…and you build a highway for di</a:t>
            </a:r>
            <a:r>
              <a:rPr sz="3900" kern="0" spc="-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sease.</a:t>
            </a:r>
            <a:endParaRPr sz="39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3000"/>
              </a:lnSpc>
            </a:pPr>
            <a:endParaRPr sz="8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0450" algn="l" rtl="0" eaLnBrk="0">
              <a:lnSpc>
                <a:spcPct val="83000"/>
              </a:lnSpc>
              <a:spcBef>
                <a:spcPts val="5"/>
              </a:spcBef>
            </a:pPr>
            <a:r>
              <a:rPr sz="3300" kern="0" spc="-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question of</a:t>
            </a:r>
            <a:r>
              <a:rPr sz="3300" kern="0" spc="-3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300" kern="0" spc="-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which way the next strand twists is n</a:t>
            </a:r>
            <a:r>
              <a:rPr sz="3300" kern="0" spc="-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 longer history’s</a:t>
            </a:r>
            <a:r>
              <a:rPr sz="33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300" kern="0" spc="-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question.</a:t>
            </a:r>
            <a:r>
              <a:rPr lang="en-US" sz="3300" kern="0" spc="-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300" kern="0" spc="-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</a:t>
            </a:r>
            <a:r>
              <a:rPr sz="33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300" kern="0" spc="-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</a:t>
            </a:r>
            <a:r>
              <a:rPr sz="33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300" kern="0" spc="-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ours.</a:t>
            </a:r>
            <a:endParaRPr sz="33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16103627" y="9533508"/>
            <a:ext cx="1151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1000"/>
              </a:lnSpc>
            </a:pP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2001</Words>
  <Application>WPS 文字</Application>
  <PresentationFormat/>
  <Paragraphs>191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宋体</vt:lpstr>
      <vt:lpstr>Wingdings</vt:lpstr>
      <vt:lpstr>Arial</vt:lpstr>
      <vt:lpstr>Times New Roman</vt:lpstr>
      <vt:lpstr>宋体</vt:lpstr>
      <vt:lpstr>汉仪书宋二KW</vt:lpstr>
      <vt:lpstr>Times New Roman</vt:lpstr>
      <vt:lpstr>微软雅黑</vt:lpstr>
      <vt:lpstr>汉仪旗黑</vt:lpstr>
      <vt:lpstr>Arial Unicode MS</vt:lpstr>
      <vt:lpstr>Calibri</vt:lpstr>
      <vt:lpstr>Helvetica Neue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Z.IE</cp:lastModifiedBy>
  <cp:revision>2</cp:revision>
  <dcterms:created xsi:type="dcterms:W3CDTF">2026-05-18T05:18:08Z</dcterms:created>
  <dcterms:modified xsi:type="dcterms:W3CDTF">2026-05-18T05:18:08Z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2026-05-17T19:46:31Z</vt:filetime>
  </property>
  <property fmtid="{D5CDD505-2E9C-101B-9397-08002B2CF9AE}" pid="4" name="UsrData">
    <vt:lpwstr>6a093a08115626001f3eb916wl</vt:lpwstr>
  </property>
  <property fmtid="{D5CDD505-2E9C-101B-9397-08002B2CF9AE}" pid="5" name="KSOProductBuildVer">
    <vt:lpwstr>2052-12.1.25869.25869</vt:lpwstr>
  </property>
  <property fmtid="{D5CDD505-2E9C-101B-9397-08002B2CF9AE}" pid="6" name="ICV">
    <vt:lpwstr>25E9B8D9F1D14C6110A10A6A22C94AC6_43</vt:lpwstr>
  </property>
</Properties>
</file>