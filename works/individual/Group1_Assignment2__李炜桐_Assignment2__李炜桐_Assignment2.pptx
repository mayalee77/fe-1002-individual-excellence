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5" r:id="rId4"/>
    <p:sldId id="257" r:id="rId5"/>
    <p:sldId id="259" r:id="rId6"/>
    <p:sldId id="263" r:id="rId7"/>
    <p:sldId id="264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58"/>
    <p:restoredTop sz="94670"/>
  </p:normalViewPr>
  <p:slideViewPr>
    <p:cSldViewPr snapToGrid="0">
      <p:cViewPr>
        <p:scale>
          <a:sx n="85" d="100"/>
          <a:sy n="85" d="100"/>
        </p:scale>
        <p:origin x="37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997B4-2E08-5A01-960D-A5EB48C9C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25F583-0433-D7EF-0FAC-604501853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60662A-8934-F492-D0E1-89568DE1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215E5-2E66-191D-D54C-8C643C62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8D9793-2562-44A0-30BA-71B144F4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253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D06B6-F80D-5F8E-10B4-42733732B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A77760-0CB0-4FE1-012A-C417AD648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C961D3-E48C-6A6E-8B88-D0C958E8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89955-6E17-236E-77C6-08FB1AD2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18A44F-AF1C-EFD9-D942-905C97FD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7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5E273-A6B3-4009-0132-551FE548D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920C55-05B6-6641-83F4-63A68C43D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84414D-7163-436D-72BB-98011DF92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DEF364-64B7-BDB9-07B0-DC37CEB9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292092-1E26-2BA4-7B85-F946953E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3075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5E6AE-6CA7-E003-9A78-86E81583B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9585CE-F317-8CF4-0324-B460004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166E07-4F03-1CA1-F813-0B76D9BDD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525D84-1BFF-1B72-9104-D1DC7579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D4B394-E1AC-4267-B951-36E1D8FF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F3A287-D26E-70F1-9FA7-7B938812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698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E8928-5DDB-4FB6-5476-811ACC39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58ECEC-5A20-D7B2-B2DE-A706B3B50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585481-14D2-4385-E706-8C806A6E5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08D5D6-19A3-3493-5769-D0C502F5C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D3FE3B-8B27-7D69-9598-D810124560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9FE283-DC72-FF19-3924-DAD73FA52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F343A7F-55C1-37D7-24B1-1A8147E8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AACC8B-3AD1-8828-CFFD-74929BDD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7808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4FB04-BA6B-7799-6006-95D4A727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620AD4-D31F-E7C4-7D7B-82C96AF14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B0A32F-BE1A-67B6-C858-3C26B8970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323701-637F-8D33-4DC8-84B2F1FA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65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293BDB-73AF-9A48-0E69-459D03183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31FF51-98DC-02D3-5647-3D3E37795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E99E7A-F3E3-3D80-6408-06114A6A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486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826F8-34DF-7D36-2D41-F37DB3AC8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EA71F0-025A-95F7-F8FC-8A07A9D9B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C60AD3-48A3-7BDA-F6DF-17DABFA8A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EC3DCD-0042-DCAE-4268-56090454F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64F484-E8F5-8CDE-EE48-4D7DCF58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4D1775-0DAE-50D1-67A2-4E1EF66E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758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5D392-AABA-7210-0402-A1903B3CE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A7F1474-919A-54D1-35BB-02965DEA1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57B2EE-19E4-61EE-DFB1-6A8A3347F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F8BAE5-87DF-9F20-398A-5573134D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F014-C9A6-2BFA-8BFD-61F1C840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A77882-41A8-1C4C-DDD3-F4F1DFA28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6814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6AD25-F20A-A548-6943-3513B491D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BAD1A2-3208-F39A-2C9E-C7A6FC406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6B2548-331E-4992-8350-87B7D8175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A3645A-B145-005E-23A9-2A2EAEC57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4BC7A2-C140-F903-E779-BA549A6D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7912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7DE3D8F-9D89-F195-BEB8-16102979F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0565C0-9C20-0D8B-16F3-AF2497B2D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8CF4A5-8B0A-11E7-0427-02DAEB41D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69C6F3-E043-D1CA-6DCA-9FF991811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C65D33-2CD5-5F0E-0C4C-6400200E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574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536F3F-CE8C-9DA5-7130-68D281945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6005AD-2F10-7AA8-D393-AA070A94E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54CD79-ECAF-1133-C1B6-B60C20A59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64CAE-032A-C949-9D75-41DADD4953DF}" type="datetimeFigureOut">
              <a:rPr kumimoji="1" lang="zh-CN" altLang="en-US" smtClean="0"/>
              <a:t>2026/5/16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346EAF-7316-15B1-37D0-2BA1B3CB7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F4DE5D-31B7-C5A4-3E6C-6A05D06AD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62A205-95A3-EA48-BC36-50A598D676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89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249C5-8696-E8EC-77BE-C1A16C0BA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4414" y="861323"/>
            <a:ext cx="12560828" cy="2152893"/>
          </a:xfrm>
        </p:spPr>
        <p:txBody>
          <a:bodyPr>
            <a:noAutofit/>
          </a:bodyPr>
          <a:lstStyle/>
          <a:p>
            <a:r>
              <a:rPr lang="en-US" altLang="zh-CN" sz="3200" b="1" dirty="0" err="1"/>
              <a:t>Qiaopi</a:t>
            </a:r>
            <a:r>
              <a:rPr lang="en-US" altLang="zh-CN" sz="3200" b="1" dirty="0"/>
              <a:t> Bridge: Architectural Exchange and Economic Connection between </a:t>
            </a:r>
            <a:r>
              <a:rPr lang="en-US" altLang="zh-CN" sz="3200" b="1" dirty="0" err="1"/>
              <a:t>Chaoshan</a:t>
            </a:r>
            <a:r>
              <a:rPr lang="en-US" altLang="zh-CN" sz="3200" b="1" dirty="0"/>
              <a:t> and Nanyang in Modern China</a:t>
            </a:r>
            <a:br>
              <a:rPr lang="en-US" altLang="zh-CN" sz="3200" b="1" dirty="0"/>
            </a:br>
            <a:br>
              <a:rPr lang="en-US" altLang="zh-CN" sz="3200" dirty="0"/>
            </a:br>
            <a:r>
              <a:rPr lang="en-US" altLang="zh-CN" sz="3200" b="1" dirty="0"/>
              <a:t>AI Visual Work: Connecting Two Architectural Worlds through </a:t>
            </a:r>
            <a:r>
              <a:rPr lang="en-US" altLang="zh-CN" sz="3200" b="1" dirty="0" err="1"/>
              <a:t>Qiaopi</a:t>
            </a:r>
            <a:br>
              <a:rPr lang="en-US" altLang="zh-CN" sz="2800" dirty="0"/>
            </a:br>
            <a:r>
              <a:rPr kumimoji="1" lang="en-US" altLang="zh-CN" sz="2000" dirty="0"/>
              <a:t>AI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tool</a:t>
            </a:r>
            <a:r>
              <a:rPr kumimoji="1" lang="zh-CN" altLang="en-US" sz="2000" dirty="0"/>
              <a:t>：</a:t>
            </a:r>
            <a:r>
              <a:rPr kumimoji="1" lang="en-US" altLang="zh-CN" sz="2000" dirty="0"/>
              <a:t>Image2</a:t>
            </a:r>
            <a:r>
              <a:rPr kumimoji="1" lang="zh-CN" altLang="en-US" sz="2000" dirty="0"/>
              <a:t>，</a:t>
            </a:r>
            <a:r>
              <a:rPr kumimoji="1" lang="en-US" altLang="zh-CN" sz="2000" dirty="0" err="1"/>
              <a:t>Dify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Marble</a:t>
            </a:r>
            <a:br>
              <a:rPr kumimoji="1" lang="zh-CN" altLang="en-US" sz="2800" dirty="0"/>
            </a:br>
            <a:br>
              <a:rPr lang="en-US" altLang="zh-CN" sz="2800" b="1" dirty="0"/>
            </a:br>
            <a:endParaRPr kumimoji="1" lang="zh-CN" altLang="en-US" sz="2800" dirty="0"/>
          </a:p>
        </p:txBody>
      </p:sp>
      <p:pic>
        <p:nvPicPr>
          <p:cNvPr id="5" name="图片 4" descr="街道上的建筑&#10;&#10;AI 生成的内容可能不正确。">
            <a:extLst>
              <a:ext uri="{FF2B5EF4-FFF2-40B4-BE49-F238E27FC236}">
                <a16:creationId xmlns:a16="http://schemas.microsoft.com/office/drawing/2014/main" id="{AA9F269B-F9E9-51C1-ABE2-1ACD7CE3C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447" y="2815101"/>
            <a:ext cx="4120240" cy="2242860"/>
          </a:xfrm>
          <a:prstGeom prst="rect">
            <a:avLst/>
          </a:prstGeom>
        </p:spPr>
      </p:pic>
      <p:pic>
        <p:nvPicPr>
          <p:cNvPr id="7" name="图片 6" descr="路旁的建筑&#10;&#10;AI 生成的内容可能不正确。">
            <a:extLst>
              <a:ext uri="{FF2B5EF4-FFF2-40B4-BE49-F238E27FC236}">
                <a16:creationId xmlns:a16="http://schemas.microsoft.com/office/drawing/2014/main" id="{F3CA12C6-C029-949B-2E11-70F001C01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90" y="2815101"/>
            <a:ext cx="4210022" cy="224285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2301BD4-032D-2DE0-693B-ED1ED7D95F0F}"/>
              </a:ext>
            </a:extLst>
          </p:cNvPr>
          <p:cNvSpPr txBox="1"/>
          <p:nvPr/>
        </p:nvSpPr>
        <p:spPr>
          <a:xfrm>
            <a:off x="3183794" y="2271054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/>
              <a:t>Economic Civilization × Architectural Civilization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7ECF46E-228F-C003-0109-03A779C54B10}"/>
              </a:ext>
            </a:extLst>
          </p:cNvPr>
          <p:cNvSpPr txBox="1"/>
          <p:nvPr/>
        </p:nvSpPr>
        <p:spPr>
          <a:xfrm>
            <a:off x="8794775" y="5203184"/>
            <a:ext cx="280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AI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Chaoshan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World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578B29-2948-F611-EBDC-1BAA8E46039D}"/>
              </a:ext>
            </a:extLst>
          </p:cNvPr>
          <p:cNvSpPr txBox="1"/>
          <p:nvPr/>
        </p:nvSpPr>
        <p:spPr>
          <a:xfrm>
            <a:off x="672073" y="5203184"/>
            <a:ext cx="2452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Nanyang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world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E49CDEB-0EBF-8393-A239-F9D4BE04654D}"/>
              </a:ext>
            </a:extLst>
          </p:cNvPr>
          <p:cNvSpPr txBox="1"/>
          <p:nvPr/>
        </p:nvSpPr>
        <p:spPr>
          <a:xfrm>
            <a:off x="5150734" y="6292731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Ai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Qiaopi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Generator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E2D4FF-07C0-0E7D-D67B-E6F1BAB950B6}"/>
              </a:ext>
            </a:extLst>
          </p:cNvPr>
          <p:cNvSpPr txBox="1"/>
          <p:nvPr/>
        </p:nvSpPr>
        <p:spPr>
          <a:xfrm>
            <a:off x="9283652" y="6292731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Weitong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Li</a:t>
            </a:r>
            <a:r>
              <a:rPr lang="zh-CN" altLang="en-US" sz="1800" b="1" dirty="0"/>
              <a:t>   </a:t>
            </a:r>
            <a:r>
              <a:rPr lang="en-US" altLang="zh-CN" sz="1800" b="1" dirty="0"/>
              <a:t>2330034028</a:t>
            </a:r>
            <a:endParaRPr lang="zh-CN" altLang="en-US" dirty="0"/>
          </a:p>
        </p:txBody>
      </p:sp>
      <p:pic>
        <p:nvPicPr>
          <p:cNvPr id="22" name="图片 21" descr="文本, 信件&#10;&#10;AI 生成的内容可能不正确。">
            <a:extLst>
              <a:ext uri="{FF2B5EF4-FFF2-40B4-BE49-F238E27FC236}">
                <a16:creationId xmlns:a16="http://schemas.microsoft.com/office/drawing/2014/main" id="{072422CE-134A-1751-60E1-70BCA5B42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192" y="4103219"/>
            <a:ext cx="3511374" cy="219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46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7B68A-E29D-75F7-D168-BB893DB46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街道上的建筑&#10;&#10;AI 生成的内容可能不正确。">
            <a:extLst>
              <a:ext uri="{FF2B5EF4-FFF2-40B4-BE49-F238E27FC236}">
                <a16:creationId xmlns:a16="http://schemas.microsoft.com/office/drawing/2014/main" id="{287BB708-EEDF-5F6D-AA5D-B27B728C4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0" y="2781536"/>
            <a:ext cx="4120240" cy="2242860"/>
          </a:xfrm>
          <a:prstGeom prst="rect">
            <a:avLst/>
          </a:prstGeom>
        </p:spPr>
      </p:pic>
      <p:pic>
        <p:nvPicPr>
          <p:cNvPr id="7" name="图片 6" descr="路旁的建筑&#10;&#10;AI 生成的内容可能不正确。">
            <a:extLst>
              <a:ext uri="{FF2B5EF4-FFF2-40B4-BE49-F238E27FC236}">
                <a16:creationId xmlns:a16="http://schemas.microsoft.com/office/drawing/2014/main" id="{FC23E0B5-3ED2-E6B7-0C9B-2C1657E68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" y="2771660"/>
            <a:ext cx="4210022" cy="224285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746218B-3B81-5E48-6A23-4781995EBB54}"/>
              </a:ext>
            </a:extLst>
          </p:cNvPr>
          <p:cNvSpPr txBox="1"/>
          <p:nvPr/>
        </p:nvSpPr>
        <p:spPr>
          <a:xfrm>
            <a:off x="8815206" y="5104565"/>
            <a:ext cx="280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AI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Chaoshan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World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8694AF-FD3C-A9A4-7675-80B2779C95AC}"/>
              </a:ext>
            </a:extLst>
          </p:cNvPr>
          <p:cNvSpPr txBox="1"/>
          <p:nvPr/>
        </p:nvSpPr>
        <p:spPr>
          <a:xfrm>
            <a:off x="718694" y="5084110"/>
            <a:ext cx="2658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AI</a:t>
            </a:r>
            <a:r>
              <a:rPr kumimoji="1" lang="zh-CN" altLang="en-US" dirty="0"/>
              <a:t> </a:t>
            </a:r>
            <a:r>
              <a:rPr kumimoji="1" lang="en-US" altLang="zh-CN" dirty="0"/>
              <a:t>Nanyang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world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AC92EB6-D1FD-9C69-9AD5-343573B79B01}"/>
              </a:ext>
            </a:extLst>
          </p:cNvPr>
          <p:cNvSpPr txBox="1"/>
          <p:nvPr/>
        </p:nvSpPr>
        <p:spPr>
          <a:xfrm>
            <a:off x="5150734" y="6292731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Ai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Qiaopi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Generator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36AF42-4668-822C-35F2-F9986959F275}"/>
              </a:ext>
            </a:extLst>
          </p:cNvPr>
          <p:cNvSpPr txBox="1"/>
          <p:nvPr/>
        </p:nvSpPr>
        <p:spPr>
          <a:xfrm>
            <a:off x="9283652" y="6292731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Weitong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Li</a:t>
            </a:r>
            <a:r>
              <a:rPr lang="zh-CN" altLang="en-US" sz="1800" b="1" dirty="0"/>
              <a:t>   </a:t>
            </a:r>
            <a:r>
              <a:rPr lang="en-US" altLang="zh-CN" sz="1800" b="1" dirty="0"/>
              <a:t>2330034028</a:t>
            </a: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18CDA587-FFDF-0B08-64E3-6CA260401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989" y="-120544"/>
            <a:ext cx="10286610" cy="1047771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1. The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ai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visual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work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overview and demo</a:t>
            </a:r>
            <a:r>
              <a:rPr lang="zh-CN" altLang="en-US" sz="3200" b="1" dirty="0"/>
              <a:t> 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044D26-BB73-B125-5B14-E1A27F9A7124}"/>
              </a:ext>
            </a:extLst>
          </p:cNvPr>
          <p:cNvSpPr txBox="1"/>
          <p:nvPr/>
        </p:nvSpPr>
        <p:spPr>
          <a:xfrm>
            <a:off x="1411965" y="1083719"/>
            <a:ext cx="100219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AI Visual Work: An AI system Connecting Two Architectural Worlds through </a:t>
            </a:r>
            <a:r>
              <a:rPr lang="en-US" altLang="zh-CN" sz="2000" b="1" dirty="0" err="1"/>
              <a:t>Qiaopi</a:t>
            </a:r>
            <a:endParaRPr lang="en-US" altLang="zh-CN" sz="2000" b="1" dirty="0"/>
          </a:p>
          <a:p>
            <a:endParaRPr lang="zh-CN" altLang="en-US" sz="2000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34DC67E-C89D-EDDE-AE9D-F0324EF51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270" y="1963405"/>
            <a:ext cx="106965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Visual Structure:</a:t>
            </a:r>
            <a:r>
              <a:rPr lang="zh-CN" altLang="en-US" dirty="0">
                <a:latin typeface="Arial" panose="020B0604020202020204" pitchFamily="34" charset="0"/>
              </a:rPr>
              <a:t>  </a:t>
            </a:r>
            <a:r>
              <a:rPr kumimoji="1" lang="en-US" altLang="zh-CN" dirty="0"/>
              <a:t>Nanyang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world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 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1" lang="en-US" altLang="zh-CN" dirty="0"/>
              <a:t>Ai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Qiaopi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Generator 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1" lang="en-US" altLang="zh-CN" dirty="0"/>
              <a:t>AI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Chaoshan</a:t>
            </a:r>
            <a:r>
              <a:rPr kumimoji="1" lang="zh-CN" altLang="en-US" dirty="0"/>
              <a:t> </a:t>
            </a:r>
            <a:r>
              <a:rPr kumimoji="1" lang="en-US" altLang="zh-CN" dirty="0"/>
              <a:t>World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endParaRPr kumimoji="1" lang="zh-CN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CAE5E6-DE9B-E7D8-96F3-0DAD76DB52E2}"/>
              </a:ext>
            </a:extLst>
          </p:cNvPr>
          <p:cNvSpPr txBox="1"/>
          <p:nvPr/>
        </p:nvSpPr>
        <p:spPr>
          <a:xfrm>
            <a:off x="8494404" y="2332737"/>
            <a:ext cx="2800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rgbClr val="FF0000"/>
                </a:solidFill>
              </a:rPr>
              <a:t>By Image2</a:t>
            </a:r>
            <a:r>
              <a:rPr kumimoji="1" lang="en-US" altLang="zh-CN" dirty="0">
                <a:solidFill>
                  <a:srgbClr val="FF0000"/>
                </a:solidFill>
              </a:rPr>
              <a:t>, </a:t>
            </a:r>
            <a:r>
              <a:rPr kumimoji="1" lang="en-US" altLang="zh-CN" sz="1800" dirty="0">
                <a:solidFill>
                  <a:srgbClr val="FF0000"/>
                </a:solidFill>
              </a:rPr>
              <a:t>Marble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A56820B-025F-B519-C8D7-4F6990F32E8F}"/>
              </a:ext>
            </a:extLst>
          </p:cNvPr>
          <p:cNvSpPr txBox="1"/>
          <p:nvPr/>
        </p:nvSpPr>
        <p:spPr>
          <a:xfrm>
            <a:off x="3244532" y="2305732"/>
            <a:ext cx="2424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rgbClr val="FF0000"/>
                </a:solidFill>
              </a:rPr>
              <a:t>By</a:t>
            </a:r>
            <a:r>
              <a:rPr kumimoji="1" lang="zh-CN" altLang="en-US" sz="1800" dirty="0">
                <a:solidFill>
                  <a:srgbClr val="FF0000"/>
                </a:solidFill>
              </a:rPr>
              <a:t> </a:t>
            </a:r>
            <a:r>
              <a:rPr kumimoji="1" lang="en-US" altLang="zh-CN" sz="1800" dirty="0">
                <a:solidFill>
                  <a:srgbClr val="FF0000"/>
                </a:solidFill>
              </a:rPr>
              <a:t>Image2, Marble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E37FB6-C463-868F-EF94-BE7315F26D8F}"/>
              </a:ext>
            </a:extLst>
          </p:cNvPr>
          <p:cNvSpPr txBox="1"/>
          <p:nvPr/>
        </p:nvSpPr>
        <p:spPr>
          <a:xfrm>
            <a:off x="6523012" y="2332737"/>
            <a:ext cx="1249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solidFill>
                  <a:srgbClr val="FF0000"/>
                </a:solidFill>
              </a:rPr>
              <a:t>By </a:t>
            </a:r>
            <a:r>
              <a:rPr kumimoji="1" lang="en-US" altLang="zh-CN" sz="1800" dirty="0" err="1">
                <a:solidFill>
                  <a:srgbClr val="FF0000"/>
                </a:solidFill>
              </a:rPr>
              <a:t>Dify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2" name="图片 21" descr="文本, 信件&#10;&#10;AI 生成的内容可能不正确。">
            <a:extLst>
              <a:ext uri="{FF2B5EF4-FFF2-40B4-BE49-F238E27FC236}">
                <a16:creationId xmlns:a16="http://schemas.microsoft.com/office/drawing/2014/main" id="{75BE2EDB-6122-76DC-9320-213E950D5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313" y="4092802"/>
            <a:ext cx="3511374" cy="219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6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8354C-DB74-3F5F-0738-4D2F9E14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4F2CF5-FF55-2A5F-B411-DBF601EE4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03" y="-35832"/>
            <a:ext cx="11425661" cy="1325563"/>
          </a:xfrm>
        </p:spPr>
        <p:txBody>
          <a:bodyPr>
            <a:normAutofit/>
          </a:bodyPr>
          <a:lstStyle/>
          <a:p>
            <a:r>
              <a:rPr kumimoji="1" lang="en-US" altLang="zh-CN" sz="3200" b="1" dirty="0"/>
              <a:t>2.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 err="1"/>
              <a:t>Similartity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Between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Nanyang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/>
              <a:t>and</a:t>
            </a:r>
            <a:r>
              <a:rPr kumimoji="1" lang="zh-CN" altLang="en-US" sz="3200" b="1" dirty="0"/>
              <a:t> </a:t>
            </a:r>
            <a:r>
              <a:rPr kumimoji="1" lang="en-US" altLang="zh-CN" sz="3200" b="1" dirty="0" err="1"/>
              <a:t>Chaoshan</a:t>
            </a:r>
            <a:r>
              <a:rPr lang="en-US" altLang="zh-CN" sz="3200" b="1" dirty="0"/>
              <a:t> Architectural </a:t>
            </a:r>
            <a:endParaRPr kumimoji="1" lang="zh-CN" altLang="en-US" sz="3200" b="1" dirty="0"/>
          </a:p>
        </p:txBody>
      </p:sp>
      <p:pic>
        <p:nvPicPr>
          <p:cNvPr id="4" name="图片 3" descr="街道边的建筑&#10;&#10;AI 生成的内容可能不正确。">
            <a:extLst>
              <a:ext uri="{FF2B5EF4-FFF2-40B4-BE49-F238E27FC236}">
                <a16:creationId xmlns:a16="http://schemas.microsoft.com/office/drawing/2014/main" id="{7DC8E8EA-BCCC-32F2-747E-77C865A9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49" y="3010968"/>
            <a:ext cx="5185591" cy="3461550"/>
          </a:xfrm>
          <a:prstGeom prst="rect">
            <a:avLst/>
          </a:prstGeom>
        </p:spPr>
      </p:pic>
      <p:pic>
        <p:nvPicPr>
          <p:cNvPr id="7" name="图片 6" descr="路旁的建筑&#10;&#10;AI 生成的内容可能不正确。">
            <a:extLst>
              <a:ext uri="{FF2B5EF4-FFF2-40B4-BE49-F238E27FC236}">
                <a16:creationId xmlns:a16="http://schemas.microsoft.com/office/drawing/2014/main" id="{378ED869-7BDB-8EE6-845A-E04D17B9E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733" y="2981922"/>
            <a:ext cx="5322723" cy="34905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36A0AEE-EF57-067A-7869-5CC955408B50}"/>
              </a:ext>
            </a:extLst>
          </p:cNvPr>
          <p:cNvSpPr txBox="1"/>
          <p:nvPr/>
        </p:nvSpPr>
        <p:spPr>
          <a:xfrm>
            <a:off x="1559860" y="6488668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Fig. </a:t>
            </a:r>
            <a:r>
              <a:rPr kumimoji="1" lang="en-US" altLang="zh-CN" dirty="0" err="1"/>
              <a:t>Chaoshan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qilou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59ADAB-A317-4F72-FCBC-91708873B1B3}"/>
              </a:ext>
            </a:extLst>
          </p:cNvPr>
          <p:cNvSpPr txBox="1"/>
          <p:nvPr/>
        </p:nvSpPr>
        <p:spPr>
          <a:xfrm>
            <a:off x="8104061" y="6472518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Fig. Nanyang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qilou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BBD6B6-2A95-9E60-B403-0DC48F25E82B}"/>
              </a:ext>
            </a:extLst>
          </p:cNvPr>
          <p:cNvSpPr txBox="1"/>
          <p:nvPr/>
        </p:nvSpPr>
        <p:spPr>
          <a:xfrm>
            <a:off x="622903" y="1066712"/>
            <a:ext cx="1080550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/>
              <a:t>Same Street Function</a:t>
            </a:r>
          </a:p>
          <a:p>
            <a:pPr>
              <a:buNone/>
            </a:pPr>
            <a:r>
              <a:rPr lang="en-US" altLang="zh-CN" dirty="0"/>
              <a:t>Both have covered walkways and shops on the first floor, so people can walk, stop, and buy things easily.</a:t>
            </a:r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sz="2400" b="1" dirty="0"/>
              <a:t>Same Commercial Look</a:t>
            </a:r>
          </a:p>
          <a:p>
            <a:pPr>
              <a:buNone/>
            </a:pPr>
            <a:r>
              <a:rPr lang="en-US" altLang="zh-CN" dirty="0"/>
              <a:t>Both use upper floors, balconies, shop signs, and building</a:t>
            </a:r>
            <a:r>
              <a:rPr lang="zh-CN" altLang="en-US" dirty="0"/>
              <a:t> </a:t>
            </a:r>
            <a:r>
              <a:rPr lang="en-US" altLang="zh-CN" dirty="0"/>
              <a:t>long street  to create a busy shopping street.</a:t>
            </a:r>
          </a:p>
        </p:txBody>
      </p:sp>
    </p:spTree>
    <p:extLst>
      <p:ext uri="{BB962C8B-B14F-4D97-AF65-F5344CB8AC3E}">
        <p14:creationId xmlns:p14="http://schemas.microsoft.com/office/powerpoint/2010/main" val="417956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32D33-A6E8-D919-A0D0-43822A12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857" y="-18965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3200" dirty="0"/>
              <a:t>3.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Why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use image2, marble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and</a:t>
            </a:r>
            <a:r>
              <a:rPr kumimoji="1" lang="zh-CN" altLang="en-US" sz="3200" dirty="0"/>
              <a:t> </a:t>
            </a:r>
            <a:r>
              <a:rPr kumimoji="1" lang="en-US" altLang="zh-CN" sz="3200" dirty="0" err="1"/>
              <a:t>Dify</a:t>
            </a:r>
            <a:r>
              <a:rPr kumimoji="1" lang="zh-CN" altLang="en-US" sz="3200" dirty="0"/>
              <a:t> ？？？</a:t>
            </a:r>
          </a:p>
        </p:txBody>
      </p:sp>
      <p:pic>
        <p:nvPicPr>
          <p:cNvPr id="5" name="图片 4" descr="图形用户界面, 文本&#10;&#10;AI 生成的内容可能不正确。">
            <a:extLst>
              <a:ext uri="{FF2B5EF4-FFF2-40B4-BE49-F238E27FC236}">
                <a16:creationId xmlns:a16="http://schemas.microsoft.com/office/drawing/2014/main" id="{BD72CC19-05A8-AE2E-EA88-56C5FDF34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77" y="4085549"/>
            <a:ext cx="7373257" cy="243523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3C97C87-E684-2803-4757-CD84F78A2AD7}"/>
              </a:ext>
            </a:extLst>
          </p:cNvPr>
          <p:cNvSpPr txBox="1"/>
          <p:nvPr/>
        </p:nvSpPr>
        <p:spPr>
          <a:xfrm>
            <a:off x="500743" y="626950"/>
            <a:ext cx="10336163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/>
              <a:t>Image2</a:t>
            </a:r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it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one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newest</a:t>
            </a:r>
            <a:r>
              <a:rPr lang="zh-CN" altLang="en-US" sz="2000" dirty="0"/>
              <a:t> </a:t>
            </a:r>
            <a:r>
              <a:rPr lang="en-US" altLang="zh-CN" sz="2000" dirty="0"/>
              <a:t>image</a:t>
            </a:r>
            <a:r>
              <a:rPr lang="zh-CN" altLang="en-US" sz="2000" dirty="0"/>
              <a:t> </a:t>
            </a:r>
            <a:r>
              <a:rPr lang="en-US" altLang="zh-CN" sz="2000" dirty="0"/>
              <a:t>generator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world</a:t>
            </a:r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Convert photos into 3d</a:t>
            </a:r>
            <a:r>
              <a:rPr lang="zh-CN" altLang="en-US" sz="2000" dirty="0"/>
              <a:t> </a:t>
            </a:r>
            <a:r>
              <a:rPr lang="en-US" altLang="zh-CN" sz="2000" dirty="0"/>
              <a:t>image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Marble visual inputs and</a:t>
            </a:r>
            <a:r>
              <a:rPr lang="zh-CN" altLang="en-US" sz="2000" dirty="0"/>
              <a:t> </a:t>
            </a:r>
            <a:r>
              <a:rPr lang="en-US" altLang="zh-CN" sz="2000" dirty="0"/>
              <a:t>improve architectural details</a:t>
            </a:r>
          </a:p>
          <a:p>
            <a:endParaRPr lang="en-US" altLang="zh-CN" sz="2000" dirty="0"/>
          </a:p>
          <a:p>
            <a:pPr>
              <a:buNone/>
            </a:pPr>
            <a:r>
              <a:rPr lang="en-US" altLang="zh-CN" sz="2400" b="1" dirty="0"/>
              <a:t>Marble</a:t>
            </a:r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it</a:t>
            </a:r>
            <a:r>
              <a:rPr lang="zh-CN" altLang="en-US" sz="2000" dirty="0"/>
              <a:t> </a:t>
            </a:r>
            <a:r>
              <a:rPr lang="en-US" altLang="zh-CN" sz="2000" dirty="0"/>
              <a:t>is</a:t>
            </a:r>
            <a:r>
              <a:rPr lang="zh-CN" altLang="en-US" sz="2000" dirty="0"/>
              <a:t> </a:t>
            </a:r>
            <a:r>
              <a:rPr lang="en-US" altLang="zh-CN" sz="2000" dirty="0"/>
              <a:t>also</a:t>
            </a:r>
            <a:r>
              <a:rPr lang="zh-CN" altLang="en-US" sz="2000" dirty="0"/>
              <a:t> </a:t>
            </a:r>
            <a:r>
              <a:rPr lang="en-US" altLang="zh-CN" sz="2000" dirty="0"/>
              <a:t>one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best</a:t>
            </a:r>
            <a:r>
              <a:rPr lang="zh-CN" altLang="en-US" sz="2000" dirty="0"/>
              <a:t> </a:t>
            </a:r>
            <a:r>
              <a:rPr lang="en-US" altLang="zh-CN" sz="2000" dirty="0"/>
              <a:t>world</a:t>
            </a:r>
            <a:r>
              <a:rPr lang="zh-CN" altLang="en-US" sz="2000" dirty="0"/>
              <a:t> </a:t>
            </a:r>
            <a:r>
              <a:rPr lang="en-US" altLang="zh-CN" sz="2000" dirty="0"/>
              <a:t>model</a:t>
            </a:r>
            <a:r>
              <a:rPr lang="zh-CN" altLang="en-US" sz="2000" dirty="0"/>
              <a:t> </a:t>
            </a:r>
            <a:r>
              <a:rPr lang="en-US" altLang="zh-CN" sz="2000" dirty="0"/>
              <a:t>by</a:t>
            </a:r>
            <a:r>
              <a:rPr lang="zh-CN" altLang="en-US" sz="2000" dirty="0"/>
              <a:t> </a:t>
            </a:r>
            <a:r>
              <a:rPr lang="en-US" altLang="zh-CN" sz="2000" dirty="0"/>
              <a:t>LI</a:t>
            </a:r>
            <a:r>
              <a:rPr lang="zh-CN" altLang="en-US" sz="2000" dirty="0"/>
              <a:t> </a:t>
            </a:r>
            <a:r>
              <a:rPr lang="en-US" altLang="zh-CN" sz="2000" dirty="0" err="1"/>
              <a:t>Feifei</a:t>
            </a:r>
            <a:endParaRPr lang="en-US" altLang="zh-CN" sz="2000" dirty="0"/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Visualize </a:t>
            </a:r>
            <a:r>
              <a:rPr lang="en-US" altLang="zh-CN" sz="2000" dirty="0" err="1"/>
              <a:t>Chaoshan</a:t>
            </a:r>
            <a:r>
              <a:rPr lang="en-US" altLang="zh-CN" sz="2000" dirty="0"/>
              <a:t> and Southeast Asian architecture create walkable 3D spaces </a:t>
            </a:r>
          </a:p>
          <a:p>
            <a:r>
              <a:rPr lang="zh-CN" altLang="en-US" sz="2000" dirty="0"/>
              <a:t>  </a:t>
            </a:r>
            <a:endParaRPr lang="en-US" altLang="zh-CN" sz="2000" dirty="0"/>
          </a:p>
          <a:p>
            <a:pPr>
              <a:buNone/>
            </a:pPr>
            <a:r>
              <a:rPr lang="en-US" altLang="zh-CN" sz="2400" b="1" dirty="0" err="1"/>
              <a:t>Dify</a:t>
            </a:r>
            <a:r>
              <a:rPr lang="en-US" altLang="zh-CN" sz="2400" b="1" dirty="0"/>
              <a:t> + Alibaba Multimodal AI</a:t>
            </a:r>
          </a:p>
          <a:p>
            <a:r>
              <a:rPr lang="zh-CN" altLang="en-US" sz="2000" dirty="0"/>
              <a:t>    </a:t>
            </a:r>
            <a:r>
              <a:rPr lang="en-US" altLang="zh-CN" sz="2000" dirty="0"/>
              <a:t>Build a </a:t>
            </a:r>
            <a:r>
              <a:rPr lang="en-US" altLang="zh-CN" sz="2000" dirty="0" err="1"/>
              <a:t>Qiaopi</a:t>
            </a:r>
            <a:r>
              <a:rPr lang="en-US" altLang="zh-CN" sz="2000" dirty="0"/>
              <a:t> Generator workflow</a:t>
            </a:r>
            <a:r>
              <a:rPr lang="zh-CN" altLang="en-US" sz="2000" dirty="0"/>
              <a:t> </a:t>
            </a:r>
            <a:r>
              <a:rPr lang="en-US" altLang="zh-CN" sz="2000" dirty="0"/>
              <a:t>that</a:t>
            </a:r>
            <a:r>
              <a:rPr lang="zh-CN" altLang="en-US" sz="2000" dirty="0"/>
              <a:t> </a:t>
            </a:r>
            <a:r>
              <a:rPr lang="en-US" altLang="zh-CN" sz="2000" dirty="0"/>
              <a:t>turn user input into visual output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D080C3-9BB3-511B-7D9C-A7EF952056EA}"/>
              </a:ext>
            </a:extLst>
          </p:cNvPr>
          <p:cNvSpPr txBox="1"/>
          <p:nvPr/>
        </p:nvSpPr>
        <p:spPr>
          <a:xfrm>
            <a:off x="3261755" y="6494472"/>
            <a:ext cx="481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U</a:t>
            </a:r>
            <a:r>
              <a:rPr lang="en-US" altLang="zh-CN" dirty="0"/>
              <a:t>ser-customized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Qiaopi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Dify</a:t>
            </a:r>
            <a:endParaRPr kumimoji="1"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09AD80E-ADDD-734C-6AA3-AAF0504E4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939" y="4085548"/>
            <a:ext cx="3890518" cy="243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8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3D0EB-7225-8DF4-923B-C770D69EC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B48C8-B300-4468-8ABC-5F507623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b="1" dirty="0"/>
              <a:t>4.Why choose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Modern China, late 17th century–1945 </a:t>
            </a:r>
            <a:r>
              <a:rPr kumimoji="1" lang="zh-CN" altLang="en-US" sz="3200" b="1" dirty="0"/>
              <a:t>？？？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7A6E29-D1DD-2984-CF4D-1F0E30A68FD2}"/>
              </a:ext>
            </a:extLst>
          </p:cNvPr>
          <p:cNvSpPr txBox="1"/>
          <p:nvPr/>
        </p:nvSpPr>
        <p:spPr>
          <a:xfrm>
            <a:off x="9283652" y="6292731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Weitong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Li</a:t>
            </a:r>
            <a:r>
              <a:rPr lang="zh-CN" altLang="en-US" sz="1800" b="1" dirty="0"/>
              <a:t>   </a:t>
            </a:r>
            <a:r>
              <a:rPr lang="en-US" altLang="zh-CN" sz="1800" b="1" dirty="0"/>
              <a:t>2330034028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6BFE85-3024-122C-53A4-7D95709F0A49}"/>
              </a:ext>
            </a:extLst>
          </p:cNvPr>
          <p:cNvSpPr txBox="1"/>
          <p:nvPr/>
        </p:nvSpPr>
        <p:spPr>
          <a:xfrm>
            <a:off x="838200" y="1095687"/>
            <a:ext cx="903194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This Period Connected </a:t>
            </a:r>
            <a:r>
              <a:rPr lang="en-US" altLang="zh-CN" sz="2400" b="1" dirty="0" err="1"/>
              <a:t>Chaoshan</a:t>
            </a:r>
            <a:r>
              <a:rPr lang="en-US" altLang="zh-CN" sz="2400" b="1" dirty="0"/>
              <a:t> and Nanyang</a:t>
            </a:r>
          </a:p>
          <a:p>
            <a:r>
              <a:rPr lang="zh-CN" altLang="en-US" dirty="0"/>
              <a:t>      </a:t>
            </a:r>
            <a:r>
              <a:rPr lang="en-US" altLang="zh-CN" dirty="0"/>
              <a:t>Many </a:t>
            </a:r>
            <a:r>
              <a:rPr lang="en-US" altLang="zh-CN" dirty="0" err="1"/>
              <a:t>Chaoshan</a:t>
            </a:r>
            <a:r>
              <a:rPr lang="en-US" altLang="zh-CN" dirty="0"/>
              <a:t> people went to Nanyang for work and business.</a:t>
            </a:r>
            <a:br>
              <a:rPr lang="en-US" altLang="zh-CN" dirty="0"/>
            </a:br>
            <a:r>
              <a:rPr lang="zh-CN" altLang="en-US" dirty="0"/>
              <a:t>      </a:t>
            </a:r>
            <a:r>
              <a:rPr lang="en-US" altLang="zh-CN" dirty="0"/>
              <a:t>They helped Nanyang’s economy and supported </a:t>
            </a:r>
            <a:r>
              <a:rPr lang="en-US" altLang="zh-CN" dirty="0" err="1"/>
              <a:t>Chaoshan</a:t>
            </a:r>
            <a:r>
              <a:rPr lang="en-US" altLang="zh-CN" dirty="0"/>
              <a:t> through </a:t>
            </a:r>
            <a:r>
              <a:rPr lang="en-US" altLang="zh-CN" dirty="0" err="1"/>
              <a:t>qiaopi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sz="2400" b="1" dirty="0"/>
              <a:t>This Period Brought </a:t>
            </a:r>
            <a:r>
              <a:rPr lang="en-US" altLang="zh-CN" sz="2400" b="1" dirty="0" err="1"/>
              <a:t>Qilou</a:t>
            </a:r>
            <a:r>
              <a:rPr lang="en-US" altLang="zh-CN" sz="2400" b="1" dirty="0"/>
              <a:t> Ideas Back</a:t>
            </a:r>
          </a:p>
          <a:p>
            <a:r>
              <a:rPr lang="zh-CN" altLang="en-US" dirty="0"/>
              <a:t>      </a:t>
            </a:r>
            <a:r>
              <a:rPr lang="en-US" altLang="zh-CN" dirty="0"/>
              <a:t>Economic and cultural exchange brought Nanyang-style </a:t>
            </a:r>
            <a:r>
              <a:rPr lang="en-US" altLang="zh-CN" dirty="0" err="1"/>
              <a:t>qilou</a:t>
            </a:r>
            <a:r>
              <a:rPr lang="en-US" altLang="zh-CN" dirty="0"/>
              <a:t> ideas back to </a:t>
            </a:r>
            <a:r>
              <a:rPr lang="en-US" altLang="zh-CN" dirty="0" err="1"/>
              <a:t>Chaoshan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zh-CN" altLang="en-US" dirty="0"/>
              <a:t>      </a:t>
            </a:r>
            <a:r>
              <a:rPr lang="en-US" altLang="zh-CN" dirty="0"/>
              <a:t>These ideas shaped </a:t>
            </a:r>
            <a:r>
              <a:rPr lang="en-US" altLang="zh-CN" dirty="0" err="1"/>
              <a:t>Chaoshan</a:t>
            </a:r>
            <a:r>
              <a:rPr lang="en-US" altLang="zh-CN" dirty="0"/>
              <a:t> commercial streets and later became local heritage.</a:t>
            </a:r>
          </a:p>
        </p:txBody>
      </p:sp>
      <p:pic>
        <p:nvPicPr>
          <p:cNvPr id="10" name="图片 9" descr="许多人站在一起&#10;&#10;AI 生成的内容可能不正确。">
            <a:extLst>
              <a:ext uri="{FF2B5EF4-FFF2-40B4-BE49-F238E27FC236}">
                <a16:creationId xmlns:a16="http://schemas.microsoft.com/office/drawing/2014/main" id="{79DC6B43-7E89-6E50-E2D5-14A270F30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672" y="3398162"/>
            <a:ext cx="6099858" cy="290242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CB22795-A5BD-04FC-51B4-8ECBC63BA46E}"/>
              </a:ext>
            </a:extLst>
          </p:cNvPr>
          <p:cNvSpPr txBox="1"/>
          <p:nvPr/>
        </p:nvSpPr>
        <p:spPr>
          <a:xfrm>
            <a:off x="2982093" y="6387074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Fig. </a:t>
            </a:r>
            <a:r>
              <a:rPr kumimoji="1" lang="en-US" altLang="zh-CN" dirty="0" err="1"/>
              <a:t>Chaoshan</a:t>
            </a:r>
            <a:r>
              <a:rPr kumimoji="1" lang="zh-CN" altLang="en-US" dirty="0"/>
              <a:t> </a:t>
            </a:r>
            <a:r>
              <a:rPr kumimoji="1" lang="en-US" altLang="zh-CN" dirty="0"/>
              <a:t>people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go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Nanyang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earning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9028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17A23-63ED-F6EB-5DE6-840BA483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175F852-9844-7887-DE6C-876A744A7623}"/>
              </a:ext>
            </a:extLst>
          </p:cNvPr>
          <p:cNvSpPr txBox="1"/>
          <p:nvPr/>
        </p:nvSpPr>
        <p:spPr>
          <a:xfrm>
            <a:off x="9283652" y="6292731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Weitong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Li</a:t>
            </a:r>
            <a:r>
              <a:rPr lang="zh-CN" altLang="en-US" sz="1800" b="1" dirty="0"/>
              <a:t>   </a:t>
            </a:r>
            <a:r>
              <a:rPr lang="en-US" altLang="zh-CN" sz="1800" b="1" dirty="0"/>
              <a:t>2330034028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568E23-E7C8-7D10-3BC0-5A9FB0D70670}"/>
              </a:ext>
            </a:extLst>
          </p:cNvPr>
          <p:cNvSpPr txBox="1"/>
          <p:nvPr/>
        </p:nvSpPr>
        <p:spPr>
          <a:xfrm>
            <a:off x="156029" y="995328"/>
            <a:ext cx="859181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Local Pressure Pushed People Overseas</a:t>
            </a:r>
          </a:p>
          <a:p>
            <a:r>
              <a:rPr lang="zh-CN" altLang="en-US" dirty="0"/>
              <a:t>       </a:t>
            </a:r>
            <a:r>
              <a:rPr lang="en-US" altLang="zh-CN" dirty="0"/>
              <a:t>Limited land and jobs pushed </a:t>
            </a:r>
            <a:r>
              <a:rPr lang="en-US" altLang="zh-CN" dirty="0" err="1"/>
              <a:t>Chaoshan</a:t>
            </a:r>
            <a:r>
              <a:rPr lang="en-US" altLang="zh-CN" dirty="0"/>
              <a:t> people overseas.</a:t>
            </a:r>
            <a:br>
              <a:rPr lang="en-US" altLang="zh-CN" dirty="0"/>
            </a:br>
            <a:r>
              <a:rPr lang="zh-CN" altLang="en-US" dirty="0"/>
              <a:t>       </a:t>
            </a:r>
            <a:r>
              <a:rPr lang="en-US" altLang="zh-CN" dirty="0"/>
              <a:t>About </a:t>
            </a:r>
            <a:r>
              <a:rPr lang="en-US" altLang="zh-CN" b="1" dirty="0"/>
              <a:t>2.94 million</a:t>
            </a:r>
            <a:r>
              <a:rPr lang="en-US" altLang="zh-CN" dirty="0"/>
              <a:t> went overseas from </a:t>
            </a:r>
            <a:r>
              <a:rPr lang="en-US" altLang="zh-CN" b="1" dirty="0"/>
              <a:t>1864–1911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sz="2400" b="1" dirty="0"/>
              <a:t>Nanyang Offered Better Work</a:t>
            </a:r>
          </a:p>
          <a:p>
            <a:r>
              <a:rPr lang="zh-CN" altLang="en-US" dirty="0"/>
              <a:t>      </a:t>
            </a:r>
            <a:r>
              <a:rPr lang="en-US" altLang="zh-CN" dirty="0"/>
              <a:t>Nanyang ports offered jobs in trade, shops, agriculture, mining, and shipping.</a:t>
            </a:r>
            <a:br>
              <a:rPr lang="en-US" altLang="zh-CN" dirty="0"/>
            </a:br>
            <a:r>
              <a:rPr lang="zh-CN" altLang="en-US" dirty="0"/>
              <a:t>      </a:t>
            </a:r>
            <a:r>
              <a:rPr lang="en-US" altLang="zh-CN" dirty="0"/>
              <a:t>Southeast Asian areas had higher income levels than China.</a:t>
            </a:r>
          </a:p>
          <a:p>
            <a:endParaRPr lang="en-US" altLang="zh-CN" sz="2400" dirty="0"/>
          </a:p>
          <a:p>
            <a:r>
              <a:rPr lang="en-US" altLang="zh-CN" sz="2400" b="1" dirty="0"/>
              <a:t>Teochew Networks Grew in Thailand</a:t>
            </a:r>
          </a:p>
          <a:p>
            <a:r>
              <a:rPr lang="zh-CN" altLang="en-US" dirty="0"/>
              <a:t>       </a:t>
            </a:r>
            <a:r>
              <a:rPr lang="en-US" altLang="zh-CN" dirty="0"/>
              <a:t>Over half of Thai Chinese trace their roots to </a:t>
            </a:r>
            <a:r>
              <a:rPr lang="en-US" altLang="zh-CN" dirty="0" err="1"/>
              <a:t>Chaoshan</a:t>
            </a:r>
            <a:r>
              <a:rPr lang="en-US" altLang="zh-CN" dirty="0"/>
              <a:t> / Teochew areas.</a:t>
            </a:r>
          </a:p>
          <a:p>
            <a:endParaRPr lang="en-US" altLang="zh-CN" dirty="0"/>
          </a:p>
          <a:p>
            <a:r>
              <a:rPr lang="en-US" altLang="zh-CN" sz="2400" b="1" dirty="0" err="1"/>
              <a:t>Qiaopi</a:t>
            </a:r>
            <a:r>
              <a:rPr lang="en-US" altLang="zh-CN" sz="2400" b="1" dirty="0"/>
              <a:t> Sent Money Home</a:t>
            </a:r>
          </a:p>
          <a:p>
            <a:r>
              <a:rPr lang="zh-CN" altLang="en-US" dirty="0"/>
              <a:t>       </a:t>
            </a:r>
            <a:r>
              <a:rPr lang="en-US" altLang="zh-CN" dirty="0" err="1"/>
              <a:t>Qiaopi</a:t>
            </a:r>
            <a:r>
              <a:rPr lang="en-US" altLang="zh-CN" dirty="0"/>
              <a:t> carried money and letters back to families in </a:t>
            </a:r>
            <a:r>
              <a:rPr lang="en-US" altLang="zh-CN" dirty="0" err="1"/>
              <a:t>Chaoshan</a:t>
            </a:r>
            <a:r>
              <a:rPr lang="en-US" altLang="zh-CN" dirty="0"/>
              <a:t>.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1881C71-0226-371C-3210-C9B8A1BED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66" y="-5979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b="1" dirty="0"/>
              <a:t>5. What Happened? Economic Flow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D849364-A8FE-01C2-0A25-121D6988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824" y="2975429"/>
            <a:ext cx="4148147" cy="253262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0BAE5F2-B38C-E04D-974A-1B57676F5191}"/>
              </a:ext>
            </a:extLst>
          </p:cNvPr>
          <p:cNvSpPr txBox="1"/>
          <p:nvPr/>
        </p:nvSpPr>
        <p:spPr>
          <a:xfrm>
            <a:off x="8559073" y="5508056"/>
            <a:ext cx="308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Fig. </a:t>
            </a:r>
            <a:r>
              <a:rPr kumimoji="1" lang="en-US" altLang="zh-CN" dirty="0" err="1"/>
              <a:t>Qiaopi</a:t>
            </a:r>
            <a:r>
              <a:rPr kumimoji="1" lang="en-US" altLang="zh-CN" dirty="0"/>
              <a:t> generated by </a:t>
            </a:r>
            <a:r>
              <a:rPr kumimoji="1" lang="en-US" altLang="zh-CN" dirty="0" err="1"/>
              <a:t>Dify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734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9FE7C-7E05-DB8B-83C2-1C4011DF7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8B828D-C289-6C46-FBFE-06AC949905AF}"/>
              </a:ext>
            </a:extLst>
          </p:cNvPr>
          <p:cNvSpPr txBox="1"/>
          <p:nvPr/>
        </p:nvSpPr>
        <p:spPr>
          <a:xfrm>
            <a:off x="9283652" y="6292731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Weitong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Li</a:t>
            </a:r>
            <a:r>
              <a:rPr lang="zh-CN" altLang="en-US" sz="1800" b="1" dirty="0"/>
              <a:t>   </a:t>
            </a:r>
            <a:r>
              <a:rPr lang="en-US" altLang="zh-CN" sz="1800" b="1" dirty="0"/>
              <a:t>2330034028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540DC81-E92C-1625-BC5E-E966A5968135}"/>
              </a:ext>
            </a:extLst>
          </p:cNvPr>
          <p:cNvSpPr txBox="1"/>
          <p:nvPr/>
        </p:nvSpPr>
        <p:spPr>
          <a:xfrm>
            <a:off x="678543" y="605295"/>
            <a:ext cx="11844292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Returned Money Supported Building</a:t>
            </a:r>
          </a:p>
          <a:p>
            <a:r>
              <a:rPr lang="en-US" altLang="zh-CN" dirty="0"/>
              <a:t>     </a:t>
            </a:r>
            <a:r>
              <a:rPr lang="en-US" altLang="zh-CN" dirty="0" err="1"/>
              <a:t>Qiaopi</a:t>
            </a:r>
            <a:r>
              <a:rPr lang="en-US" altLang="zh-CN" dirty="0"/>
              <a:t> money and</a:t>
            </a:r>
            <a:r>
              <a:rPr lang="zh-CN" altLang="en-US" dirty="0"/>
              <a:t> </a:t>
            </a:r>
            <a:r>
              <a:rPr lang="en-US" altLang="zh-CN" dirty="0"/>
              <a:t>helped families build houses, shops, and local commercial spaces.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sz="2400" b="1" dirty="0"/>
              <a:t>Nanyang Experience Shaped </a:t>
            </a:r>
            <a:r>
              <a:rPr lang="en-US" altLang="zh-CN" sz="2400" b="1" dirty="0" err="1"/>
              <a:t>Qilou</a:t>
            </a:r>
            <a:endParaRPr lang="en-US" altLang="zh-CN" sz="2400" b="1" dirty="0"/>
          </a:p>
          <a:p>
            <a:r>
              <a:rPr lang="en-US" altLang="zh-CN" dirty="0"/>
              <a:t>       Migrants brought back business experience and Nanyang-style shop-house ideas.</a:t>
            </a:r>
          </a:p>
          <a:p>
            <a:endParaRPr lang="en-US" altLang="zh-CN" b="1" dirty="0"/>
          </a:p>
          <a:p>
            <a:r>
              <a:rPr lang="en-US" altLang="zh-CN" sz="2400" b="1" dirty="0" err="1"/>
              <a:t>Qilou</a:t>
            </a:r>
            <a:r>
              <a:rPr lang="en-US" altLang="zh-CN" sz="2400" b="1" dirty="0"/>
              <a:t> Served Street Business</a:t>
            </a:r>
          </a:p>
          <a:p>
            <a:r>
              <a:rPr lang="en-US" altLang="zh-CN" dirty="0"/>
              <a:t>       </a:t>
            </a:r>
            <a:r>
              <a:rPr lang="en-US" altLang="zh-CN" dirty="0" err="1"/>
              <a:t>Qilou</a:t>
            </a:r>
            <a:r>
              <a:rPr lang="en-US" altLang="zh-CN" dirty="0"/>
              <a:t> used covered arcades, open shopfronts, and upstairs living space to support trade.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sz="2400" b="1" dirty="0" err="1"/>
              <a:t>Paifang</a:t>
            </a:r>
            <a:r>
              <a:rPr lang="en-US" altLang="zh-CN" sz="2400" b="1" dirty="0"/>
              <a:t> Street is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an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example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of Nanyang Influence</a:t>
            </a:r>
          </a:p>
          <a:p>
            <a:r>
              <a:rPr lang="zh-CN" altLang="en-US" dirty="0"/>
              <a:t>      </a:t>
            </a:r>
            <a:r>
              <a:rPr lang="en-US" altLang="zh-CN" dirty="0"/>
              <a:t>Arcades, balconies, shopfronts, and signs show </a:t>
            </a:r>
            <a:r>
              <a:rPr lang="en-US" altLang="zh-CN" dirty="0" err="1"/>
              <a:t>Chaoshan</a:t>
            </a:r>
            <a:r>
              <a:rPr lang="en-US" altLang="zh-CN" dirty="0"/>
              <a:t>–Nanyang influence.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6CF3255-FC58-36AF-9B2E-37A3A2221AE3}"/>
              </a:ext>
            </a:extLst>
          </p:cNvPr>
          <p:cNvSpPr txBox="1">
            <a:spLocks/>
          </p:cNvSpPr>
          <p:nvPr/>
        </p:nvSpPr>
        <p:spPr>
          <a:xfrm>
            <a:off x="838200" y="-24910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200" b="1" dirty="0"/>
              <a:t>6. What Happened? Architectural Change</a:t>
            </a:r>
          </a:p>
        </p:txBody>
      </p:sp>
      <p:pic>
        <p:nvPicPr>
          <p:cNvPr id="9" name="图片 8" descr="日程表&#10;&#10;AI 生成的内容可能不正确。">
            <a:extLst>
              <a:ext uri="{FF2B5EF4-FFF2-40B4-BE49-F238E27FC236}">
                <a16:creationId xmlns:a16="http://schemas.microsoft.com/office/drawing/2014/main" id="{5BA0C4BF-6BBB-312B-3833-5B98FE7F8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13948"/>
            <a:ext cx="7768771" cy="260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24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B05EE-C07B-0383-10AF-49F1A0C3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763AB-1932-73EF-F306-17B39291B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b="1" dirty="0"/>
              <a:t>7. What Does It Mean Today?</a:t>
            </a:r>
            <a:endParaRPr kumimoji="1" lang="zh-CN" altLang="en-US" sz="32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6F2078-5769-F5FA-109D-6FBC61F15077}"/>
              </a:ext>
            </a:extLst>
          </p:cNvPr>
          <p:cNvSpPr txBox="1"/>
          <p:nvPr/>
        </p:nvSpPr>
        <p:spPr>
          <a:xfrm>
            <a:off x="838200" y="1070291"/>
            <a:ext cx="1095445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Heritage Beyond Tourism</a:t>
            </a:r>
          </a:p>
          <a:p>
            <a:r>
              <a:rPr lang="zh-CN" altLang="en-US" dirty="0"/>
              <a:t>     </a:t>
            </a:r>
            <a:r>
              <a:rPr lang="en-US" altLang="zh-CN" dirty="0" err="1"/>
              <a:t>Paifang</a:t>
            </a:r>
            <a:r>
              <a:rPr lang="en-US" altLang="zh-CN" dirty="0"/>
              <a:t> Street is not only a tourist street, but a space of migration, trade, and family memory.</a:t>
            </a:r>
          </a:p>
          <a:p>
            <a:endParaRPr lang="en-US" altLang="zh-CN" dirty="0"/>
          </a:p>
          <a:p>
            <a:r>
              <a:rPr lang="en-US" altLang="zh-CN" sz="2400" b="1" dirty="0"/>
              <a:t>Economy Beyond Money</a:t>
            </a:r>
          </a:p>
          <a:p>
            <a:r>
              <a:rPr lang="en-US" altLang="zh-CN" sz="2400" dirty="0" err="1"/>
              <a:t>Qiaopi</a:t>
            </a:r>
            <a:r>
              <a:rPr lang="en-US" altLang="zh-CN" sz="2400" dirty="0"/>
              <a:t> shows that economy is not only about money.</a:t>
            </a:r>
            <a:br>
              <a:rPr lang="en-US" altLang="zh-CN" sz="2400" dirty="0"/>
            </a:br>
            <a:r>
              <a:rPr lang="en-US" altLang="zh-CN" sz="2400" dirty="0"/>
              <a:t>It is also about trust, family duty, migration, and cross-border connection.</a:t>
            </a:r>
          </a:p>
          <a:p>
            <a:endParaRPr lang="en-US" altLang="zh-CN" dirty="0"/>
          </a:p>
          <a:p>
            <a:r>
              <a:rPr lang="en-US" altLang="zh-CN" sz="2400" b="1" dirty="0"/>
              <a:t>AI as a Cultural Bridge</a:t>
            </a:r>
          </a:p>
          <a:p>
            <a:r>
              <a:rPr lang="zh-CN" altLang="en-US" dirty="0"/>
              <a:t>      </a:t>
            </a:r>
            <a:r>
              <a:rPr lang="en-US" altLang="zh-CN" dirty="0"/>
              <a:t>AI can visualize hidden historical networks, but human judgment is needed to protect cultural meaning.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00609A-8F7F-D1F0-4887-6BA76DC6366D}"/>
              </a:ext>
            </a:extLst>
          </p:cNvPr>
          <p:cNvSpPr txBox="1"/>
          <p:nvPr/>
        </p:nvSpPr>
        <p:spPr>
          <a:xfrm>
            <a:off x="9283652" y="6292731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/>
              <a:t>Weitong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Li</a:t>
            </a:r>
            <a:r>
              <a:rPr lang="zh-CN" altLang="en-US" sz="1800" b="1" dirty="0"/>
              <a:t>   </a:t>
            </a:r>
            <a:r>
              <a:rPr lang="en-US" altLang="zh-CN" sz="1800" b="1" dirty="0"/>
              <a:t>2330034028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1715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4123</TotalTime>
  <Words>649</Words>
  <Application>Microsoft Macintosh PowerPoint</Application>
  <PresentationFormat>宽屏</PresentationFormat>
  <Paragraphs>81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Qiaopi Bridge: Architectural Exchange and Economic Connection between Chaoshan and Nanyang in Modern China  AI Visual Work: Connecting Two Architectural Worlds through Qiaopi AI tool：Image2，Dify and Marble  </vt:lpstr>
      <vt:lpstr>1. The ai visual work overview and demo  </vt:lpstr>
      <vt:lpstr>2. Similartity Between Nanyang and Chaoshan Architectural </vt:lpstr>
      <vt:lpstr>3. Why use image2, marble and Dify ？？？</vt:lpstr>
      <vt:lpstr>4.Why choose Modern China, late 17th century–1945 ？？？</vt:lpstr>
      <vt:lpstr>5. What Happened? Economic Flow</vt:lpstr>
      <vt:lpstr>PowerPoint 演示文稿</vt:lpstr>
      <vt:lpstr>7. What Does It Mean Today?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炜桐 李</dc:creator>
  <cp:lastModifiedBy>炜桐 李</cp:lastModifiedBy>
  <cp:revision>2</cp:revision>
  <dcterms:created xsi:type="dcterms:W3CDTF">2026-05-15T16:32:53Z</dcterms:created>
  <dcterms:modified xsi:type="dcterms:W3CDTF">2026-05-18T13:16:53Z</dcterms:modified>
</cp:coreProperties>
</file>