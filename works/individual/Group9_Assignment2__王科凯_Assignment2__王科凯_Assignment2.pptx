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uahhh-afk.github.io/journey-of-paper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3657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6400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743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1828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6400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3716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9202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6459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1887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18288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4630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6576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2004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8404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4747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28346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43891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5720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8463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46634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44805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-1371600" y="-731520"/>
            <a:ext cx="5029200" cy="5029200"/>
          </a:xfrm>
          <a:prstGeom prst="ellipse">
            <a:avLst/>
          </a:prstGeom>
          <a:solidFill>
            <a:srgbClr val="162240">
              <a:alpha val="7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6400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COMMUNICATION  ×  TECHNOLOGICAL CIVILIZATION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26080" y="105156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JOURNEY</a:t>
            </a:r>
            <a:endParaRPr lang="en-US" sz="5200" b="1" dirty="0">
              <a:solidFill>
                <a:srgbClr val="C9A84C"/>
              </a:solidFill>
              <a:latin typeface="Georgia" panose="02040502050405090303" pitchFamily="34" charset="0"/>
              <a:ea typeface="Georgia" panose="02040502050405090303" pitchFamily="34" charset="-122"/>
              <a:cs typeface="Georgia" panose="02040502050405090303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926080" y="178308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OF PAPER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2926080" y="272491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Medium, Message &amp; Power across Five Civilisations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2926080" y="3246120"/>
            <a:ext cx="1645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456432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Cross-Civilisational Study in Communication &amp; Media Theory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0" y="4041648"/>
            <a:ext cx="1691640" cy="566928"/>
          </a:xfrm>
          <a:prstGeom prst="rect">
            <a:avLst/>
          </a:prstGeom>
          <a:solidFill>
            <a:srgbClr val="131D30"/>
          </a:solidFill>
          <a:ln w="9525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4087368"/>
            <a:ext cx="1691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II–III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4334256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Road Era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4041648"/>
            <a:ext cx="1691640" cy="566928"/>
          </a:xfrm>
          <a:prstGeom prst="rect">
            <a:avLst/>
          </a:prstGeom>
          <a:solidFill>
            <a:srgbClr val="131D30"/>
          </a:solidFill>
          <a:ln w="9525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087368"/>
            <a:ext cx="1691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IV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4334256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Exploration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66560" y="4041648"/>
            <a:ext cx="1691640" cy="566928"/>
          </a:xfrm>
          <a:prstGeom prst="rect">
            <a:avLst/>
          </a:prstGeom>
          <a:solidFill>
            <a:srgbClr val="131D30"/>
          </a:solidFill>
          <a:ln w="9525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4087368"/>
            <a:ext cx="16916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VII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0" y="4334256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RESEARCH COORDINATES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How Three Elements Work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06040" cy="3794760"/>
          </a:xfrm>
          <a:prstGeom prst="rect">
            <a:avLst/>
          </a:prstGeom>
          <a:solidFill>
            <a:srgbClr val="131D30"/>
          </a:solidFill>
          <a:ln w="9525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MAJOR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Communication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640080" cy="2286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633472"/>
            <a:ext cx="237744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disciplinary lens — Communication studies how messages, media, and power shape societies. Paper and its successors are the central objects of this field: every medium restructures who can speak, who is heard, and who is silenced.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143000"/>
            <a:ext cx="2606040" cy="3794760"/>
          </a:xfrm>
          <a:prstGeom prst="rect">
            <a:avLst/>
          </a:prstGeom>
          <a:solidFill>
            <a:srgbClr val="131D30"/>
          </a:solidFill>
          <a:ln w="9525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143000"/>
            <a:ext cx="26060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618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CIVILIZATIONAL THEME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46120" y="1572768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Technological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Civilization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2487168"/>
            <a:ext cx="640080" cy="22860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2633472"/>
            <a:ext cx="237744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contemporary anchor — in the digital age, communication infrastructure is civilisational infrastructure. Who controls the platform controls the public sphere.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97880" y="114300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PERIODS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897880" y="1481328"/>
            <a:ext cx="2926080" cy="1024128"/>
          </a:xfrm>
          <a:prstGeom prst="rect">
            <a:avLst/>
          </a:prstGeom>
          <a:solidFill>
            <a:srgbClr val="131D30"/>
          </a:solidFill>
          <a:ln w="762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481328"/>
            <a:ext cx="45720" cy="10241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54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II–III  Silk Road Era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18288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documented cross-civilisational media transfer — papermaking knowledge moves from Han China to the Abbasid world, creating new communication networks.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97880" y="2596896"/>
            <a:ext cx="2926080" cy="1024128"/>
          </a:xfrm>
          <a:prstGeom prst="rect">
            <a:avLst/>
          </a:prstGeom>
          <a:solidFill>
            <a:srgbClr val="131D30"/>
          </a:solidFill>
          <a:ln w="762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596896"/>
            <a:ext cx="45720" cy="10241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6700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IV  Age of Exploration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94436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revolution: paper + movable type industrialises mass communication for the first time, reshaping European public discourse (Habermas's early public sphere).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97880" y="3712464"/>
            <a:ext cx="2926080" cy="1024128"/>
          </a:xfrm>
          <a:prstGeom prst="rect">
            <a:avLst/>
          </a:prstGeom>
          <a:solidFill>
            <a:srgbClr val="131D30"/>
          </a:solidFill>
          <a:ln w="762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3712464"/>
            <a:ext cx="45720" cy="10241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7856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VII  Digital 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4059936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WWW is the fifth medium in this lineage. Today's platform capitalism, algorithmic gatekeeping, and digital divides are the same story at network scale.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THEORETICAL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Marshall McLuhan — Medium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560320" cy="3291840"/>
          </a:xfrm>
          <a:prstGeom prst="rect">
            <a:avLst/>
          </a:prstGeom>
          <a:solidFill>
            <a:srgbClr val="131D30"/>
          </a:solidFill>
          <a:ln w="9525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560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45643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Marshall McLuhan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1911 – 1980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391363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communication theorist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1170432"/>
            <a:ext cx="5623560" cy="1005840"/>
          </a:xfrm>
          <a:prstGeom prst="rect">
            <a:avLst/>
          </a:prstGeom>
          <a:solidFill>
            <a:srgbClr val="162240"/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61872"/>
            <a:ext cx="5349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"The medium is the message."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Understanding Media, 1964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2267712"/>
            <a:ext cx="36576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28600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542032"/>
            <a:ext cx="5394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medium is not just a container for content. Every medium — paper, print, the web — actively restructures how people think, organise society, and hold power. The medium itself is the real message.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3273552"/>
            <a:ext cx="36576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329184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How it applies to this project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547872"/>
            <a:ext cx="5394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five stages is not simply 'paper spreads to a new place.' It is a new medium transforming an entire civilisation's communication ecology. Baghdad's House of Wisdom only exists because paper changed what knowledge could be. Gutenberg's press didn't just print books — it created mass public discourse.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4279392"/>
            <a:ext cx="36576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429768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Why it connects to today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4553712"/>
            <a:ext cx="5394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WWW is the fifth medium in this lineage. Platform algorithms, content moderation, and digital divides are not technical problems — they are McLuhan problems. And crucially: choosing a 3D interactive globe to tell this story is itself a McLuhanite argument. The medium we chose IS part of the message.</a:t>
            </a:r>
            <a:endParaRPr lang="en-US" sz="900" dirty="0"/>
          </a:p>
        </p:txBody>
      </p:sp>
      <p:pic>
        <p:nvPicPr>
          <p:cNvPr id="22" name="图片 21" descr="Marshall_McLuh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95" y="1361440"/>
            <a:ext cx="1365250" cy="1958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WHY THIS AI TOOL?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1264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Medium Expresses the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457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4416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Three.js / WebGL  —  3D Interactive Globe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3677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McLuhan: the globe as spatial medium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37944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journey was a geographic story across Eurasia. A 3D globe embeds the argument spatially — viewers experience the scale of transmission rather than read about it. The medium literally enacts the thesis.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457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Animated Arc Routes  —  Visual Transmission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7977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McLuhan: motion as message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animated arcs make transmission visible. Each arc is not a product moving along a trade route but a civilisation's communication capacity being transferred. The movement IS the argument — motion equals transmission.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611880"/>
            <a:ext cx="4572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3016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Stage-by-Stage Narrative  —  Sequential 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92277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McLuhan: each medium displaces the last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123944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 argued each new medium absorbs and transforms its predecessor. The stage structure enacts this: each node is a civilisational communication shift. Choosing a digital web tool to tell this story is itself a McLuhanite argument — we are inside Stage 5.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1261872"/>
            <a:ext cx="3474720" cy="3566160"/>
          </a:xfrm>
          <a:prstGeom prst="rect">
            <a:avLst/>
          </a:prstGeom>
          <a:solidFill>
            <a:srgbClr val="131D30"/>
          </a:solidFill>
          <a:ln w="9525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261872"/>
            <a:ext cx="34747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3716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 THEORY INSIGHT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0" y="1719072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Choosing a digital web tool to tell this story is itself a McLuhanite argument.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450592"/>
            <a:ext cx="320040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now inside Stage 5 of the same transmission lineage. The interactive globe is not just a visualisation — it is a new medium carrying forward the same civilisational question: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the infrastructure of communication?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does that mean for everyone else?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FIVE STAGES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 Cross-Civilisational Diffusion of Communication Infrastructure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1078992"/>
            <a:ext cx="1591056" cy="3730752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078992"/>
            <a:ext cx="159105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70432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09344"/>
            <a:ext cx="1444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China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 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444752" cy="274320"/>
          </a:xfrm>
          <a:prstGeom prst="rect">
            <a:avLst/>
          </a:prstGeom>
          <a:solidFill>
            <a:srgbClr val="0A0E1A"/>
          </a:solidFill>
          <a:ln w="508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5856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Invention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12710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51760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Cai Lun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182112"/>
            <a:ext cx="144475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as new medium; state-controlled diffusion through Han bureaucratic communication networks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29968" y="1078992"/>
            <a:ext cx="1591056" cy="3730752"/>
          </a:xfrm>
          <a:prstGeom prst="rect">
            <a:avLst/>
          </a:prstGeom>
          <a:solidFill>
            <a:srgbClr val="131D30"/>
          </a:solidFill>
          <a:ln w="635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1078992"/>
            <a:ext cx="1591056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1170432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90D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03120" y="1609344"/>
            <a:ext cx="1444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Islamic World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103120" y="1956816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 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2240280"/>
            <a:ext cx="1444752" cy="274320"/>
          </a:xfrm>
          <a:prstGeom prst="rect">
            <a:avLst/>
          </a:prstGeom>
          <a:solidFill>
            <a:srgbClr val="0A0E1A"/>
          </a:solidFill>
          <a:ln w="508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25856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Diffusion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03120" y="2578608"/>
            <a:ext cx="12710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651760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103120" y="283464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Du Huan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03120" y="3182112"/>
            <a:ext cx="144475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of Talas — Innis's 'monopoly of knowledge' forcibly transferred; Abbasid adoption restructures Islamic communication ecology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67328" y="1078992"/>
            <a:ext cx="1591056" cy="3730752"/>
          </a:xfrm>
          <a:prstGeom prst="rect">
            <a:avLst/>
          </a:prstGeom>
          <a:solidFill>
            <a:srgbClr val="131D30"/>
          </a:solidFill>
          <a:ln w="6350">
            <a:solidFill>
              <a:srgbClr val="5B9BD5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67328" y="1078992"/>
            <a:ext cx="1591056" cy="5486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1170432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9BD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40480" y="1609344"/>
            <a:ext cx="1444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Baghdad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840480" y="1956816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c.988 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0" y="2240280"/>
            <a:ext cx="1444752" cy="274320"/>
          </a:xfrm>
          <a:prstGeom prst="rect">
            <a:avLst/>
          </a:prstGeom>
          <a:solidFill>
            <a:srgbClr val="0A0E1A"/>
          </a:solidFill>
          <a:ln w="5080">
            <a:solidFill>
              <a:srgbClr val="5B9BD5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25856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Sphere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0" y="2578608"/>
            <a:ext cx="12710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2651760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40480" y="283464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Ibn al-Nadim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40480" y="3182112"/>
            <a:ext cx="144475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Wisdom as proto-public sphere; paper enables translation movement — cross-civilisational knowledge exchange at scale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04688" y="1078992"/>
            <a:ext cx="1591056" cy="3730752"/>
          </a:xfrm>
          <a:prstGeom prst="rect">
            <a:avLst/>
          </a:prstGeom>
          <a:solidFill>
            <a:srgbClr val="131D30"/>
          </a:solidFill>
          <a:ln w="6350">
            <a:solidFill>
              <a:srgbClr val="7CB9E8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04688" y="1078992"/>
            <a:ext cx="1591056" cy="54864"/>
          </a:xfrm>
          <a:prstGeom prst="rect">
            <a:avLst/>
          </a:prstGeom>
          <a:solidFill>
            <a:srgbClr val="7CB9E8"/>
          </a:solidFill>
          <a:ln w="12700">
            <a:solidFill>
              <a:srgbClr val="7CB9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96128" y="1170432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CB9E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577840" y="1609344"/>
            <a:ext cx="1444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Europe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577840" y="1956816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c.1450 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2240280"/>
            <a:ext cx="1444752" cy="274320"/>
          </a:xfrm>
          <a:prstGeom prst="rect">
            <a:avLst/>
          </a:prstGeom>
          <a:solidFill>
            <a:srgbClr val="0A0E1A"/>
          </a:solidFill>
          <a:ln w="5080">
            <a:solidFill>
              <a:srgbClr val="7CB9E8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25856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Communication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77840" y="2578608"/>
            <a:ext cx="12710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2651760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577840" y="283464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Gutenberg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577840" y="3182112"/>
            <a:ext cx="144475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revolution = first mass medium; Rogers' full adoption curve complete; Habermas's bourgeois public sphere emerges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42048" y="1078992"/>
            <a:ext cx="1591056" cy="3730752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42048" y="1078992"/>
            <a:ext cx="159105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33488" y="1170432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315200" y="1609344"/>
            <a:ext cx="14447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Digital Age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315200" y="1956816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 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15200" y="2240280"/>
            <a:ext cx="1444752" cy="274320"/>
          </a:xfrm>
          <a:prstGeom prst="rect">
            <a:avLst/>
          </a:prstGeom>
          <a:solidFill>
            <a:srgbClr val="0A0E1A"/>
          </a:solidFill>
          <a:ln w="508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2258568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Medium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15200" y="2578608"/>
            <a:ext cx="12710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2651760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315200" y="2834640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Berners-Lee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315200" y="3182112"/>
            <a:ext cx="144475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as fifth medium in this lineage — McLuhan's global village; but new gatekeepers (platforms) reproduce old monopolies of knowledge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901952" y="2377440"/>
            <a:ext cx="128016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39312" y="2377440"/>
            <a:ext cx="128016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76672" y="2377440"/>
            <a:ext cx="128016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14032" y="2377440"/>
            <a:ext cx="128016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DOES IT MEAN TODAY?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Communication Theory &amp; Unresolved Civilisational Tensions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88720" y="1161288"/>
            <a:ext cx="6766560" cy="749808"/>
          </a:xfrm>
          <a:prstGeom prst="rect">
            <a:avLst/>
          </a:prstGeom>
          <a:solidFill>
            <a:srgbClr val="162240"/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216152"/>
            <a:ext cx="64922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Communication's lesson: every new medium reproduces the same question — who controls the channel controls the civilisation </a:t>
            </a:r>
            <a:r>
              <a:rPr lang="en-US" sz="1250" b="1" i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  <a:sym typeface="+mn-ea"/>
              </a:rPr>
              <a:t> </a:t>
            </a:r>
            <a:r>
              <a:rPr lang="en-US" sz="1250" i="1" dirty="0">
                <a:solidFill>
                  <a:srgbClr val="E8C97A"/>
                </a:solidFill>
                <a:latin typeface="Georgia Italic" panose="02040502050405090303" charset="0"/>
                <a:ea typeface="Georgia" panose="02040502050405090303" pitchFamily="34" charset="-122"/>
                <a:cs typeface="Georgia Italic" panose="02040502050405090303" charset="0"/>
                <a:sym typeface="+mn-ea"/>
              </a:rPr>
              <a:t>(SDG 10)</a:t>
            </a:r>
            <a:r>
              <a:rPr lang="en-US" sz="1250" b="1" i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.</a:t>
            </a:r>
            <a:endParaRPr lang="en-US" sz="1250" dirty="0">
              <a:latin typeface="Georgia Italic" panose="02040502050405090303" charset="0"/>
              <a:cs typeface="Georgia Italic" panose="02040502050405090303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2075688"/>
            <a:ext cx="2743200" cy="2834640"/>
          </a:xfrm>
          <a:prstGeom prst="rect">
            <a:avLst/>
          </a:prstGeom>
          <a:solidFill>
            <a:srgbClr val="131D30"/>
          </a:solidFill>
          <a:ln w="762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75688"/>
            <a:ext cx="27432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176272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Platform Gatekeeping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" y="2542032"/>
            <a:ext cx="2514600" cy="237744"/>
          </a:xfrm>
          <a:prstGeom prst="rect">
            <a:avLst/>
          </a:prstGeom>
          <a:solidFill>
            <a:srgbClr val="0A0E1A"/>
          </a:solidFill>
          <a:ln w="508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5603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Habermas — Public Sphere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285292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case: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30358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Baghdad's House of Wisdom (c.830 CE)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325526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controlled which Greek texts were translated and circulated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9768" y="3593592"/>
            <a:ext cx="2194560" cy="22860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65760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→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9768" y="385876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feeds, content moderation &amp; shadow-banning replicate the same gatekeeping logic at planetary scale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2075688"/>
            <a:ext cx="2743200" cy="2834640"/>
          </a:xfrm>
          <a:prstGeom prst="rect">
            <a:avLst/>
          </a:prstGeom>
          <a:solidFill>
            <a:srgbClr val="131D30"/>
          </a:solidFill>
          <a:ln w="762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2075688"/>
            <a:ext cx="27432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176272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Digital Divide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2542032"/>
            <a:ext cx="2514600" cy="237744"/>
          </a:xfrm>
          <a:prstGeom prst="rect">
            <a:avLst/>
          </a:prstGeom>
          <a:solidFill>
            <a:srgbClr val="0A0E1A"/>
          </a:solidFill>
          <a:ln w="508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5603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Rogers — Diffusion Inequity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285292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case: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30358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uneven spread (751–1400 CE)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25526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world had paper 500 years before Europe — decisive knowledge advantage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3593592"/>
            <a:ext cx="2194560" cy="22860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65760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→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37560" y="385876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billion offline today. The digital divide IS the new paper divide — same structural inequality, new medium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35624" y="2075688"/>
            <a:ext cx="2743200" cy="2834640"/>
          </a:xfrm>
          <a:prstGeom prst="rect">
            <a:avLst/>
          </a:prstGeom>
          <a:solidFill>
            <a:srgbClr val="131D30"/>
          </a:solidFill>
          <a:ln w="762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5624" y="2075688"/>
            <a:ext cx="27432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2176272"/>
            <a:ext cx="2514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Media Monopoly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45352" y="2542032"/>
            <a:ext cx="2514600" cy="237744"/>
          </a:xfrm>
          <a:prstGeom prst="rect">
            <a:avLst/>
          </a:prstGeom>
          <a:solidFill>
            <a:srgbClr val="0A0E1A"/>
          </a:solidFill>
          <a:ln w="508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25603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Innis — Monopoly of Knowledge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45352" y="285292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case: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45352" y="30358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→ Abbasid technology transfer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45352" y="3255264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papermaking = controlling information infrastructure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45352" y="3593592"/>
            <a:ext cx="2194560" cy="22860"/>
          </a:xfrm>
          <a:prstGeom prst="rect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365760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→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45352" y="3858768"/>
            <a:ext cx="2514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platforms control 80% of global digital traffic. McLuhan's global village is owned by a handful of corporations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914400"/>
            <a:ext cx="6400800" cy="6400800"/>
          </a:xfrm>
          <a:prstGeom prst="ellipse">
            <a:avLst/>
          </a:prstGeom>
          <a:solidFill>
            <a:srgbClr val="0D1A35">
              <a:alpha val="70000"/>
            </a:srgbClr>
          </a:solidFill>
          <a:ln w="1016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-457200"/>
            <a:ext cx="5486400" cy="5486400"/>
          </a:xfrm>
          <a:prstGeom prst="ellipse">
            <a:avLst/>
          </a:prstGeom>
          <a:solidFill>
            <a:srgbClr val="0D1A35">
              <a:alpha val="0"/>
            </a:srgbClr>
          </a:solidFill>
          <a:ln w="5080">
            <a:solidFill>
              <a:srgbClr val="C9A84C">
                <a:alpha val="20000"/>
              </a:srgbClr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Every medium is a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new civilisation.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46304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4846320" cy="2331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theory reveals what a purely historical account cannot: the journey of paper is not about paper. It is about the recurring logic by which societies organise who speaks, who is heard, and who is excluded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(SDG 10)</a:t>
            </a:r>
            <a:r>
              <a:rPr lang="en-US" sz="10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McLuhan's insight cuts through five civilisational moments: the medium is never just a tool — it is a new social order. The tensions of today's technological civilisation — platform monopoly, digital divide, algorithmic gatekeeping — are not new problems. They are old problems wearing new interfaces.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320040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323697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McLuhan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0" y="344728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Theory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543800" y="320040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23697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Medium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35240" y="344728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Message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852160" y="379476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83133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Hot &amp; Cool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0" y="40416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Participation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543800" y="379476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83133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Global Village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35240" y="40416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Civilisational Reach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52160" y="299923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McLuhan's Framework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914400"/>
            <a:ext cx="6400800" cy="6400800"/>
          </a:xfrm>
          <a:prstGeom prst="ellipse">
            <a:avLst/>
          </a:prstGeom>
          <a:solidFill>
            <a:srgbClr val="0D1A35">
              <a:alpha val="70000"/>
            </a:srgbClr>
          </a:solidFill>
          <a:ln w="1016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-457200"/>
            <a:ext cx="5486400" cy="5486400"/>
          </a:xfrm>
          <a:prstGeom prst="ellipse">
            <a:avLst/>
          </a:prstGeom>
          <a:solidFill>
            <a:srgbClr val="0D1A35">
              <a:alpha val="0"/>
            </a:srgbClr>
          </a:solidFill>
          <a:ln w="5080">
            <a:solidFill>
              <a:srgbClr val="C9A84C">
                <a:alpha val="20000"/>
              </a:srgbClr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VISUAL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Journey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of Paper — Interactive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46304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4846320" cy="2331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3D globe tracing paper’s journey across five civilisational moments. Built with Three.js / WebGL.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file"/>
              </a:rPr>
              <a:t>https://muahhh-afk.github.io/journey-of-paper/</a:t>
            </a:r>
            <a:endParaRPr lang="en-US" sz="1050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  <a:hlinkClick r:id="rId1" action="ppaction://hlinkfile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52160" y="320040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323697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Three.js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0" y="344728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Globe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543800" y="320040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23697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WebGL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35240" y="344728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852160" y="379476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83133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AI-assisted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0" y="40416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Design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543800" y="3794760"/>
            <a:ext cx="1554480" cy="502920"/>
          </a:xfrm>
          <a:prstGeom prst="rect">
            <a:avLst/>
          </a:prstGeom>
          <a:solidFill>
            <a:srgbClr val="131D3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83133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C97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GitHub Pages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35240" y="404164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52160" y="299923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0D1A35">
              <a:alpha val="50000"/>
            </a:srgbClr>
          </a:solidFill>
          <a:ln w="762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00" dirty="0">
                <a:solidFill>
                  <a:srgbClr val="C9A84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58368"/>
            <a:ext cx="8046720" cy="27432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Theoretical Source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078992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McLuhan, M. (1964). Understanding Media: The Extensions of Man. McGraw-Hill.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353312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McLuhan, M., &amp; Fiore, Q. (1967). The Medium is the Massage. Random House.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Sources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1975104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Bloom, J. M. (2001). Paper Before Print: The History and Impact of Paper in the Islamic World. Yale University Press.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249424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Tsien, T. H. (1985). Science and Civilisation in China, Vol. 5, Part 1: Paper and Printing. Cambridge University Press.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523744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Man, J. (2002). The Gutenberg Revolution. Headline Book Publishing.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8229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Age / Contemporary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145536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Berners-Lee, T. (1999). Weaving the Web. HarperCollins.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419856"/>
            <a:ext cx="79552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Castells, M. (1996). The Rise of the Network Society. Blackwell.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I2NmU5NTJmMzYwMDk1MGM3ZTNlNjVhZTM5MjQ4ZD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7325</Words>
  <Application>WPS 演示</Application>
  <PresentationFormat>On-screen Show (16:9)</PresentationFormat>
  <Paragraphs>309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Georgia Italic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Journey of Paper</dc:title>
  <dc:creator>PptxGenJS</dc:creator>
  <dc:subject>PptxGenJS Presentation</dc:subject>
  <cp:lastModifiedBy>WPS_644732095</cp:lastModifiedBy>
  <cp:revision>4</cp:revision>
  <dcterms:created xsi:type="dcterms:W3CDTF">2026-05-20T14:17:27Z</dcterms:created>
  <dcterms:modified xsi:type="dcterms:W3CDTF">2026-05-20T14:17:27Z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D8F3E620D54D75A8CA4E0B6A76C48A05_42</vt:lpwstr>
  </property>
  <property fmtid="{D5CDD505-2E9C-101B-9397-08002B2CF9AE}" pid="3" name="KSOProductBuildVer">
    <vt:lpwstr>2052-6.10.1.8873</vt:lpwstr>
  </property>
</Properties>
</file>