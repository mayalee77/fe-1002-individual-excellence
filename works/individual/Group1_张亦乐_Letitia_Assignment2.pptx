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9" autoAdjust="0"/>
    <p:restoredTop sz="94660"/>
  </p:normalViewPr>
  <p:slideViewPr>
    <p:cSldViewPr snapToGrid="0">
      <p:cViewPr>
        <p:scale>
          <a:sx n="75" d="100"/>
          <a:sy n="75" d="100"/>
        </p:scale>
        <p:origin x="606" y="4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25C33-C8ED-BC19-8BA0-55406AC630C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7D09BA4-5F40-0ECF-AAB8-6AFA94520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648FE93-C411-BA26-0B69-EB7551AD1190}"/>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5" name="页脚占位符 4">
            <a:extLst>
              <a:ext uri="{FF2B5EF4-FFF2-40B4-BE49-F238E27FC236}">
                <a16:creationId xmlns:a16="http://schemas.microsoft.com/office/drawing/2014/main" id="{F67CED21-6C1B-E903-A601-EF1046BEFB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5BE374D-A098-D6BC-E744-1F0CB4BAA639}"/>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764610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AF2152-8FBB-0FF3-BBA3-263E587F1E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1B6A2B2-FC88-AA7F-6AFF-82E32F12E5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2B2A6F-45FE-DE72-F1EC-ED2E297C6CB9}"/>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5" name="页脚占位符 4">
            <a:extLst>
              <a:ext uri="{FF2B5EF4-FFF2-40B4-BE49-F238E27FC236}">
                <a16:creationId xmlns:a16="http://schemas.microsoft.com/office/drawing/2014/main" id="{5765BC0E-A95C-1633-E26B-E0DC9F0F537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004B7F-A416-7A19-1BD3-88F4C8ED19BB}"/>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2509013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63C4D0-E66D-A8FB-B4AC-B05B1CD4538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6271DE4-DAE0-245A-C787-93FE962249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DF10CA-D951-6BE1-5392-82F4BC59B019}"/>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5" name="页脚占位符 4">
            <a:extLst>
              <a:ext uri="{FF2B5EF4-FFF2-40B4-BE49-F238E27FC236}">
                <a16:creationId xmlns:a16="http://schemas.microsoft.com/office/drawing/2014/main" id="{074CF0D3-2AD4-546D-BFF1-EF2E7D9EDEF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5FF657-F7C1-7885-C0F5-663622A4D5DA}"/>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10955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F1210B-452E-2DF9-6AEF-682E5EEF24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063EC1C-97A5-0989-9F44-961109031BE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DC84F1F-8C98-AE4A-FA17-99F4869A37C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D790832-9CE3-6400-7CBF-1C0C9A70487C}"/>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6" name="页脚占位符 5">
            <a:extLst>
              <a:ext uri="{FF2B5EF4-FFF2-40B4-BE49-F238E27FC236}">
                <a16:creationId xmlns:a16="http://schemas.microsoft.com/office/drawing/2014/main" id="{F7235C3B-22EA-48E1-E1E8-363AB3B907F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CD99D30-FC41-AF62-E102-8A99F1D008B2}"/>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3626315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B3E841-44E9-53BB-EE9B-04E3AE8507C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6740B64-3783-D7C1-8BB5-FC934D3984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A22BBC9-8E3B-89B5-F4FF-5028A69668D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7D0A993-CC24-A7BB-7C21-F73058F476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72739A5-6840-4582-FB2E-2DADEB24F3F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A419911-28FB-8F63-14F8-F2D8F115C107}"/>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8" name="页脚占位符 7">
            <a:extLst>
              <a:ext uri="{FF2B5EF4-FFF2-40B4-BE49-F238E27FC236}">
                <a16:creationId xmlns:a16="http://schemas.microsoft.com/office/drawing/2014/main" id="{38EF686D-BB99-E803-D126-A7400EFECE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5768242-8410-D253-4A03-AF7BFBF3B477}"/>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3535881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5FD69D-D82C-BD75-6BF8-35BA3BDA7A3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CF9B20A-701F-D963-3FDF-03C463BB4FF3}"/>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4" name="页脚占位符 3">
            <a:extLst>
              <a:ext uri="{FF2B5EF4-FFF2-40B4-BE49-F238E27FC236}">
                <a16:creationId xmlns:a16="http://schemas.microsoft.com/office/drawing/2014/main" id="{48C57F24-B3AD-41FF-DEED-E5E4FEECAC6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47054E6-EE73-BD42-D10E-E39445BC6078}"/>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1725008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BDD64AC-F724-E44B-B679-284B2AFCAB43}"/>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3" name="页脚占位符 2">
            <a:extLst>
              <a:ext uri="{FF2B5EF4-FFF2-40B4-BE49-F238E27FC236}">
                <a16:creationId xmlns:a16="http://schemas.microsoft.com/office/drawing/2014/main" id="{0FA18E8C-533E-EB55-5766-3052AC836AE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5FF942E-BB3E-D6C6-BA60-72D97D2C5B6D}"/>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2739609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3496EE-9EFA-41E2-C102-3D581467F83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AA052C8-0789-504F-3A35-2472DC4A4F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5E91DCD-A78B-E064-880A-4DA85868BE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2CEE93F-05E4-6B05-C605-4E80C7FC14B1}"/>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6" name="页脚占位符 5">
            <a:extLst>
              <a:ext uri="{FF2B5EF4-FFF2-40B4-BE49-F238E27FC236}">
                <a16:creationId xmlns:a16="http://schemas.microsoft.com/office/drawing/2014/main" id="{856DF933-E5CC-E55A-D030-9009AD8AAF8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401FDF6-C96C-E040-9C5A-AE135D039A04}"/>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1414336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BAD6A4-B7FB-243E-EDF2-6066B51BEB1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1E1539D-24A9-E07A-06C8-10CE96723B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0A50B6D-FB17-688F-0BCE-D51DC9F54C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7B359A7-04B6-8D8C-DB9A-F890069EF4FA}"/>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6" name="页脚占位符 5">
            <a:extLst>
              <a:ext uri="{FF2B5EF4-FFF2-40B4-BE49-F238E27FC236}">
                <a16:creationId xmlns:a16="http://schemas.microsoft.com/office/drawing/2014/main" id="{E947CB58-AA91-EED3-E847-5E5669090A5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6398EF7-DC2C-2614-0A84-5993ECE20E95}"/>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3535291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38BFC6-D1C9-0B08-7AFE-5D013FE3E1F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B06BEC-50D5-BD04-5893-F3F5CE3AA7E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59E7614-59D9-FB87-F87F-8874F0AB488A}"/>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5" name="页脚占位符 4">
            <a:extLst>
              <a:ext uri="{FF2B5EF4-FFF2-40B4-BE49-F238E27FC236}">
                <a16:creationId xmlns:a16="http://schemas.microsoft.com/office/drawing/2014/main" id="{606A6EF4-2EF7-AEF3-2879-B4C9141DE4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95739C6-9DA5-604A-1C32-B4B89AB06380}"/>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345827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6564A42-EC05-6706-768F-239E7845C6C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FAD2B12-436A-5FCD-EA7F-37A6E80B89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621992A-A8DF-5195-15C2-28B6758A453F}"/>
              </a:ext>
            </a:extLst>
          </p:cNvPr>
          <p:cNvSpPr>
            <a:spLocks noGrp="1"/>
          </p:cNvSpPr>
          <p:nvPr>
            <p:ph type="dt" sz="half" idx="10"/>
          </p:nvPr>
        </p:nvSpPr>
        <p:spPr/>
        <p:txBody>
          <a:bodyPr/>
          <a:lstStyle/>
          <a:p>
            <a:fld id="{9F3F05CA-C2E9-4302-BA4C-4ECEF11F2C58}" type="datetimeFigureOut">
              <a:rPr lang="zh-CN" altLang="en-US" smtClean="0"/>
              <a:t>2026/5/16</a:t>
            </a:fld>
            <a:endParaRPr lang="zh-CN" altLang="en-US"/>
          </a:p>
        </p:txBody>
      </p:sp>
      <p:sp>
        <p:nvSpPr>
          <p:cNvPr id="5" name="页脚占位符 4">
            <a:extLst>
              <a:ext uri="{FF2B5EF4-FFF2-40B4-BE49-F238E27FC236}">
                <a16:creationId xmlns:a16="http://schemas.microsoft.com/office/drawing/2014/main" id="{F2EDA237-F1C8-9F23-39D7-EE934D502E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694AC1-4887-FBC1-5FDF-2BBC0BDD809D}"/>
              </a:ext>
            </a:extLst>
          </p:cNvPr>
          <p:cNvSpPr>
            <a:spLocks noGrp="1"/>
          </p:cNvSpPr>
          <p:nvPr>
            <p:ph type="sldNum" sz="quarter" idx="12"/>
          </p:nvPr>
        </p:nvSpPr>
        <p:spPr/>
        <p:txBody>
          <a:body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3847860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DA6371F-416B-E319-B464-6FB23719B5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64400BD-F043-7CD8-EFEE-BD72034CE5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33C4907-F798-055F-54DF-8590B0A975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3F05CA-C2E9-4302-BA4C-4ECEF11F2C58}" type="datetimeFigureOut">
              <a:rPr lang="zh-CN" altLang="en-US" smtClean="0"/>
              <a:t>2026/5/16</a:t>
            </a:fld>
            <a:endParaRPr lang="zh-CN" altLang="en-US"/>
          </a:p>
        </p:txBody>
      </p:sp>
      <p:sp>
        <p:nvSpPr>
          <p:cNvPr id="5" name="页脚占位符 4">
            <a:extLst>
              <a:ext uri="{FF2B5EF4-FFF2-40B4-BE49-F238E27FC236}">
                <a16:creationId xmlns:a16="http://schemas.microsoft.com/office/drawing/2014/main" id="{732B7BA0-BF04-E50E-3E1A-E6242AA2C1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C9852E7-2B3B-84C2-D63D-B56B6132DA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CAD99E-1849-467E-9DEF-2C0C854A83DA}" type="slidenum">
              <a:rPr lang="zh-CN" altLang="en-US" smtClean="0"/>
              <a:t>‹#›</a:t>
            </a:fld>
            <a:endParaRPr lang="zh-CN" altLang="en-US"/>
          </a:p>
        </p:txBody>
      </p:sp>
    </p:spTree>
    <p:extLst>
      <p:ext uri="{BB962C8B-B14F-4D97-AF65-F5344CB8AC3E}">
        <p14:creationId xmlns:p14="http://schemas.microsoft.com/office/powerpoint/2010/main" val="847452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www.anthropic.com/news/claude-design-anthropic-labs"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14017-9003-FE6B-C742-A39007392698}"/>
              </a:ext>
            </a:extLst>
          </p:cNvPr>
          <p:cNvSpPr>
            <a:spLocks noGrp="1"/>
          </p:cNvSpPr>
          <p:nvPr>
            <p:ph type="ctrTitle"/>
          </p:nvPr>
        </p:nvSpPr>
        <p:spPr>
          <a:xfrm>
            <a:off x="471714" y="766763"/>
            <a:ext cx="11103429" cy="2387600"/>
          </a:xfrm>
        </p:spPr>
        <p:txBody>
          <a:bodyPr anchor="t">
            <a:noAutofit/>
          </a:bodyPr>
          <a:lstStyle/>
          <a:p>
            <a:pPr algn="l"/>
            <a:r>
              <a:rPr lang="zh-CN" altLang="zh-CN" sz="3600" b="1" dirty="0">
                <a:solidFill>
                  <a:schemeClr val="bg1"/>
                </a:solidFill>
                <a:latin typeface="Arial" panose="020B0604020202020204" pitchFamily="34" charset="0"/>
                <a:cs typeface="Arial" panose="020B0604020202020204" pitchFamily="34" charset="0"/>
              </a:rPr>
              <a:t>Architectures of Power: Political Civilizations along the Silk Road and Cold Wa</a:t>
            </a:r>
            <a:r>
              <a:rPr lang="en-US" altLang="zh-CN" sz="3600" b="1" dirty="0">
                <a:solidFill>
                  <a:schemeClr val="bg1"/>
                </a:solidFill>
                <a:latin typeface="Arial" panose="020B0604020202020204" pitchFamily="34" charset="0"/>
                <a:cs typeface="Arial" panose="020B0604020202020204" pitchFamily="34" charset="0"/>
              </a:rPr>
              <a:t>r</a:t>
            </a:r>
            <a:br>
              <a:rPr lang="zh-CN" altLang="zh-CN" sz="3600" dirty="0">
                <a:solidFill>
                  <a:schemeClr val="bg1"/>
                </a:solidFill>
                <a:latin typeface="Arial" panose="020B0604020202020204" pitchFamily="34" charset="0"/>
                <a:cs typeface="Arial" panose="020B0604020202020204" pitchFamily="34" charset="0"/>
              </a:rPr>
            </a:br>
            <a:r>
              <a:rPr lang="zh-CN" altLang="zh-CN" sz="3600" i="1" dirty="0">
                <a:solidFill>
                  <a:schemeClr val="bg1"/>
                </a:solidFill>
                <a:latin typeface="Arial" panose="020B0604020202020204" pitchFamily="34" charset="0"/>
                <a:cs typeface="Arial" panose="020B0604020202020204" pitchFamily="34" charset="0"/>
              </a:rPr>
              <a:t>A Website Design Project</a:t>
            </a:r>
            <a:br>
              <a:rPr lang="en-US" altLang="zh-CN" sz="3600" i="1" dirty="0">
                <a:solidFill>
                  <a:schemeClr val="bg1"/>
                </a:solidFill>
                <a:latin typeface="Arial" panose="020B0604020202020204" pitchFamily="34" charset="0"/>
                <a:cs typeface="Arial" panose="020B0604020202020204" pitchFamily="34" charset="0"/>
              </a:rPr>
            </a:br>
            <a:br>
              <a:rPr lang="en-US" altLang="zh-CN" sz="3600" i="1" dirty="0">
                <a:solidFill>
                  <a:schemeClr val="bg1"/>
                </a:solidFill>
                <a:latin typeface="Arial" panose="020B0604020202020204" pitchFamily="34" charset="0"/>
                <a:cs typeface="Arial" panose="020B0604020202020204" pitchFamily="34" charset="0"/>
              </a:rPr>
            </a:br>
            <a:r>
              <a:rPr lang="en-US" altLang="zh-CN" sz="2000" i="1" dirty="0">
                <a:solidFill>
                  <a:schemeClr val="bg1"/>
                </a:solidFill>
                <a:latin typeface="Calibri" panose="020F0502020204030204" pitchFamily="34" charset="0"/>
                <a:ea typeface="Calibri" panose="020F0502020204030204" pitchFamily="34" charset="0"/>
                <a:cs typeface="Calibri" panose="020F0502020204030204" pitchFamily="34" charset="0"/>
              </a:rPr>
              <a:t>Letitia 2230025104</a:t>
            </a:r>
            <a:endParaRPr lang="zh-CN" altLang="en-US" sz="3600" dirty="0">
              <a:solidFill>
                <a:schemeClr val="bg1"/>
              </a:solidFill>
              <a:latin typeface="Calibri" panose="020F0502020204030204" pitchFamily="34" charset="0"/>
              <a:cs typeface="Calibri" panose="020F0502020204030204" pitchFamily="34" charset="0"/>
            </a:endParaRPr>
          </a:p>
        </p:txBody>
      </p:sp>
      <p:pic>
        <p:nvPicPr>
          <p:cNvPr id="8" name="Architecture Between Worlds - Google Chrome 2026-05-16 21-08-40">
            <a:hlinkClick r:id="" action="ppaction://media"/>
            <a:extLst>
              <a:ext uri="{FF2B5EF4-FFF2-40B4-BE49-F238E27FC236}">
                <a16:creationId xmlns:a16="http://schemas.microsoft.com/office/drawing/2014/main" id="{115118AA-CDF7-0AD9-BAEF-BDCA30B5F1A1}"/>
              </a:ext>
            </a:extLst>
          </p:cNvPr>
          <p:cNvPicPr>
            <a:picLocks noChangeAspect="1"/>
          </p:cNvPicPr>
          <p:nvPr>
            <a:videoFile r:link="rId1"/>
            <p:extLst>
              <p:ext uri="{DAA4B4D4-6D71-4841-9C94-3DE7FCFB9230}">
                <p14:media xmlns:p14="http://schemas.microsoft.com/office/powerpoint/2010/main" r:embed="rId2">
                  <p14:trim st="7501"/>
                </p14:media>
              </p:ext>
            </p:extLst>
          </p:nvPr>
        </p:nvPicPr>
        <p:blipFill>
          <a:blip r:embed="rId4"/>
          <a:srcRect t="13578"/>
          <a:stretch>
            <a:fillRect/>
          </a:stretch>
        </p:blipFill>
        <p:spPr>
          <a:xfrm>
            <a:off x="4714875" y="2808754"/>
            <a:ext cx="7150554" cy="3835644"/>
          </a:xfrm>
          <a:prstGeom prst="rect">
            <a:avLst/>
          </a:prstGeom>
        </p:spPr>
      </p:pic>
    </p:spTree>
    <p:extLst>
      <p:ext uri="{BB962C8B-B14F-4D97-AF65-F5344CB8AC3E}">
        <p14:creationId xmlns:p14="http://schemas.microsoft.com/office/powerpoint/2010/main" val="157357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88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17185-D56F-B5B8-E8FF-58B9A77F5CBA}"/>
            </a:ext>
          </a:extLst>
        </p:cNvPr>
        <p:cNvGrpSpPr/>
        <p:nvPr/>
      </p:nvGrpSpPr>
      <p:grpSpPr>
        <a:xfrm>
          <a:off x="0" y="0"/>
          <a:ext cx="0" cy="0"/>
          <a:chOff x="0" y="0"/>
          <a:chExt cx="0" cy="0"/>
        </a:xfrm>
      </p:grpSpPr>
      <p:pic>
        <p:nvPicPr>
          <p:cNvPr id="9" name="内容占位符 8">
            <a:extLst>
              <a:ext uri="{FF2B5EF4-FFF2-40B4-BE49-F238E27FC236}">
                <a16:creationId xmlns:a16="http://schemas.microsoft.com/office/drawing/2014/main" id="{9DA03540-39A7-83CD-48C4-F4B62FB3E5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6343" y="1549854"/>
            <a:ext cx="2921000" cy="4611194"/>
          </a:xfrm>
          <a:prstGeom prst="rect">
            <a:avLst/>
          </a:prstGeom>
        </p:spPr>
      </p:pic>
      <p:sp>
        <p:nvSpPr>
          <p:cNvPr id="10" name="内容占位符 2">
            <a:extLst>
              <a:ext uri="{FF2B5EF4-FFF2-40B4-BE49-F238E27FC236}">
                <a16:creationId xmlns:a16="http://schemas.microsoft.com/office/drawing/2014/main" id="{1AFC6913-7A5C-6054-E919-5E825B3BE98C}"/>
              </a:ext>
            </a:extLst>
          </p:cNvPr>
          <p:cNvSpPr txBox="1">
            <a:spLocks/>
          </p:cNvSpPr>
          <p:nvPr/>
        </p:nvSpPr>
        <p:spPr>
          <a:xfrm>
            <a:off x="4470402" y="1549854"/>
            <a:ext cx="7228115" cy="494302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altLang="zh-CN" sz="2400" b="1" dirty="0">
                <a:solidFill>
                  <a:schemeClr val="bg1"/>
                </a:solidFill>
                <a:latin typeface="Calibri" panose="020F0502020204030204" pitchFamily="34" charset="0"/>
                <a:ea typeface="Calibri" panose="020F0502020204030204" pitchFamily="34" charset="0"/>
                <a:cs typeface="Calibri" panose="020F0502020204030204" pitchFamily="34" charset="0"/>
              </a:rPr>
              <a:t>Claude Design - </a:t>
            </a:r>
            <a:r>
              <a:rPr lang="zh-CN" altLang="zh-CN" sz="2400" b="1" dirty="0">
                <a:solidFill>
                  <a:schemeClr val="bg1"/>
                </a:solidFill>
                <a:latin typeface="Calibri" panose="020F0502020204030204" pitchFamily="34" charset="0"/>
                <a:cs typeface="Calibri" panose="020F0502020204030204" pitchFamily="34" charset="0"/>
              </a:rPr>
              <a:t>Starting from </a:t>
            </a:r>
            <a:r>
              <a:rPr lang="en-US" altLang="zh-CN" sz="2400" b="1" dirty="0">
                <a:solidFill>
                  <a:schemeClr val="bg1"/>
                </a:solidFill>
                <a:latin typeface="Calibri" panose="020F0502020204030204" pitchFamily="34" charset="0"/>
                <a:cs typeface="Calibri" panose="020F0502020204030204" pitchFamily="34" charset="0"/>
              </a:rPr>
              <a:t>z</a:t>
            </a:r>
            <a:r>
              <a:rPr lang="zh-CN" altLang="zh-CN" sz="2400" b="1" dirty="0">
                <a:solidFill>
                  <a:schemeClr val="bg1"/>
                </a:solidFill>
                <a:latin typeface="Calibri" panose="020F0502020204030204" pitchFamily="34" charset="0"/>
                <a:cs typeface="Calibri" panose="020F0502020204030204" pitchFamily="34" charset="0"/>
              </a:rPr>
              <a:t>ero</a:t>
            </a:r>
            <a:endParaRPr lang="zh-CN" altLang="zh-CN" sz="2400" dirty="0">
              <a:solidFill>
                <a:schemeClr val="bg1"/>
              </a:solidFill>
              <a:latin typeface="Calibri" panose="020F0502020204030204" pitchFamily="34" charset="0"/>
              <a:cs typeface="Calibri" panose="020F0502020204030204" pitchFamily="34" charset="0"/>
            </a:endParaRPr>
          </a:p>
          <a:p>
            <a:pPr>
              <a:lnSpc>
                <a:spcPct val="110000"/>
              </a:lnSpc>
            </a:pPr>
            <a:r>
              <a:rPr lang="en-US" altLang="zh-CN" sz="2400" dirty="0">
                <a:solidFill>
                  <a:schemeClr val="bg1"/>
                </a:solidFill>
                <a:latin typeface="Calibri" panose="020F0502020204030204" pitchFamily="34" charset="0"/>
                <a:cs typeface="Calibri" panose="020F0502020204030204" pitchFamily="34" charset="0"/>
              </a:rPr>
              <a:t>Launched by Anthropic Labs on April</a:t>
            </a:r>
          </a:p>
          <a:p>
            <a:pPr>
              <a:lnSpc>
                <a:spcPct val="110000"/>
              </a:lnSpc>
            </a:pPr>
            <a:r>
              <a:rPr lang="zh-CN" altLang="zh-CN" sz="2400" dirty="0">
                <a:solidFill>
                  <a:schemeClr val="bg1"/>
                </a:solidFill>
                <a:latin typeface="Calibri" panose="020F0502020204030204" pitchFamily="34" charset="0"/>
                <a:cs typeface="Calibri" panose="020F0502020204030204" pitchFamily="34" charset="0"/>
              </a:rPr>
              <a:t>Defines the initial visual direction</a:t>
            </a:r>
            <a:br>
              <a:rPr lang="zh-CN" altLang="zh-CN" sz="2400" dirty="0">
                <a:solidFill>
                  <a:schemeClr val="bg1"/>
                </a:solidFill>
                <a:latin typeface="Calibri" panose="020F0502020204030204" pitchFamily="34" charset="0"/>
                <a:cs typeface="Calibri" panose="020F0502020204030204" pitchFamily="34" charset="0"/>
              </a:rPr>
            </a:br>
            <a:r>
              <a:rPr lang="zh-CN" altLang="zh-CN" sz="2400" i="1" dirty="0">
                <a:solidFill>
                  <a:schemeClr val="bg1"/>
                </a:solidFill>
                <a:latin typeface="Calibri" panose="020F0502020204030204" pitchFamily="34" charset="0"/>
                <a:cs typeface="Calibri" panose="020F0502020204030204" pitchFamily="34" charset="0"/>
              </a:rPr>
              <a:t>Color palette, typography, image style, and overall atmosphere</a:t>
            </a:r>
            <a:r>
              <a:rPr lang="zh-CN" altLang="zh-CN" sz="2400" dirty="0">
                <a:solidFill>
                  <a:schemeClr val="bg1"/>
                </a:solidFill>
                <a:latin typeface="Calibri" panose="020F0502020204030204" pitchFamily="34" charset="0"/>
                <a:cs typeface="Calibri" panose="020F0502020204030204" pitchFamily="34" charset="0"/>
              </a:rPr>
              <a:t> </a:t>
            </a:r>
          </a:p>
          <a:p>
            <a:pPr>
              <a:lnSpc>
                <a:spcPct val="110000"/>
              </a:lnSpc>
            </a:pPr>
            <a:r>
              <a:rPr lang="zh-CN" altLang="zh-CN" sz="2400" dirty="0">
                <a:solidFill>
                  <a:schemeClr val="bg1"/>
                </a:solidFill>
                <a:latin typeface="Calibri" panose="020F0502020204030204" pitchFamily="34" charset="0"/>
                <a:cs typeface="Calibri" panose="020F0502020204030204" pitchFamily="34" charset="0"/>
              </a:rPr>
              <a:t>Translates references into a coherent design language</a:t>
            </a:r>
            <a:br>
              <a:rPr lang="zh-CN" altLang="zh-CN" sz="2400" dirty="0">
                <a:solidFill>
                  <a:schemeClr val="bg1"/>
                </a:solidFill>
                <a:latin typeface="Calibri" panose="020F0502020204030204" pitchFamily="34" charset="0"/>
                <a:cs typeface="Calibri" panose="020F0502020204030204" pitchFamily="34" charset="0"/>
              </a:rPr>
            </a:br>
            <a:r>
              <a:rPr lang="zh-CN" altLang="zh-CN" sz="2400" i="1" dirty="0">
                <a:solidFill>
                  <a:schemeClr val="bg1"/>
                </a:solidFill>
                <a:latin typeface="Calibri" panose="020F0502020204030204" pitchFamily="34" charset="0"/>
                <a:cs typeface="Calibri" panose="020F0502020204030204" pitchFamily="34" charset="0"/>
              </a:rPr>
              <a:t>Strong ability to analyse and mimic reference styles</a:t>
            </a:r>
            <a:r>
              <a:rPr lang="zh-CN" altLang="zh-CN" sz="2400" dirty="0">
                <a:solidFill>
                  <a:schemeClr val="bg1"/>
                </a:solidFill>
                <a:latin typeface="Calibri" panose="020F0502020204030204" pitchFamily="34" charset="0"/>
                <a:cs typeface="Calibri" panose="020F0502020204030204" pitchFamily="34" charset="0"/>
              </a:rPr>
              <a:t> </a:t>
            </a:r>
          </a:p>
          <a:p>
            <a:pPr>
              <a:lnSpc>
                <a:spcPct val="110000"/>
              </a:lnSpc>
            </a:pPr>
            <a:r>
              <a:rPr lang="zh-CN" altLang="zh-CN" sz="2400" dirty="0">
                <a:solidFill>
                  <a:schemeClr val="bg1"/>
                </a:solidFill>
                <a:latin typeface="Calibri" panose="020F0502020204030204" pitchFamily="34" charset="0"/>
                <a:cs typeface="Calibri" panose="020F0502020204030204" pitchFamily="34" charset="0"/>
              </a:rPr>
              <a:t>Builds the website structure</a:t>
            </a:r>
            <a:br>
              <a:rPr lang="zh-CN" altLang="zh-CN" sz="2400" dirty="0">
                <a:solidFill>
                  <a:schemeClr val="bg1"/>
                </a:solidFill>
                <a:latin typeface="Calibri" panose="020F0502020204030204" pitchFamily="34" charset="0"/>
                <a:cs typeface="Calibri" panose="020F0502020204030204" pitchFamily="34" charset="0"/>
              </a:rPr>
            </a:br>
            <a:r>
              <a:rPr lang="zh-CN" altLang="zh-CN" sz="2400" i="1" dirty="0">
                <a:solidFill>
                  <a:schemeClr val="bg1"/>
                </a:solidFill>
                <a:latin typeface="Calibri" panose="020F0502020204030204" pitchFamily="34" charset="0"/>
                <a:cs typeface="Calibri" panose="020F0502020204030204" pitchFamily="34" charset="0"/>
              </a:rPr>
              <a:t>Sections, page hierarchy, layout logic, and content flow</a:t>
            </a:r>
            <a:endParaRPr lang="en-US" altLang="zh-CN" sz="2400" i="1" dirty="0">
              <a:solidFill>
                <a:schemeClr val="bg1"/>
              </a:solidFill>
              <a:latin typeface="Calibri" panose="020F0502020204030204" pitchFamily="34" charset="0"/>
              <a:cs typeface="Calibri" panose="020F0502020204030204" pitchFamily="34" charset="0"/>
            </a:endParaRPr>
          </a:p>
          <a:p>
            <a:pPr>
              <a:lnSpc>
                <a:spcPct val="110000"/>
              </a:lnSpc>
            </a:pPr>
            <a:r>
              <a:rPr lang="en-US" altLang="zh-CN" sz="2400" dirty="0">
                <a:solidFill>
                  <a:schemeClr val="bg1"/>
                </a:solidFill>
                <a:latin typeface="Calibri" panose="020F0502020204030204" pitchFamily="34" charset="0"/>
                <a:ea typeface="Calibri" panose="020F0502020204030204" pitchFamily="34" charset="0"/>
                <a:cs typeface="Calibri" panose="020F0502020204030204" pitchFamily="34" charset="0"/>
              </a:rPr>
              <a:t>Official Introduction: </a:t>
            </a:r>
            <a:r>
              <a:rPr lang="en-US" altLang="zh-CN" sz="2400" dirty="0">
                <a:solidFill>
                  <a:schemeClr val="bg1"/>
                </a:solidFill>
                <a:latin typeface="Calibri" panose="020F0502020204030204" pitchFamily="34" charset="0"/>
                <a:ea typeface="Calibri" panose="020F0502020204030204" pitchFamily="34" charset="0"/>
                <a:cs typeface="Calibri" panose="020F0502020204030204" pitchFamily="34" charset="0"/>
                <a:hlinkClick r:id="rId3"/>
              </a:rPr>
              <a:t>https://www.anthropic.com/news/claude-design-anthropic-labs</a:t>
            </a:r>
            <a:endParaRPr lang="en-US" altLang="zh-CN"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12" name="图片 11">
            <a:extLst>
              <a:ext uri="{FF2B5EF4-FFF2-40B4-BE49-F238E27FC236}">
                <a16:creationId xmlns:a16="http://schemas.microsoft.com/office/drawing/2014/main" id="{18BB81C2-A942-AAD7-EE07-B75CC4BF17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586" y="1872161"/>
            <a:ext cx="3729099" cy="3706724"/>
          </a:xfrm>
          <a:prstGeom prst="rect">
            <a:avLst/>
          </a:prstGeom>
        </p:spPr>
      </p:pic>
      <p:sp>
        <p:nvSpPr>
          <p:cNvPr id="15" name="标题 1">
            <a:extLst>
              <a:ext uri="{FF2B5EF4-FFF2-40B4-BE49-F238E27FC236}">
                <a16:creationId xmlns:a16="http://schemas.microsoft.com/office/drawing/2014/main" id="{F78B6020-95BE-14C3-B860-A235EE6D631C}"/>
              </a:ext>
            </a:extLst>
          </p:cNvPr>
          <p:cNvSpPr txBox="1">
            <a:spLocks/>
          </p:cNvSpPr>
          <p:nvPr/>
        </p:nvSpPr>
        <p:spPr>
          <a:xfrm>
            <a:off x="838200" y="20602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altLang="zh-CN"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AI Tools: Claude (Design) &amp; Codex</a:t>
            </a:r>
            <a:endParaRPr lang="zh-CN" altLang="en-US" b="1" dirty="0">
              <a:solidFill>
                <a:schemeClr val="bg1"/>
              </a:solidFill>
              <a:latin typeface="Arial" panose="020B0604020202020204" pitchFamily="34" charset="0"/>
              <a:ea typeface="Yu Gothic UI Semibold" panose="020B0700000000000000" pitchFamily="34" charset="-128"/>
              <a:cs typeface="Arial" panose="020B0604020202020204" pitchFamily="34" charset="0"/>
            </a:endParaRPr>
          </a:p>
        </p:txBody>
      </p:sp>
    </p:spTree>
    <p:extLst>
      <p:ext uri="{BB962C8B-B14F-4D97-AF65-F5344CB8AC3E}">
        <p14:creationId xmlns:p14="http://schemas.microsoft.com/office/powerpoint/2010/main" val="386556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EE2E6-BD0C-9585-A357-B7480D5D22B5}"/>
            </a:ext>
          </a:extLst>
        </p:cNvPr>
        <p:cNvGrpSpPr/>
        <p:nvPr/>
      </p:nvGrpSpPr>
      <p:grpSpPr>
        <a:xfrm>
          <a:off x="0" y="0"/>
          <a:ext cx="0" cy="0"/>
          <a:chOff x="0" y="0"/>
          <a:chExt cx="0" cy="0"/>
        </a:xfrm>
      </p:grpSpPr>
      <p:sp>
        <p:nvSpPr>
          <p:cNvPr id="7" name="内容占位符 2">
            <a:extLst>
              <a:ext uri="{FF2B5EF4-FFF2-40B4-BE49-F238E27FC236}">
                <a16:creationId xmlns:a16="http://schemas.microsoft.com/office/drawing/2014/main" id="{20C35271-B352-8879-D056-B6FA0DFA0FC4}"/>
              </a:ext>
            </a:extLst>
          </p:cNvPr>
          <p:cNvSpPr txBox="1">
            <a:spLocks/>
          </p:cNvSpPr>
          <p:nvPr/>
        </p:nvSpPr>
        <p:spPr>
          <a:xfrm>
            <a:off x="7353661" y="1602015"/>
            <a:ext cx="4499431" cy="43502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altLang="zh-CN" sz="2400" b="1" dirty="0">
                <a:solidFill>
                  <a:schemeClr val="bg1"/>
                </a:solidFill>
                <a:latin typeface="Calibri" panose="020F0502020204030204" pitchFamily="34" charset="0"/>
                <a:ea typeface="Calibri" panose="020F0502020204030204" pitchFamily="34" charset="0"/>
                <a:cs typeface="Calibri" panose="020F0502020204030204" pitchFamily="34" charset="0"/>
              </a:rPr>
              <a:t>Codex – </a:t>
            </a:r>
            <a:r>
              <a:rPr lang="en-US" altLang="zh-CN" sz="2400" b="1" dirty="0">
                <a:solidFill>
                  <a:schemeClr val="bg1"/>
                </a:solidFill>
                <a:latin typeface="Calibri" panose="020F0502020204030204" pitchFamily="34" charset="0"/>
                <a:cs typeface="Calibri" panose="020F0502020204030204" pitchFamily="34" charset="0"/>
              </a:rPr>
              <a:t>Vibe-coding</a:t>
            </a:r>
          </a:p>
          <a:p>
            <a:pPr>
              <a:lnSpc>
                <a:spcPct val="110000"/>
              </a:lnSpc>
            </a:pPr>
            <a:r>
              <a:rPr lang="en-US" altLang="zh-CN" sz="2400" dirty="0">
                <a:solidFill>
                  <a:schemeClr val="bg1"/>
                </a:solidFill>
                <a:latin typeface="Calibri" panose="020F0502020204030204" pitchFamily="34" charset="0"/>
                <a:cs typeface="Calibri" panose="020F0502020204030204" pitchFamily="34" charset="0"/>
              </a:rPr>
              <a:t>Tackle Claude Design’s limitations in scarce (and expensive!) tokens</a:t>
            </a:r>
          </a:p>
          <a:p>
            <a:pPr>
              <a:lnSpc>
                <a:spcPct val="110000"/>
              </a:lnSpc>
            </a:pPr>
            <a:r>
              <a:rPr lang="en-US" altLang="zh-CN" sz="2400" dirty="0">
                <a:solidFill>
                  <a:schemeClr val="bg1"/>
                </a:solidFill>
                <a:latin typeface="Calibri" panose="020F0502020204030204" pitchFamily="34" charset="0"/>
                <a:cs typeface="Calibri" panose="020F0502020204030204" pitchFamily="34" charset="0"/>
              </a:rPr>
              <a:t>Clearer preview window for point-to-point comments and revisions</a:t>
            </a:r>
          </a:p>
          <a:p>
            <a:pPr>
              <a:lnSpc>
                <a:spcPct val="110000"/>
              </a:lnSpc>
            </a:pPr>
            <a:r>
              <a:rPr lang="en-US" altLang="zh-CN" sz="2400" dirty="0">
                <a:solidFill>
                  <a:schemeClr val="bg1"/>
                </a:solidFill>
                <a:latin typeface="Calibri" panose="020F0502020204030204" pitchFamily="34" charset="0"/>
                <a:cs typeface="Calibri" panose="020F0502020204030204" pitchFamily="34" charset="0"/>
              </a:rPr>
              <a:t>Better file-level editing for final technical polish</a:t>
            </a:r>
            <a:endParaRPr lang="zh-CN" altLang="zh-CN" sz="2400" dirty="0">
              <a:solidFill>
                <a:schemeClr val="bg1"/>
              </a:solidFill>
              <a:latin typeface="Calibri" panose="020F0502020204030204" pitchFamily="34" charset="0"/>
              <a:cs typeface="Calibri" panose="020F0502020204030204" pitchFamily="34" charset="0"/>
            </a:endParaRPr>
          </a:p>
        </p:txBody>
      </p:sp>
      <p:pic>
        <p:nvPicPr>
          <p:cNvPr id="11" name="图片 10">
            <a:extLst>
              <a:ext uri="{FF2B5EF4-FFF2-40B4-BE49-F238E27FC236}">
                <a16:creationId xmlns:a16="http://schemas.microsoft.com/office/drawing/2014/main" id="{4619CEB9-EB03-1B2F-1229-7F661659DC02}"/>
              </a:ext>
            </a:extLst>
          </p:cNvPr>
          <p:cNvPicPr>
            <a:picLocks noChangeAspect="1"/>
          </p:cNvPicPr>
          <p:nvPr/>
        </p:nvPicPr>
        <p:blipFill>
          <a:blip r:embed="rId2"/>
          <a:stretch>
            <a:fillRect/>
          </a:stretch>
        </p:blipFill>
        <p:spPr>
          <a:xfrm>
            <a:off x="396964" y="1734231"/>
            <a:ext cx="6537233" cy="4085771"/>
          </a:xfrm>
          <a:prstGeom prst="rect">
            <a:avLst/>
          </a:prstGeom>
        </p:spPr>
      </p:pic>
      <p:sp>
        <p:nvSpPr>
          <p:cNvPr id="13" name="标题 1">
            <a:extLst>
              <a:ext uri="{FF2B5EF4-FFF2-40B4-BE49-F238E27FC236}">
                <a16:creationId xmlns:a16="http://schemas.microsoft.com/office/drawing/2014/main" id="{C1F56C29-A724-5456-20A7-980AE942E23D}"/>
              </a:ext>
            </a:extLst>
          </p:cNvPr>
          <p:cNvSpPr txBox="1">
            <a:spLocks/>
          </p:cNvSpPr>
          <p:nvPr/>
        </p:nvSpPr>
        <p:spPr>
          <a:xfrm>
            <a:off x="838200" y="20602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altLang="zh-CN"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AI Tools: Claude (Design) &amp; Codex</a:t>
            </a:r>
            <a:endParaRPr lang="zh-CN" altLang="en-US" b="1" dirty="0">
              <a:solidFill>
                <a:schemeClr val="bg1"/>
              </a:solidFill>
              <a:latin typeface="Arial" panose="020B0604020202020204" pitchFamily="34" charset="0"/>
              <a:ea typeface="Yu Gothic UI Semibold" panose="020B0700000000000000" pitchFamily="34" charset="-128"/>
              <a:cs typeface="Arial" panose="020B0604020202020204" pitchFamily="34" charset="0"/>
            </a:endParaRPr>
          </a:p>
        </p:txBody>
      </p:sp>
    </p:spTree>
    <p:extLst>
      <p:ext uri="{BB962C8B-B14F-4D97-AF65-F5344CB8AC3E}">
        <p14:creationId xmlns:p14="http://schemas.microsoft.com/office/powerpoint/2010/main" val="1165189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0235D-C172-27F2-031B-85A76760181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97C231-2650-AB47-8AE4-B34F84E127A2}"/>
              </a:ext>
            </a:extLst>
          </p:cNvPr>
          <p:cNvSpPr>
            <a:spLocks noGrp="1"/>
          </p:cNvSpPr>
          <p:nvPr>
            <p:ph type="title"/>
          </p:nvPr>
        </p:nvSpPr>
        <p:spPr>
          <a:xfrm>
            <a:off x="838200" y="206022"/>
            <a:ext cx="10515600" cy="1325563"/>
          </a:xfrm>
        </p:spPr>
        <p:txBody>
          <a:bodyPr/>
          <a:lstStyle/>
          <a:p>
            <a:r>
              <a:rPr lang="en-US" altLang="zh-CN"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Why </a:t>
            </a:r>
            <a:r>
              <a:rPr lang="zh-CN" altLang="zh-CN" b="1" dirty="0">
                <a:solidFill>
                  <a:schemeClr val="bg1"/>
                </a:solidFill>
                <a:latin typeface="Arial" panose="020B0604020202020204" pitchFamily="34" charset="0"/>
                <a:cs typeface="Arial" panose="020B0604020202020204" pitchFamily="34" charset="0"/>
              </a:rPr>
              <a:t>Silk Road and Cold Wa</a:t>
            </a:r>
            <a:r>
              <a:rPr lang="en-US" altLang="zh-CN" b="1" dirty="0">
                <a:solidFill>
                  <a:schemeClr val="bg1"/>
                </a:solidFill>
                <a:latin typeface="Arial" panose="020B0604020202020204" pitchFamily="34" charset="0"/>
                <a:cs typeface="Arial" panose="020B0604020202020204" pitchFamily="34" charset="0"/>
              </a:rPr>
              <a:t>r?</a:t>
            </a:r>
            <a:endParaRPr lang="zh-CN" altLang="en-US" b="1" dirty="0">
              <a:solidFill>
                <a:schemeClr val="bg1"/>
              </a:solidFill>
              <a:latin typeface="Arial" panose="020B0604020202020204" pitchFamily="34" charset="0"/>
              <a:ea typeface="Yu Gothic UI Semibold" panose="020B0700000000000000" pitchFamily="34" charset="-128"/>
              <a:cs typeface="Arial" panose="020B0604020202020204" pitchFamily="34" charset="0"/>
            </a:endParaRPr>
          </a:p>
        </p:txBody>
      </p:sp>
      <p:pic>
        <p:nvPicPr>
          <p:cNvPr id="16" name="图片 15">
            <a:extLst>
              <a:ext uri="{FF2B5EF4-FFF2-40B4-BE49-F238E27FC236}">
                <a16:creationId xmlns:a16="http://schemas.microsoft.com/office/drawing/2014/main" id="{8823F4CF-0FFB-E01B-5D11-16BC23A6B2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0951" y="1336688"/>
            <a:ext cx="5830097" cy="5209255"/>
          </a:xfrm>
          <a:prstGeom prst="rect">
            <a:avLst/>
          </a:prstGeom>
        </p:spPr>
      </p:pic>
    </p:spTree>
    <p:extLst>
      <p:ext uri="{BB962C8B-B14F-4D97-AF65-F5344CB8AC3E}">
        <p14:creationId xmlns:p14="http://schemas.microsoft.com/office/powerpoint/2010/main" val="678049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33FD4-E510-D03C-FAEB-AB92A77C69E1}"/>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D6D3092C-2760-1DCF-7CAE-5AE200703D7F}"/>
              </a:ext>
            </a:extLst>
          </p:cNvPr>
          <p:cNvPicPr>
            <a:picLocks noChangeAspect="1"/>
          </p:cNvPicPr>
          <p:nvPr/>
        </p:nvPicPr>
        <p:blipFill>
          <a:blip r:embed="rId2">
            <a:extLst>
              <a:ext uri="{28A0092B-C50C-407E-A947-70E740481C1C}">
                <a14:useLocalDpi xmlns:a14="http://schemas.microsoft.com/office/drawing/2010/main" val="0"/>
              </a:ext>
            </a:extLst>
          </a:blip>
          <a:srcRect r="3044"/>
          <a:stretch>
            <a:fillRect/>
          </a:stretch>
        </p:blipFill>
        <p:spPr>
          <a:xfrm>
            <a:off x="2356787" y="1520698"/>
            <a:ext cx="7403163" cy="5054810"/>
          </a:xfrm>
          <a:prstGeom prst="rect">
            <a:avLst/>
          </a:prstGeom>
        </p:spPr>
      </p:pic>
      <p:sp>
        <p:nvSpPr>
          <p:cNvPr id="5" name="标题 1">
            <a:extLst>
              <a:ext uri="{FF2B5EF4-FFF2-40B4-BE49-F238E27FC236}">
                <a16:creationId xmlns:a16="http://schemas.microsoft.com/office/drawing/2014/main" id="{6D235188-B8FF-BDA6-D7F1-6B15E097D718}"/>
              </a:ext>
            </a:extLst>
          </p:cNvPr>
          <p:cNvSpPr>
            <a:spLocks noGrp="1"/>
          </p:cNvSpPr>
          <p:nvPr>
            <p:ph type="title"/>
          </p:nvPr>
        </p:nvSpPr>
        <p:spPr>
          <a:xfrm>
            <a:off x="838200" y="206022"/>
            <a:ext cx="10515600" cy="1325563"/>
          </a:xfrm>
        </p:spPr>
        <p:txBody>
          <a:bodyPr>
            <a:noAutofit/>
          </a:bodyPr>
          <a:lstStyle/>
          <a:p>
            <a: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Comparison of </a:t>
            </a:r>
            <a:r>
              <a:rPr lang="en-US" altLang="zh-CN" sz="2800" b="1" dirty="0">
                <a:solidFill>
                  <a:srgbClr val="C00000"/>
                </a:solidFill>
                <a:latin typeface="Arial" panose="020B0604020202020204" pitchFamily="34" charset="0"/>
                <a:ea typeface="Yu Gothic UI Semibold" panose="020B0700000000000000" pitchFamily="34" charset="-128"/>
                <a:cs typeface="Arial" panose="020B0604020202020204" pitchFamily="34" charset="0"/>
              </a:rPr>
              <a:t>Agency</a:t>
            </a:r>
            <a: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 </a:t>
            </a:r>
            <a:b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br>
            <a:r>
              <a:rPr lang="en-GB" altLang="zh-CN" sz="2800" b="1" i="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Giant Wild Goose Pagoda </a:t>
            </a:r>
            <a: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vs </a:t>
            </a:r>
            <a:r>
              <a:rPr lang="en-US" altLang="zh-CN" sz="2800" b="1" i="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Palace of Culture and Science</a:t>
            </a:r>
            <a:endParaRPr lang="zh-CN" altLang="en-US" sz="2800" b="1" i="1" dirty="0">
              <a:solidFill>
                <a:schemeClr val="bg1"/>
              </a:solidFill>
              <a:latin typeface="Arial" panose="020B0604020202020204" pitchFamily="34" charset="0"/>
              <a:ea typeface="Yu Gothic UI Semibold" panose="020B0700000000000000" pitchFamily="34" charset="-128"/>
              <a:cs typeface="Arial" panose="020B0604020202020204" pitchFamily="34" charset="0"/>
            </a:endParaRPr>
          </a:p>
        </p:txBody>
      </p:sp>
    </p:spTree>
    <p:extLst>
      <p:ext uri="{BB962C8B-B14F-4D97-AF65-F5344CB8AC3E}">
        <p14:creationId xmlns:p14="http://schemas.microsoft.com/office/powerpoint/2010/main" val="3663691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A87AC-E0F0-9260-022D-46495536D04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01E3EDE-E951-B6C0-59F9-0D685AEF8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6787" y="1452456"/>
            <a:ext cx="7478425" cy="5122584"/>
          </a:xfrm>
          <a:prstGeom prst="rect">
            <a:avLst/>
          </a:prstGeom>
        </p:spPr>
      </p:pic>
      <p:sp>
        <p:nvSpPr>
          <p:cNvPr id="5" name="标题 1">
            <a:extLst>
              <a:ext uri="{FF2B5EF4-FFF2-40B4-BE49-F238E27FC236}">
                <a16:creationId xmlns:a16="http://schemas.microsoft.com/office/drawing/2014/main" id="{89BE6596-23A6-AAE0-630D-5FF6F9B97FC3}"/>
              </a:ext>
            </a:extLst>
          </p:cNvPr>
          <p:cNvSpPr>
            <a:spLocks noGrp="1"/>
          </p:cNvSpPr>
          <p:nvPr>
            <p:ph type="title"/>
          </p:nvPr>
        </p:nvSpPr>
        <p:spPr>
          <a:xfrm>
            <a:off x="838200" y="206022"/>
            <a:ext cx="10515600" cy="1325563"/>
          </a:xfrm>
        </p:spPr>
        <p:txBody>
          <a:bodyPr>
            <a:noAutofit/>
          </a:bodyPr>
          <a:lstStyle/>
          <a:p>
            <a: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Comparison of</a:t>
            </a:r>
            <a:r>
              <a:rPr lang="zh-CN" altLang="en-US"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 </a:t>
            </a:r>
            <a:r>
              <a:rPr lang="en-US" altLang="zh-CN" sz="2800" b="1" dirty="0">
                <a:solidFill>
                  <a:srgbClr val="C00000"/>
                </a:solidFill>
                <a:latin typeface="Arial" panose="020B0604020202020204" pitchFamily="34" charset="0"/>
                <a:ea typeface="Yu Gothic UI Semibold" panose="020B0700000000000000" pitchFamily="34" charset="-128"/>
                <a:cs typeface="Arial" panose="020B0604020202020204" pitchFamily="34" charset="0"/>
              </a:rPr>
              <a:t>Form</a:t>
            </a:r>
            <a: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 </a:t>
            </a:r>
            <a:b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br>
            <a:r>
              <a:rPr lang="en-GB" altLang="zh-CN" sz="2800" b="1" i="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Giant Wild Goose Pagoda </a:t>
            </a:r>
            <a: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vs </a:t>
            </a:r>
            <a:r>
              <a:rPr lang="en-US" altLang="zh-CN" sz="2800" b="1" i="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Palace of Culture and Science</a:t>
            </a:r>
            <a:endParaRPr lang="zh-CN" altLang="en-US" sz="2800" b="1" i="1" dirty="0">
              <a:solidFill>
                <a:schemeClr val="bg1"/>
              </a:solidFill>
              <a:latin typeface="Arial" panose="020B0604020202020204" pitchFamily="34" charset="0"/>
              <a:ea typeface="Yu Gothic UI Semibold" panose="020B0700000000000000" pitchFamily="34" charset="-128"/>
              <a:cs typeface="Arial" panose="020B0604020202020204" pitchFamily="34" charset="0"/>
            </a:endParaRPr>
          </a:p>
        </p:txBody>
      </p:sp>
    </p:spTree>
    <p:extLst>
      <p:ext uri="{BB962C8B-B14F-4D97-AF65-F5344CB8AC3E}">
        <p14:creationId xmlns:p14="http://schemas.microsoft.com/office/powerpoint/2010/main" val="2132658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E5D3F-FF97-E86E-1EA7-31012DBFA4D1}"/>
            </a:ext>
          </a:extLst>
        </p:cNvPr>
        <p:cNvGrpSpPr/>
        <p:nvPr/>
      </p:nvGrpSpPr>
      <p:grpSpPr>
        <a:xfrm>
          <a:off x="0" y="0"/>
          <a:ext cx="0" cy="0"/>
          <a:chOff x="0" y="0"/>
          <a:chExt cx="0" cy="0"/>
        </a:xfrm>
      </p:grpSpPr>
      <p:sp>
        <p:nvSpPr>
          <p:cNvPr id="5" name="标题 1">
            <a:extLst>
              <a:ext uri="{FF2B5EF4-FFF2-40B4-BE49-F238E27FC236}">
                <a16:creationId xmlns:a16="http://schemas.microsoft.com/office/drawing/2014/main" id="{17AE3667-67BA-ECFF-E202-841838DDDAB0}"/>
              </a:ext>
            </a:extLst>
          </p:cNvPr>
          <p:cNvSpPr>
            <a:spLocks noGrp="1"/>
          </p:cNvSpPr>
          <p:nvPr>
            <p:ph type="title"/>
          </p:nvPr>
        </p:nvSpPr>
        <p:spPr>
          <a:xfrm>
            <a:off x="838200" y="206022"/>
            <a:ext cx="10515600" cy="1325563"/>
          </a:xfrm>
        </p:spPr>
        <p:txBody>
          <a:bodyPr>
            <a:noAutofit/>
          </a:bodyPr>
          <a:lstStyle/>
          <a:p>
            <a: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Comparison of</a:t>
            </a:r>
            <a:r>
              <a:rPr lang="zh-CN" altLang="en-US"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 </a:t>
            </a:r>
            <a:r>
              <a:rPr lang="en-US" altLang="zh-CN" sz="2800" b="1" dirty="0">
                <a:solidFill>
                  <a:srgbClr val="C00000"/>
                </a:solidFill>
                <a:latin typeface="Arial" panose="020B0604020202020204" pitchFamily="34" charset="0"/>
                <a:ea typeface="Yu Gothic UI Semibold" panose="020B0700000000000000" pitchFamily="34" charset="-128"/>
                <a:cs typeface="Arial" panose="020B0604020202020204" pitchFamily="34" charset="0"/>
              </a:rPr>
              <a:t>Legacy</a:t>
            </a:r>
            <a: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 </a:t>
            </a:r>
            <a:b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br>
            <a:r>
              <a:rPr lang="en-GB" altLang="zh-CN" sz="2800" b="1" i="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Giant Wild Goose Pagoda </a:t>
            </a:r>
            <a:r>
              <a:rPr lang="en-US" altLang="zh-CN" sz="2800" b="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vs </a:t>
            </a:r>
            <a:r>
              <a:rPr lang="en-US" altLang="zh-CN" sz="2800" b="1" i="1" dirty="0">
                <a:solidFill>
                  <a:schemeClr val="bg1"/>
                </a:solidFill>
                <a:latin typeface="Arial" panose="020B0604020202020204" pitchFamily="34" charset="0"/>
                <a:ea typeface="Yu Gothic UI Semibold" panose="020B0700000000000000" pitchFamily="34" charset="-128"/>
                <a:cs typeface="Arial" panose="020B0604020202020204" pitchFamily="34" charset="0"/>
              </a:rPr>
              <a:t>Palace of Culture and Science</a:t>
            </a:r>
            <a:endParaRPr lang="zh-CN" altLang="en-US" sz="2800" b="1" i="1" dirty="0">
              <a:solidFill>
                <a:schemeClr val="bg1"/>
              </a:solidFill>
              <a:latin typeface="Arial" panose="020B0604020202020204" pitchFamily="34" charset="0"/>
              <a:ea typeface="Yu Gothic UI Semibold" panose="020B0700000000000000" pitchFamily="34" charset="-128"/>
              <a:cs typeface="Arial" panose="020B0604020202020204" pitchFamily="34" charset="0"/>
            </a:endParaRPr>
          </a:p>
        </p:txBody>
      </p:sp>
      <p:pic>
        <p:nvPicPr>
          <p:cNvPr id="4" name="图片 3">
            <a:extLst>
              <a:ext uri="{FF2B5EF4-FFF2-40B4-BE49-F238E27FC236}">
                <a16:creationId xmlns:a16="http://schemas.microsoft.com/office/drawing/2014/main" id="{E1E658F8-5545-6F93-F78D-F1B60FE57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6787" y="1452456"/>
            <a:ext cx="7478425" cy="5094394"/>
          </a:xfrm>
          <a:prstGeom prst="rect">
            <a:avLst/>
          </a:prstGeom>
        </p:spPr>
      </p:pic>
    </p:spTree>
    <p:extLst>
      <p:ext uri="{BB962C8B-B14F-4D97-AF65-F5344CB8AC3E}">
        <p14:creationId xmlns:p14="http://schemas.microsoft.com/office/powerpoint/2010/main" val="2162596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49BBB-6F1F-739B-5768-6CCAF6202B3E}"/>
            </a:ext>
          </a:extLst>
        </p:cNvPr>
        <p:cNvGrpSpPr/>
        <p:nvPr/>
      </p:nvGrpSpPr>
      <p:grpSpPr>
        <a:xfrm>
          <a:off x="0" y="0"/>
          <a:ext cx="0" cy="0"/>
          <a:chOff x="0" y="0"/>
          <a:chExt cx="0" cy="0"/>
        </a:xfrm>
      </p:grpSpPr>
      <p:sp>
        <p:nvSpPr>
          <p:cNvPr id="7" name="内容占位符 2">
            <a:extLst>
              <a:ext uri="{FF2B5EF4-FFF2-40B4-BE49-F238E27FC236}">
                <a16:creationId xmlns:a16="http://schemas.microsoft.com/office/drawing/2014/main" id="{52951DBE-6A43-5870-182C-6E7F929CBF3B}"/>
              </a:ext>
            </a:extLst>
          </p:cNvPr>
          <p:cNvSpPr txBox="1">
            <a:spLocks/>
          </p:cNvSpPr>
          <p:nvPr/>
        </p:nvSpPr>
        <p:spPr>
          <a:xfrm>
            <a:off x="939800" y="1130759"/>
            <a:ext cx="10312399"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altLang="zh-CN" sz="180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Contemporary projects may support inclusion, identity, cooperation, and shared infrastructure. They may also expose unequal access, institutional leverage, environmental costs, or unresolved histories. Their future meaning will depend not only on design intent but on governance, maintenance, public use, adaptation, and the communities that inherit them.</a:t>
            </a:r>
            <a:endParaRPr kumimoji="0" lang="zh-CN" altLang="zh-CN" sz="1800" i="0" u="none" strike="noStrike" kern="1200" cap="none" spc="0" normalizeH="0" baseline="0" noProof="0" dirty="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3" name="标题 1">
            <a:extLst>
              <a:ext uri="{FF2B5EF4-FFF2-40B4-BE49-F238E27FC236}">
                <a16:creationId xmlns:a16="http://schemas.microsoft.com/office/drawing/2014/main" id="{FCE401BF-5A5B-4C88-2768-B018E43D119E}"/>
              </a:ext>
            </a:extLst>
          </p:cNvPr>
          <p:cNvSpPr txBox="1">
            <a:spLocks/>
          </p:cNvSpPr>
          <p:nvPr/>
        </p:nvSpPr>
        <p:spPr>
          <a:xfrm>
            <a:off x="838200" y="20602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Yu Gothic UI Semibold" panose="020B0700000000000000" pitchFamily="34" charset="-128"/>
                <a:cs typeface="Arial" panose="020B0604020202020204" pitchFamily="34" charset="0"/>
              </a:rPr>
              <a:t>How will today's encounters be reinterpreted?</a:t>
            </a: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Yu Gothic UI Semibold" panose="020B0700000000000000" pitchFamily="34" charset="-128"/>
              <a:cs typeface="Arial" panose="020B0604020202020204" pitchFamily="34" charset="0"/>
            </a:endParaRPr>
          </a:p>
        </p:txBody>
      </p:sp>
      <p:pic>
        <p:nvPicPr>
          <p:cNvPr id="4" name="图片 3" descr="Dubai’s Five Urban Hubs: A Vision for 2040">
            <a:extLst>
              <a:ext uri="{FF2B5EF4-FFF2-40B4-BE49-F238E27FC236}">
                <a16:creationId xmlns:a16="http://schemas.microsoft.com/office/drawing/2014/main" id="{7A7E3C23-49DC-356B-141B-7FC2D469D594}"/>
              </a:ext>
            </a:extLst>
          </p:cNvPr>
          <p:cNvPicPr>
            <a:picLocks noChangeAspect="1"/>
          </p:cNvPicPr>
          <p:nvPr/>
        </p:nvPicPr>
        <p:blipFill>
          <a:blip r:embed="rId2"/>
          <a:stretch>
            <a:fillRect/>
          </a:stretch>
        </p:blipFill>
        <p:spPr>
          <a:xfrm>
            <a:off x="7162029" y="2591029"/>
            <a:ext cx="3759963" cy="2120671"/>
          </a:xfrm>
          <a:prstGeom prst="rect">
            <a:avLst/>
          </a:prstGeom>
        </p:spPr>
      </p:pic>
      <p:pic>
        <p:nvPicPr>
          <p:cNvPr id="5" name="图片 4" descr="Belt And Road Initiative Bri | semashow.com">
            <a:extLst>
              <a:ext uri="{FF2B5EF4-FFF2-40B4-BE49-F238E27FC236}">
                <a16:creationId xmlns:a16="http://schemas.microsoft.com/office/drawing/2014/main" id="{037D1F56-5010-5AB6-A0AF-A583307D30C7}"/>
              </a:ext>
            </a:extLst>
          </p:cNvPr>
          <p:cNvPicPr>
            <a:picLocks noChangeAspect="1"/>
          </p:cNvPicPr>
          <p:nvPr/>
        </p:nvPicPr>
        <p:blipFill>
          <a:blip r:embed="rId3"/>
          <a:stretch>
            <a:fillRect/>
          </a:stretch>
        </p:blipFill>
        <p:spPr>
          <a:xfrm>
            <a:off x="990599" y="2591028"/>
            <a:ext cx="4039374" cy="2120672"/>
          </a:xfrm>
          <a:prstGeom prst="rect">
            <a:avLst/>
          </a:prstGeom>
        </p:spPr>
      </p:pic>
      <p:pic>
        <p:nvPicPr>
          <p:cNvPr id="8" name="图片 7">
            <a:extLst>
              <a:ext uri="{FF2B5EF4-FFF2-40B4-BE49-F238E27FC236}">
                <a16:creationId xmlns:a16="http://schemas.microsoft.com/office/drawing/2014/main" id="{8DDBCAE7-6A5F-1E0C-E812-1C64FC21D0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846" y="5057017"/>
            <a:ext cx="3714750" cy="1314450"/>
          </a:xfrm>
          <a:prstGeom prst="rect">
            <a:avLst/>
          </a:prstGeom>
        </p:spPr>
      </p:pic>
      <p:pic>
        <p:nvPicPr>
          <p:cNvPr id="10" name="图片 9">
            <a:extLst>
              <a:ext uri="{FF2B5EF4-FFF2-40B4-BE49-F238E27FC236}">
                <a16:creationId xmlns:a16="http://schemas.microsoft.com/office/drawing/2014/main" id="{3A2D6426-64FD-614B-82B0-8498775217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68657" y="5057018"/>
            <a:ext cx="3654686" cy="1314450"/>
          </a:xfrm>
          <a:prstGeom prst="rect">
            <a:avLst/>
          </a:prstGeom>
        </p:spPr>
      </p:pic>
      <p:pic>
        <p:nvPicPr>
          <p:cNvPr id="14" name="图片 13">
            <a:extLst>
              <a:ext uri="{FF2B5EF4-FFF2-40B4-BE49-F238E27FC236}">
                <a16:creationId xmlns:a16="http://schemas.microsoft.com/office/drawing/2014/main" id="{D5BBB3DF-EDF8-4207-DBFA-1F39BE6801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14404" y="5057016"/>
            <a:ext cx="3435032" cy="1314451"/>
          </a:xfrm>
          <a:prstGeom prst="rect">
            <a:avLst/>
          </a:prstGeom>
        </p:spPr>
      </p:pic>
    </p:spTree>
    <p:extLst>
      <p:ext uri="{BB962C8B-B14F-4D97-AF65-F5344CB8AC3E}">
        <p14:creationId xmlns:p14="http://schemas.microsoft.com/office/powerpoint/2010/main" val="237805672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263</Words>
  <Application>Microsoft Office PowerPoint</Application>
  <PresentationFormat>宽屏</PresentationFormat>
  <Paragraphs>19</Paragraphs>
  <Slides>8</Slides>
  <Notes>0</Notes>
  <HiddenSlides>0</HiddenSlides>
  <MMClips>1</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等线</vt:lpstr>
      <vt:lpstr>等线 Light</vt:lpstr>
      <vt:lpstr>Arial</vt:lpstr>
      <vt:lpstr>Calibri</vt:lpstr>
      <vt:lpstr>Office 主题​​</vt:lpstr>
      <vt:lpstr>Architectures of Power: Political Civilizations along the Silk Road and Cold War A Website Design Project  Letitia 2230025104</vt:lpstr>
      <vt:lpstr>PowerPoint 演示文稿</vt:lpstr>
      <vt:lpstr>PowerPoint 演示文稿</vt:lpstr>
      <vt:lpstr>Why Silk Road and Cold War?</vt:lpstr>
      <vt:lpstr>Comparison of Agency:  Giant Wild Goose Pagoda vs Palace of Culture and Science</vt:lpstr>
      <vt:lpstr>Comparison of Form:  Giant Wild Goose Pagoda vs Palace of Culture and Science</vt:lpstr>
      <vt:lpstr>Comparison of Legacy:  Giant Wild Goose Pagoda vs Palace of Culture and Science</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Letitia Zhang</dc:creator>
  <cp:lastModifiedBy>Letitia Zhang</cp:lastModifiedBy>
  <cp:revision>24</cp:revision>
  <dcterms:created xsi:type="dcterms:W3CDTF">2026-05-16T13:07:25Z</dcterms:created>
  <dcterms:modified xsi:type="dcterms:W3CDTF">2026-05-16T14:54:23Z</dcterms:modified>
</cp:coreProperties>
</file>