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311" r:id="rId2"/>
    <p:sldId id="317" r:id="rId3"/>
    <p:sldId id="288" r:id="rId4"/>
    <p:sldId id="266" r:id="rId5"/>
    <p:sldId id="316" r:id="rId6"/>
    <p:sldId id="274" r:id="rId7"/>
    <p:sldId id="270" r:id="rId8"/>
    <p:sldId id="285" r:id="rId9"/>
    <p:sldId id="262" r:id="rId10"/>
    <p:sldId id="258" r:id="rId11"/>
    <p:sldId id="314" r:id="rId12"/>
    <p:sldId id="315" r:id="rId13"/>
    <p:sldId id="273" r:id="rId14"/>
    <p:sldId id="313" r:id="rId15"/>
  </p:sldIdLst>
  <p:sldSz cx="18288000" cy="10287000"/>
  <p:notesSz cx="6858000" cy="9144000"/>
  <p:embeddedFontLst>
    <p:embeddedFont>
      <p:font typeface="Arimo" panose="02010600030101010101" charset="0"/>
      <p:regular r:id="rId17"/>
    </p:embeddedFont>
    <p:embeddedFont>
      <p:font typeface="微软雅黑" panose="020B0503020204020204" pitchFamily="34" charset="-122"/>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9" userDrawn="1">
          <p15:clr>
            <a:srgbClr val="A4A3A4"/>
          </p15:clr>
        </p15:guide>
        <p15:guide id="2" pos="28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4E2"/>
    <a:srgbClr val="EDEBE9"/>
    <a:srgbClr val="EBEBEA"/>
    <a:srgbClr val="EBEAE9"/>
    <a:srgbClr val="063E76"/>
    <a:srgbClr val="E8BA73"/>
    <a:srgbClr val="AF4017"/>
    <a:srgbClr val="26120B"/>
    <a:srgbClr val="9B7D3E"/>
    <a:srgbClr val="540E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87" autoAdjust="0"/>
    <p:restoredTop sz="93503" autoAdjust="0"/>
  </p:normalViewPr>
  <p:slideViewPr>
    <p:cSldViewPr showGuides="1">
      <p:cViewPr varScale="1">
        <p:scale>
          <a:sx n="44" d="100"/>
          <a:sy n="44" d="100"/>
        </p:scale>
        <p:origin x="254" y="53"/>
      </p:cViewPr>
      <p:guideLst>
        <p:guide orient="horz" pos="2129"/>
        <p:guide pos="2853"/>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772550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6200" y="-114300"/>
            <a:ext cx="18440400" cy="3733800"/>
          </a:xfrm>
          <a:prstGeom prst="rect">
            <a:avLst/>
          </a:prstGeom>
          <a:gradFill>
            <a:gsLst>
              <a:gs pos="0">
                <a:schemeClr val="accent1">
                  <a:lumMod val="50000"/>
                </a:schemeClr>
              </a:gs>
              <a:gs pos="100000">
                <a:schemeClr val="tx1">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 name="Group 2"/>
          <p:cNvGrpSpPr/>
          <p:nvPr/>
        </p:nvGrpSpPr>
        <p:grpSpPr>
          <a:xfrm>
            <a:off x="29" y="3619519"/>
            <a:ext cx="18287999" cy="10287000"/>
            <a:chOff x="-101600" y="762000"/>
            <a:chExt cx="24384000" cy="13716000"/>
          </a:xfrm>
        </p:grpSpPr>
        <p:sp>
          <p:nvSpPr>
            <p:cNvPr id="3" name="Freeform 3"/>
            <p:cNvSpPr/>
            <p:nvPr/>
          </p:nvSpPr>
          <p:spPr>
            <a:xfrm>
              <a:off x="-101600" y="76200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53000"/>
              </a:blip>
              <a:stretch>
                <a:fillRect r="-75"/>
              </a:stretch>
            </a:blipFill>
          </p:spPr>
        </p:sp>
      </p:grpSp>
      <p:sp>
        <p:nvSpPr>
          <p:cNvPr id="6" name="TextBox 6"/>
          <p:cNvSpPr txBox="1"/>
          <p:nvPr/>
        </p:nvSpPr>
        <p:spPr>
          <a:xfrm>
            <a:off x="5715000" y="4349115"/>
            <a:ext cx="6230620" cy="794385"/>
          </a:xfrm>
          <a:prstGeom prst="rect">
            <a:avLst/>
          </a:prstGeom>
        </p:spPr>
        <p:txBody>
          <a:bodyPr lIns="0" tIns="0" rIns="0" bIns="0" rtlCol="0" anchor="t">
            <a:noAutofit/>
          </a:bodyPr>
          <a:lstStyle/>
          <a:p>
            <a:pPr algn="ctr">
              <a:lnSpc>
                <a:spcPct val="150000"/>
              </a:lnSpc>
            </a:pPr>
            <a:r>
              <a:rPr lang="zh-CN" altLang="en-US" sz="2800" dirty="0">
                <a:solidFill>
                  <a:schemeClr val="tx1"/>
                </a:solidFill>
                <a:latin typeface="微软雅黑" panose="020B0503020204020204" charset="-122"/>
                <a:ea typeface="微软雅黑" panose="020B0503020204020204" charset="-122"/>
                <a:cs typeface="微软雅黑" panose="020B0503020204020204" charset="-122"/>
                <a:sym typeface="Arimo" panose="020B0604020202020204"/>
              </a:rPr>
              <a:t>陆思辰 </a:t>
            </a:r>
            <a:r>
              <a:rPr lang="en-US" altLang="zh-CN" sz="2800" dirty="0">
                <a:solidFill>
                  <a:schemeClr val="tx1"/>
                </a:solidFill>
                <a:latin typeface="微软雅黑" panose="020B0503020204020204" charset="-122"/>
                <a:ea typeface="微软雅黑" panose="020B0503020204020204" charset="-122"/>
                <a:cs typeface="微软雅黑" panose="020B0503020204020204" charset="-122"/>
                <a:sym typeface="Arimo" panose="020B0604020202020204"/>
              </a:rPr>
              <a:t>2530031201</a:t>
            </a:r>
          </a:p>
        </p:txBody>
      </p:sp>
      <p:sp>
        <p:nvSpPr>
          <p:cNvPr id="8" name="文本框 7"/>
          <p:cNvSpPr txBox="1"/>
          <p:nvPr/>
        </p:nvSpPr>
        <p:spPr>
          <a:xfrm>
            <a:off x="457200" y="571500"/>
            <a:ext cx="17618075" cy="2306955"/>
          </a:xfrm>
          <a:prstGeom prst="rect">
            <a:avLst/>
          </a:prstGeom>
          <a:noFill/>
        </p:spPr>
        <p:txBody>
          <a:bodyPr wrap="square" rtlCol="0" anchor="t">
            <a:spAutoFit/>
          </a:bodyPr>
          <a:lstStyle/>
          <a:p>
            <a:pPr>
              <a:lnSpc>
                <a:spcPts val="8640"/>
              </a:lnSpc>
            </a:pPr>
            <a:r>
              <a:rPr lang="en-US" sz="6000" b="1" dirty="0">
                <a:solidFill>
                  <a:schemeClr val="bg1"/>
                </a:solidFill>
                <a:latin typeface="Times New Roman" panose="02020603050405020304" pitchFamily="18" charset="0"/>
                <a:ea typeface="Arimo" panose="020B0604020202020204"/>
                <a:cs typeface="Times New Roman" panose="02020603050405020304" pitchFamily="18" charset="0"/>
                <a:sym typeface="Arimo" panose="020B0604020202020204"/>
              </a:rPr>
              <a:t>The Green Transformation of “Black Gold” : </a:t>
            </a:r>
          </a:p>
          <a:p>
            <a:pPr>
              <a:lnSpc>
                <a:spcPts val="8640"/>
              </a:lnSpc>
            </a:pPr>
            <a:r>
              <a:rPr lang="en-US" sz="4000" b="1" dirty="0">
                <a:solidFill>
                  <a:schemeClr val="bg1"/>
                </a:solidFill>
                <a:latin typeface="Times New Roman" panose="02020603050405020304" pitchFamily="18" charset="0"/>
                <a:ea typeface="Arimo" panose="020B0604020202020204"/>
                <a:cs typeface="Times New Roman" panose="02020603050405020304" pitchFamily="18" charset="0"/>
                <a:sym typeface="Arimo" panose="020B0604020202020204"/>
              </a:rPr>
              <a:t>     Cultural Exchanges and Ecological Awakening in the Rubber Civilization</a:t>
            </a:r>
            <a:endParaRPr lang="en-US" altLang="en-US" sz="4000" b="1" dirty="0">
              <a:solidFill>
                <a:schemeClr val="bg1"/>
              </a:solidFill>
              <a:latin typeface="Times New Roman" panose="02020603050405020304" pitchFamily="18" charset="0"/>
              <a:ea typeface="Arimo" panose="020B0604020202020204"/>
              <a:cs typeface="Times New Roman" panose="02020603050405020304" pitchFamily="18" charset="0"/>
              <a:sym typeface="Arimo" panose="020B06040202020202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28600" y="-167640"/>
            <a:ext cx="18516600" cy="10454640"/>
          </a:xfrm>
          <a:prstGeom prst="rect">
            <a:avLst/>
          </a:prstGeom>
          <a:gradFill>
            <a:gsLst>
              <a:gs pos="0">
                <a:schemeClr val="accent1">
                  <a:lumMod val="50000"/>
                </a:schemeClr>
              </a:gs>
              <a:gs pos="100000">
                <a:schemeClr val="tx1">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文本框 7"/>
          <p:cNvSpPr txBox="1"/>
          <p:nvPr/>
        </p:nvSpPr>
        <p:spPr>
          <a:xfrm>
            <a:off x="457200" y="571500"/>
            <a:ext cx="17618075" cy="6739255"/>
          </a:xfrm>
          <a:prstGeom prst="rect">
            <a:avLst/>
          </a:prstGeom>
          <a:noFill/>
        </p:spPr>
        <p:txBody>
          <a:bodyPr wrap="square" rtlCol="0" anchor="t">
            <a:spAutoFit/>
          </a:bodyPr>
          <a:lstStyle/>
          <a:p>
            <a:pPr marL="0" marR="0" lvl="0" indent="0" algn="l" defTabSz="914400" rtl="0" eaLnBrk="1" fontAlgn="auto" latinLnBrk="0" hangingPunct="1">
              <a:lnSpc>
                <a:spcPts val="8640"/>
              </a:lnSpc>
              <a:spcBef>
                <a:spcPts val="0"/>
              </a:spcBef>
              <a:spcAft>
                <a:spcPts val="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The Green Transformation of “Black Gold” : </a:t>
            </a:r>
          </a:p>
          <a:p>
            <a:pPr marL="0" marR="0" lvl="0" indent="0" algn="l" defTabSz="914400" rtl="0" eaLnBrk="1" fontAlgn="auto" latinLnBrk="0" hangingPunct="1">
              <a:lnSpc>
                <a:spcPts val="864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     Cultural Exchanges and Ecological Awakening in the Rubber Civilization</a:t>
            </a:r>
          </a:p>
          <a:p>
            <a:pPr marL="0" marR="0" lvl="0" indent="0" algn="l" defTabSz="914400" rtl="0" eaLnBrk="1" fontAlgn="auto" latinLnBrk="0" hangingPunct="1">
              <a:lnSpc>
                <a:spcPts val="8640"/>
              </a:lnSpc>
              <a:spcBef>
                <a:spcPts val="0"/>
              </a:spcBef>
              <a:spcAft>
                <a:spcPts val="0"/>
              </a:spcAft>
              <a:buClrTx/>
              <a:buSzTx/>
              <a:buFontTx/>
              <a:buNone/>
              <a:tabLst/>
              <a:defRPr/>
            </a:pPr>
            <a:endPar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endParaRPr>
          </a:p>
          <a:p>
            <a:pPr marL="571500" marR="0" lvl="0" indent="57150" algn="l" defTabSz="914400" rtl="0" eaLnBrk="1" fontAlgn="auto" latinLnBrk="0" hangingPunct="1">
              <a:lnSpc>
                <a:spcPts val="8640"/>
              </a:lnSpc>
              <a:spcBef>
                <a:spcPts val="0"/>
              </a:spcBef>
              <a:spcAft>
                <a:spcPts val="0"/>
              </a:spcAft>
              <a:buClrTx/>
              <a:buSzTx/>
              <a:buFont typeface="Wingdings" panose="05000000000000000000" charset="0"/>
              <a:buChar char="n"/>
              <a:tabLst/>
              <a:defRPr/>
            </a:pPr>
            <a:r>
              <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   Major：                            </a:t>
            </a:r>
          </a:p>
          <a:p>
            <a:pPr marL="571500" marR="0" lvl="0" indent="57150" algn="l" defTabSz="914400" rtl="0" eaLnBrk="1" fontAlgn="auto" latinLnBrk="0" hangingPunct="1">
              <a:lnSpc>
                <a:spcPts val="8640"/>
              </a:lnSpc>
              <a:spcBef>
                <a:spcPts val="0"/>
              </a:spcBef>
              <a:spcAft>
                <a:spcPts val="0"/>
              </a:spcAft>
              <a:buClrTx/>
              <a:buSzTx/>
              <a:buFont typeface="Wingdings" panose="05000000000000000000" charset="0"/>
              <a:buChar char="n"/>
              <a:tabLst/>
              <a:defRPr/>
            </a:pPr>
            <a:r>
              <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   Historical Periods：       </a:t>
            </a:r>
          </a:p>
          <a:p>
            <a:pPr marL="571500" marR="0" lvl="0" indent="57150" algn="l" defTabSz="914400" rtl="0" eaLnBrk="1" fontAlgn="auto" latinLnBrk="0" hangingPunct="1">
              <a:lnSpc>
                <a:spcPts val="8640"/>
              </a:lnSpc>
              <a:spcBef>
                <a:spcPts val="0"/>
              </a:spcBef>
              <a:spcAft>
                <a:spcPts val="0"/>
              </a:spcAft>
              <a:buClrTx/>
              <a:buSzTx/>
              <a:buFont typeface="Wingdings" panose="05000000000000000000" charset="0"/>
              <a:buChar char="n"/>
              <a:tabLst/>
              <a:defRPr/>
            </a:pPr>
            <a:r>
              <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   Civilizational Theme：  </a:t>
            </a:r>
          </a:p>
        </p:txBody>
      </p:sp>
      <p:sp>
        <p:nvSpPr>
          <p:cNvPr id="7" name="文本框 6"/>
          <p:cNvSpPr txBox="1"/>
          <p:nvPr/>
        </p:nvSpPr>
        <p:spPr>
          <a:xfrm>
            <a:off x="7162800" y="5295900"/>
            <a:ext cx="10370820"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Modern China、Contemporary Globalization</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11" name="文本框 10"/>
          <p:cNvSpPr txBox="1"/>
          <p:nvPr/>
        </p:nvSpPr>
        <p:spPr>
          <a:xfrm>
            <a:off x="7162800" y="4229100"/>
            <a:ext cx="10370820"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History</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12" name="文本框 11"/>
          <p:cNvSpPr txBox="1"/>
          <p:nvPr/>
        </p:nvSpPr>
        <p:spPr>
          <a:xfrm>
            <a:off x="7162800" y="6362700"/>
            <a:ext cx="10370820"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4000" b="1" i="0" u="none" strike="noStrike" kern="1200" cap="none" spc="0" normalizeH="0" baseline="0" noProof="0" dirty="0">
                <a:ln>
                  <a:noFill/>
                </a:ln>
                <a:solidFill>
                  <a:prstClr val="white"/>
                </a:solidFill>
                <a:effectLst/>
                <a:uLnTx/>
                <a:uFillTx/>
                <a:latin typeface="Times New Roman" panose="02020603050405020304" pitchFamily="18" charset="0"/>
                <a:ea typeface="Arimo" panose="020B0604020202020204"/>
                <a:cs typeface="Times New Roman" panose="02020603050405020304" pitchFamily="18" charset="0"/>
                <a:sym typeface="Arimo" panose="020B0604020202020204"/>
              </a:rPr>
              <a:t>Ecological Civilization</a:t>
            </a: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14972554"/>
      </p:ext>
    </p:extLst>
  </p:cSld>
  <p:clrMapOvr>
    <a:masterClrMapping/>
  </p:clrMapOvr>
  <mc:AlternateContent xmlns:mc="http://schemas.openxmlformats.org/markup-compatibility/2006" xmlns:p14="http://schemas.microsoft.com/office/powerpoint/2010/main">
    <mc:Choice Requires="p14">
      <p:transition p14:dur="0" advClick="0" advTm="4000"/>
    </mc:Choice>
    <mc:Fallback xmlns="">
      <p:transition advClick="0" advTm="4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 y="19"/>
            <a:ext cx="18287971" cy="10286981"/>
            <a:chOff x="0" y="0"/>
            <a:chExt cx="24383962" cy="13715975"/>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55000"/>
              </a:blip>
              <a:stretch>
                <a:fillRect r="-75"/>
              </a:stretch>
            </a:blipFill>
          </p:spPr>
        </p:sp>
      </p:grpSp>
      <p:sp>
        <p:nvSpPr>
          <p:cNvPr id="9" name="TextBox 9"/>
          <p:cNvSpPr txBox="1"/>
          <p:nvPr/>
        </p:nvSpPr>
        <p:spPr>
          <a:xfrm>
            <a:off x="685800" y="-314384"/>
            <a:ext cx="11049000" cy="1264770"/>
          </a:xfrm>
          <a:prstGeom prst="rect">
            <a:avLst/>
          </a:prstGeom>
        </p:spPr>
        <p:txBody>
          <a:bodyPr wrap="square" lIns="0" tIns="0" rIns="0" bIns="0" rtlCol="0" anchor="t">
            <a:spAutoFit/>
          </a:bodyPr>
          <a:lstStyle/>
          <a:p>
            <a:pPr>
              <a:lnSpc>
                <a:spcPts val="11880"/>
              </a:lnSpc>
            </a:pPr>
            <a:r>
              <a:rPr lang="en-US" sz="4000" b="1" dirty="0">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rPr>
              <a:t>Core Rationale for Tool Selection</a:t>
            </a:r>
            <a:r>
              <a:rPr lang="en-US" altLang="zh-CN" sz="4000" b="1" dirty="0">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rPr>
              <a:t>——</a:t>
            </a:r>
            <a:r>
              <a:rPr lang="en-US" altLang="zh-CN" sz="4000" b="1" dirty="0" err="1">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rPr>
              <a:t>Seedance</a:t>
            </a:r>
            <a:endParaRPr lang="en-US" sz="4000" b="1" dirty="0">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endParaRPr>
          </a:p>
        </p:txBody>
      </p:sp>
      <p:sp>
        <p:nvSpPr>
          <p:cNvPr id="10" name="Freeform 10"/>
          <p:cNvSpPr/>
          <p:nvPr/>
        </p:nvSpPr>
        <p:spPr>
          <a:xfrm>
            <a:off x="2256349" y="2508933"/>
            <a:ext cx="758866" cy="322631"/>
          </a:xfrm>
          <a:custGeom>
            <a:avLst/>
            <a:gdLst/>
            <a:ahLst/>
            <a:cxnLst/>
            <a:rect l="l" t="t" r="r" b="b"/>
            <a:pathLst>
              <a:path w="758866" h="322631">
                <a:moveTo>
                  <a:pt x="0" y="0"/>
                </a:moveTo>
                <a:lnTo>
                  <a:pt x="758866" y="0"/>
                </a:lnTo>
                <a:lnTo>
                  <a:pt x="758866" y="322630"/>
                </a:lnTo>
                <a:lnTo>
                  <a:pt x="0" y="3226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8579634" y="2508933"/>
            <a:ext cx="758866" cy="322631"/>
          </a:xfrm>
          <a:custGeom>
            <a:avLst/>
            <a:gdLst/>
            <a:ahLst/>
            <a:cxnLst/>
            <a:rect l="l" t="t" r="r" b="b"/>
            <a:pathLst>
              <a:path w="758866" h="322631">
                <a:moveTo>
                  <a:pt x="0" y="0"/>
                </a:moveTo>
                <a:lnTo>
                  <a:pt x="758866" y="0"/>
                </a:lnTo>
                <a:lnTo>
                  <a:pt x="758866" y="322630"/>
                </a:lnTo>
                <a:lnTo>
                  <a:pt x="0" y="3226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a:off x="5379377" y="3037742"/>
            <a:ext cx="758866" cy="322631"/>
          </a:xfrm>
          <a:custGeom>
            <a:avLst/>
            <a:gdLst/>
            <a:ahLst/>
            <a:cxnLst/>
            <a:rect l="l" t="t" r="r" b="b"/>
            <a:pathLst>
              <a:path w="758866" h="322631">
                <a:moveTo>
                  <a:pt x="0" y="0"/>
                </a:moveTo>
                <a:lnTo>
                  <a:pt x="758866" y="0"/>
                </a:lnTo>
                <a:lnTo>
                  <a:pt x="758866" y="322630"/>
                </a:lnTo>
                <a:lnTo>
                  <a:pt x="0" y="3226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9" name="Freeform 19"/>
          <p:cNvSpPr/>
          <p:nvPr/>
        </p:nvSpPr>
        <p:spPr>
          <a:xfrm>
            <a:off x="11371269" y="2951807"/>
            <a:ext cx="758866" cy="322631"/>
          </a:xfrm>
          <a:custGeom>
            <a:avLst/>
            <a:gdLst/>
            <a:ahLst/>
            <a:cxnLst/>
            <a:rect l="l" t="t" r="r" b="b"/>
            <a:pathLst>
              <a:path w="758866" h="322631">
                <a:moveTo>
                  <a:pt x="0" y="0"/>
                </a:moveTo>
                <a:lnTo>
                  <a:pt x="758866" y="0"/>
                </a:lnTo>
                <a:lnTo>
                  <a:pt x="758866" y="322631"/>
                </a:lnTo>
                <a:lnTo>
                  <a:pt x="0" y="32263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2" name="文本框 21"/>
          <p:cNvSpPr txBox="1"/>
          <p:nvPr/>
        </p:nvSpPr>
        <p:spPr>
          <a:xfrm>
            <a:off x="914400" y="1638300"/>
            <a:ext cx="16351250" cy="4523105"/>
          </a:xfrm>
          <a:prstGeom prst="rect">
            <a:avLst/>
          </a:prstGeom>
          <a:noFill/>
        </p:spPr>
        <p:txBody>
          <a:bodyPr wrap="square" rtlCol="0">
            <a:spAutoFit/>
          </a:bodyPr>
          <a:lstStyle/>
          <a:p>
            <a:pPr marL="285750" indent="-285750" fontAlgn="auto">
              <a:spcBef>
                <a:spcPts val="1200"/>
              </a:spcBef>
              <a:buFont typeface="Arial" panose="020B0604020202020204" pitchFamily="34" charset="0"/>
              <a:buChar char="•"/>
            </a:pPr>
            <a:r>
              <a:rPr lang="en-US" altLang="zh-CN" sz="3600" b="1" dirty="0">
                <a:solidFill>
                  <a:srgbClr val="26120B"/>
                </a:solidFill>
                <a:latin typeface="Times New Roman" panose="02020603050405020304" pitchFamily="18" charset="0"/>
                <a:cs typeface="Times New Roman" panose="02020603050405020304" pitchFamily="18" charset="0"/>
              </a:rPr>
              <a:t>Temporal-spatial visualization capability</a:t>
            </a:r>
            <a:r>
              <a:rPr lang="en-US" altLang="zh-CN" sz="2800" dirty="0">
                <a:latin typeface="Times New Roman" panose="02020603050405020304" pitchFamily="18" charset="0"/>
                <a:cs typeface="Times New Roman" panose="02020603050405020304" pitchFamily="18" charset="0"/>
              </a:rPr>
              <a:t>: </a:t>
            </a:r>
          </a:p>
          <a:p>
            <a:pPr indent="0" fontAlgn="auto">
              <a:spcBef>
                <a:spcPts val="600"/>
              </a:spcBef>
            </a:pPr>
            <a:r>
              <a:rPr lang="en-US" altLang="zh-CN" sz="2800" dirty="0">
                <a:solidFill>
                  <a:schemeClr val="tx1">
                    <a:lumMod val="75000"/>
                    <a:lumOff val="25000"/>
                  </a:schemeClr>
                </a:solidFill>
                <a:latin typeface="Times New Roman" panose="02020603050405020304" pitchFamily="18" charset="0"/>
                <a:cs typeface="Times New Roman" panose="02020603050405020304" pitchFamily="18" charset="0"/>
              </a:rPr>
              <a:t>The AI video generator's ability to model long-term historical dependencies through </a:t>
            </a:r>
            <a:r>
              <a:rPr lang="en-US" altLang="zh-CN" sz="2800" b="1" dirty="0">
                <a:solidFill>
                  <a:schemeClr val="tx1">
                    <a:lumMod val="75000"/>
                    <a:lumOff val="25000"/>
                  </a:schemeClr>
                </a:solidFill>
                <a:latin typeface="Times New Roman" panose="02020603050405020304" pitchFamily="18" charset="0"/>
                <a:cs typeface="Times New Roman" panose="02020603050405020304" pitchFamily="18" charset="0"/>
              </a:rPr>
              <a:t>Diffusion Transformer (</a:t>
            </a:r>
            <a:r>
              <a:rPr lang="en-US" altLang="zh-CN" sz="2800" b="1" dirty="0" err="1">
                <a:solidFill>
                  <a:schemeClr val="tx1">
                    <a:lumMod val="75000"/>
                    <a:lumOff val="25000"/>
                  </a:schemeClr>
                </a:solidFill>
                <a:latin typeface="Times New Roman" panose="02020603050405020304" pitchFamily="18" charset="0"/>
                <a:cs typeface="Times New Roman" panose="02020603050405020304" pitchFamily="18" charset="0"/>
              </a:rPr>
              <a:t>DiT</a:t>
            </a:r>
            <a:r>
              <a:rPr lang="en-US" altLang="zh-CN" sz="2800" b="1" dirty="0">
                <a:solidFill>
                  <a:schemeClr val="tx1">
                    <a:lumMod val="75000"/>
                    <a:lumOff val="25000"/>
                  </a:schemeClr>
                </a:solidFill>
                <a:latin typeface="Times New Roman" panose="02020603050405020304" pitchFamily="18" charset="0"/>
                <a:cs typeface="Times New Roman" panose="02020603050405020304" pitchFamily="18" charset="0"/>
              </a:rPr>
              <a:t>) architecture</a:t>
            </a:r>
            <a:r>
              <a:rPr lang="en-US" altLang="zh-CN" sz="2800" dirty="0">
                <a:solidFill>
                  <a:schemeClr val="tx1">
                    <a:lumMod val="75000"/>
                    <a:lumOff val="25000"/>
                  </a:schemeClr>
                </a:solidFill>
                <a:latin typeface="Times New Roman" panose="02020603050405020304" pitchFamily="18" charset="0"/>
                <a:cs typeface="Times New Roman" panose="02020603050405020304" pitchFamily="18" charset="0"/>
              </a:rPr>
              <a:t> allowed me to </a:t>
            </a:r>
            <a:r>
              <a:rPr lang="en-US" altLang="zh-CN" sz="2800" b="1" dirty="0">
                <a:solidFill>
                  <a:schemeClr val="tx1">
                    <a:lumMod val="75000"/>
                    <a:lumOff val="25000"/>
                  </a:schemeClr>
                </a:solidFill>
                <a:latin typeface="Times New Roman" panose="02020603050405020304" pitchFamily="18" charset="0"/>
                <a:cs typeface="Times New Roman" panose="02020603050405020304" pitchFamily="18" charset="0"/>
              </a:rPr>
              <a:t>visualize</a:t>
            </a:r>
            <a:r>
              <a:rPr lang="en-US" altLang="zh-CN" sz="2800" dirty="0">
                <a:solidFill>
                  <a:schemeClr val="tx1">
                    <a:lumMod val="75000"/>
                    <a:lumOff val="25000"/>
                  </a:schemeClr>
                </a:solidFill>
                <a:latin typeface="Times New Roman" panose="02020603050405020304" pitchFamily="18" charset="0"/>
                <a:cs typeface="Times New Roman" panose="02020603050405020304" pitchFamily="18" charset="0"/>
              </a:rPr>
              <a:t> the 500-year evolution of rubber civilization as a </a:t>
            </a:r>
            <a:r>
              <a:rPr lang="en-US" altLang="zh-CN" sz="2800" b="1" dirty="0">
                <a:solidFill>
                  <a:schemeClr val="tx1">
                    <a:lumMod val="75000"/>
                    <a:lumOff val="25000"/>
                  </a:schemeClr>
                </a:solidFill>
                <a:latin typeface="Times New Roman" panose="02020603050405020304" pitchFamily="18" charset="0"/>
                <a:cs typeface="Times New Roman" panose="02020603050405020304" pitchFamily="18" charset="0"/>
              </a:rPr>
              <a:t>cohesive narrative</a:t>
            </a:r>
            <a:r>
              <a:rPr lang="en-US" altLang="zh-CN" sz="2800" dirty="0">
                <a:solidFill>
                  <a:schemeClr val="tx1">
                    <a:lumMod val="75000"/>
                    <a:lumOff val="25000"/>
                  </a:schemeClr>
                </a:solidFill>
                <a:latin typeface="Times New Roman" panose="02020603050405020304" pitchFamily="18" charset="0"/>
                <a:cs typeface="Times New Roman" panose="02020603050405020304" pitchFamily="18" charset="0"/>
              </a:rPr>
              <a:t>, rather than isolated historical fragments. This was critical for illustrating the “cycle of civilization” theme.</a:t>
            </a:r>
          </a:p>
          <a:p>
            <a:pPr marL="285750" indent="-285750" fontAlgn="auto">
              <a:spcBef>
                <a:spcPts val="2400"/>
              </a:spcBef>
              <a:buFont typeface="Arial" panose="020B0604020202020204" pitchFamily="34" charset="0"/>
              <a:buChar char="•"/>
            </a:pPr>
            <a:r>
              <a:rPr lang="en-US" altLang="zh-CN" sz="3600" b="1" dirty="0">
                <a:solidFill>
                  <a:srgbClr val="26120B"/>
                </a:solidFill>
                <a:latin typeface="Times New Roman" panose="02020603050405020304" pitchFamily="18" charset="0"/>
                <a:cs typeface="Times New Roman" panose="02020603050405020304" pitchFamily="18" charset="0"/>
              </a:rPr>
              <a:t>Emotional engagement through visual aesthetics</a:t>
            </a:r>
            <a:r>
              <a:rPr lang="en-US" altLang="zh-CN" sz="2800" dirty="0">
                <a:latin typeface="Times New Roman" panose="02020603050405020304" pitchFamily="18" charset="0"/>
                <a:cs typeface="Times New Roman" panose="02020603050405020304" pitchFamily="18" charset="0"/>
              </a:rPr>
              <a:t>: </a:t>
            </a:r>
          </a:p>
          <a:p>
            <a:pPr indent="0" fontAlgn="auto">
              <a:spcBef>
                <a:spcPts val="600"/>
              </a:spcBef>
            </a:pPr>
            <a:r>
              <a:rPr lang="en-US" altLang="zh-CN" sz="2800" dirty="0">
                <a:solidFill>
                  <a:schemeClr val="tx1">
                    <a:lumMod val="75000"/>
                    <a:lumOff val="25000"/>
                  </a:schemeClr>
                </a:solidFill>
                <a:latin typeface="Times New Roman" panose="02020603050405020304" pitchFamily="18" charset="0"/>
                <a:cs typeface="Times New Roman" panose="02020603050405020304" pitchFamily="18" charset="0"/>
              </a:rPr>
              <a:t>By generating cinematic-quality visuals (4K resolution, realistic environmental textures), the tool helped convey the emotional weight of historical events like the Putumayo massacre, making the human cost of colonial exploitation </a:t>
            </a:r>
            <a:r>
              <a:rPr lang="en-US" altLang="zh-CN" sz="2800" b="1" dirty="0">
                <a:solidFill>
                  <a:schemeClr val="tx1">
                    <a:lumMod val="75000"/>
                    <a:lumOff val="25000"/>
                  </a:schemeClr>
                </a:solidFill>
                <a:latin typeface="Times New Roman" panose="02020603050405020304" pitchFamily="18" charset="0"/>
                <a:cs typeface="Times New Roman" panose="02020603050405020304" pitchFamily="18" charset="0"/>
              </a:rPr>
              <a:t>more impactful than text alone could achieve</a:t>
            </a:r>
            <a:r>
              <a:rPr lang="en-US" altLang="zh-CN" dirty="0">
                <a:solidFill>
                  <a:schemeClr val="tx1">
                    <a:lumMod val="75000"/>
                    <a:lumOff val="25000"/>
                  </a:schemeClr>
                </a:solidFill>
              </a:rPr>
              <a:t>.</a:t>
            </a:r>
          </a:p>
          <a:p>
            <a:endParaRPr lang="en-US" altLang="zh-CN" dirty="0">
              <a:solidFill>
                <a:schemeClr val="tx1">
                  <a:lumMod val="75000"/>
                  <a:lumOff val="25000"/>
                </a:schemeClr>
              </a:solidFill>
            </a:endParaRPr>
          </a:p>
        </p:txBody>
      </p:sp>
      <p:grpSp>
        <p:nvGrpSpPr>
          <p:cNvPr id="4" name="Group 4"/>
          <p:cNvGrpSpPr/>
          <p:nvPr/>
        </p:nvGrpSpPr>
        <p:grpSpPr>
          <a:xfrm rot="3956519">
            <a:off x="15926089" y="3565033"/>
            <a:ext cx="557717" cy="528780"/>
            <a:chOff x="0" y="0"/>
            <a:chExt cx="743623" cy="705040"/>
          </a:xfrm>
        </p:grpSpPr>
        <p:sp>
          <p:nvSpPr>
            <p:cNvPr id="5" name="Freeform 5"/>
            <p:cNvSpPr/>
            <p:nvPr/>
          </p:nvSpPr>
          <p:spPr>
            <a:xfrm>
              <a:off x="2" y="164"/>
              <a:ext cx="743654" cy="704787"/>
            </a:xfrm>
            <a:custGeom>
              <a:avLst/>
              <a:gdLst/>
              <a:ahLst/>
              <a:cxnLst/>
              <a:rect l="l" t="t" r="r" b="b"/>
              <a:pathLst>
                <a:path w="743654" h="704787">
                  <a:moveTo>
                    <a:pt x="394714" y="235548"/>
                  </a:moveTo>
                  <a:cubicBezTo>
                    <a:pt x="330198" y="222848"/>
                    <a:pt x="267714" y="264885"/>
                    <a:pt x="255014" y="329401"/>
                  </a:cubicBezTo>
                  <a:cubicBezTo>
                    <a:pt x="242314" y="393917"/>
                    <a:pt x="284351" y="456401"/>
                    <a:pt x="348867" y="469101"/>
                  </a:cubicBezTo>
                  <a:cubicBezTo>
                    <a:pt x="413383" y="481801"/>
                    <a:pt x="475867" y="439764"/>
                    <a:pt x="488567" y="375248"/>
                  </a:cubicBezTo>
                  <a:cubicBezTo>
                    <a:pt x="501267" y="310732"/>
                    <a:pt x="459230" y="248248"/>
                    <a:pt x="394714" y="235548"/>
                  </a:cubicBezTo>
                  <a:close/>
                  <a:moveTo>
                    <a:pt x="526794" y="3900"/>
                  </a:moveTo>
                  <a:cubicBezTo>
                    <a:pt x="578483" y="15711"/>
                    <a:pt x="622679" y="52668"/>
                    <a:pt x="640332" y="104865"/>
                  </a:cubicBezTo>
                  <a:cubicBezTo>
                    <a:pt x="656588" y="153125"/>
                    <a:pt x="645920" y="204306"/>
                    <a:pt x="616583" y="242279"/>
                  </a:cubicBezTo>
                  <a:cubicBezTo>
                    <a:pt x="654048" y="249518"/>
                    <a:pt x="689608" y="269457"/>
                    <a:pt x="713992" y="301969"/>
                  </a:cubicBezTo>
                  <a:cubicBezTo>
                    <a:pt x="764538" y="369533"/>
                    <a:pt x="748917" y="464783"/>
                    <a:pt x="679067" y="513551"/>
                  </a:cubicBezTo>
                  <a:cubicBezTo>
                    <a:pt x="636014" y="543650"/>
                    <a:pt x="582928" y="549746"/>
                    <a:pt x="536065" y="534633"/>
                  </a:cubicBezTo>
                  <a:cubicBezTo>
                    <a:pt x="541018" y="571463"/>
                    <a:pt x="531747" y="609944"/>
                    <a:pt x="507363" y="641948"/>
                  </a:cubicBezTo>
                  <a:cubicBezTo>
                    <a:pt x="456182" y="710020"/>
                    <a:pt x="358138" y="725133"/>
                    <a:pt x="288161" y="675730"/>
                  </a:cubicBezTo>
                  <a:cubicBezTo>
                    <a:pt x="246378" y="646139"/>
                    <a:pt x="223899" y="600927"/>
                    <a:pt x="223264" y="554572"/>
                  </a:cubicBezTo>
                  <a:cubicBezTo>
                    <a:pt x="223264" y="554572"/>
                    <a:pt x="223264" y="554572"/>
                    <a:pt x="213866" y="554572"/>
                  </a:cubicBezTo>
                  <a:cubicBezTo>
                    <a:pt x="181354" y="567272"/>
                    <a:pt x="144524" y="569050"/>
                    <a:pt x="108329" y="557620"/>
                  </a:cubicBezTo>
                  <a:cubicBezTo>
                    <a:pt x="25906" y="531712"/>
                    <a:pt x="-19052" y="446114"/>
                    <a:pt x="7745" y="366612"/>
                  </a:cubicBezTo>
                  <a:cubicBezTo>
                    <a:pt x="23366" y="319622"/>
                    <a:pt x="61466" y="284570"/>
                    <a:pt x="106424" y="270219"/>
                  </a:cubicBezTo>
                  <a:cubicBezTo>
                    <a:pt x="106424" y="270219"/>
                    <a:pt x="106424" y="270219"/>
                    <a:pt x="104519" y="264758"/>
                  </a:cubicBezTo>
                  <a:cubicBezTo>
                    <a:pt x="104519" y="264758"/>
                    <a:pt x="104519" y="264758"/>
                    <a:pt x="105789" y="264123"/>
                  </a:cubicBezTo>
                  <a:cubicBezTo>
                    <a:pt x="82675" y="237580"/>
                    <a:pt x="68324" y="203290"/>
                    <a:pt x="68324" y="165317"/>
                  </a:cubicBezTo>
                  <a:cubicBezTo>
                    <a:pt x="68324" y="81497"/>
                    <a:pt x="138301" y="14060"/>
                    <a:pt x="225042" y="14060"/>
                  </a:cubicBezTo>
                  <a:cubicBezTo>
                    <a:pt x="278128" y="14060"/>
                    <a:pt x="324991" y="39333"/>
                    <a:pt x="353693" y="78576"/>
                  </a:cubicBezTo>
                  <a:cubicBezTo>
                    <a:pt x="372362" y="46064"/>
                    <a:pt x="402969" y="20156"/>
                    <a:pt x="442339" y="7456"/>
                  </a:cubicBezTo>
                  <a:cubicBezTo>
                    <a:pt x="462913" y="979"/>
                    <a:pt x="483995" y="-1180"/>
                    <a:pt x="504315" y="598"/>
                  </a:cubicBezTo>
                  <a:cubicBezTo>
                    <a:pt x="511935" y="1233"/>
                    <a:pt x="519428" y="2376"/>
                    <a:pt x="526794" y="4154"/>
                  </a:cubicBezTo>
                  <a:close/>
                </a:path>
              </a:pathLst>
            </a:custGeom>
            <a:blipFill>
              <a:blip r:embed="rId5">
                <a:alphaModFix amt="44000"/>
              </a:blip>
              <a:stretch>
                <a:fillRect t="-165" r="4" b="-155"/>
              </a:stretch>
            </a:blipFill>
          </p:spPr>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txBody>
          <a:bodyPr/>
          <a:lstStyle/>
          <a:p>
            <a:endParaRPr lang="zh-CN" altLang="en-US" dirty="0"/>
          </a:p>
        </p:txBody>
      </p:sp>
      <p:sp>
        <p:nvSpPr>
          <p:cNvPr id="13" name="TextBox 13"/>
          <p:cNvSpPr txBox="1"/>
          <p:nvPr/>
        </p:nvSpPr>
        <p:spPr>
          <a:xfrm>
            <a:off x="4114584" y="1299652"/>
            <a:ext cx="9829800" cy="509755"/>
          </a:xfrm>
          <a:prstGeom prst="rect">
            <a:avLst/>
          </a:prstGeom>
        </p:spPr>
        <p:txBody>
          <a:bodyPr wrap="square" lIns="0" tIns="0" rIns="0" bIns="0" rtlCol="0" anchor="t">
            <a:spAutoFit/>
          </a:bodyPr>
          <a:lstStyle/>
          <a:p>
            <a:pPr>
              <a:lnSpc>
                <a:spcPts val="4320"/>
              </a:lnSpc>
            </a:pPr>
            <a:r>
              <a:rPr lang="en-US" altLang="zh-CN" sz="3200" b="1" dirty="0">
                <a:solidFill>
                  <a:srgbClr val="540E04"/>
                </a:solidFill>
                <a:latin typeface="Times New Roman" panose="02020603050405020304" pitchFamily="18" charset="0"/>
                <a:ea typeface="Arimo" panose="020B0604020202020204"/>
                <a:cs typeface="Times New Roman" panose="02020603050405020304" pitchFamily="18" charset="0"/>
                <a:sym typeface="Arimo" panose="020B0604020202020204"/>
              </a:rPr>
              <a:t>——</a:t>
            </a:r>
            <a:r>
              <a:rPr lang="en-US" sz="3200" b="1" dirty="0">
                <a:solidFill>
                  <a:srgbClr val="540E04"/>
                </a:solidFill>
                <a:latin typeface="Times New Roman" panose="02020603050405020304" pitchFamily="18" charset="0"/>
                <a:ea typeface="Arimo" panose="020B0604020202020204"/>
                <a:cs typeface="Times New Roman" panose="02020603050405020304" pitchFamily="18" charset="0"/>
                <a:sym typeface="Arimo" panose="020B0604020202020204"/>
              </a:rPr>
              <a:t>It was the best of times; it was the worst of times.</a:t>
            </a:r>
          </a:p>
        </p:txBody>
      </p:sp>
      <p:grpSp>
        <p:nvGrpSpPr>
          <p:cNvPr id="21" name="Group 21"/>
          <p:cNvGrpSpPr/>
          <p:nvPr/>
        </p:nvGrpSpPr>
        <p:grpSpPr>
          <a:xfrm rot="9055980">
            <a:off x="-10692228" y="-1577334"/>
            <a:ext cx="18288000" cy="10287000"/>
            <a:chOff x="0" y="0"/>
            <a:chExt cx="24384000" cy="13716000"/>
          </a:xfrm>
        </p:grpSpPr>
        <p:sp>
          <p:nvSpPr>
            <p:cNvPr id="22" name="Freeform 22"/>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alphaModFix amt="55000"/>
              </a:blip>
              <a:stretch>
                <a:fillRect/>
              </a:stretch>
            </a:blipFill>
          </p:spPr>
        </p:sp>
      </p:grpSp>
      <p:sp>
        <p:nvSpPr>
          <p:cNvPr id="23" name="文本框 22"/>
          <p:cNvSpPr txBox="1"/>
          <p:nvPr/>
        </p:nvSpPr>
        <p:spPr>
          <a:xfrm>
            <a:off x="1828800" y="708991"/>
            <a:ext cx="4920044" cy="707886"/>
          </a:xfrm>
          <a:prstGeom prst="rect">
            <a:avLst/>
          </a:prstGeom>
          <a:noFill/>
        </p:spPr>
        <p:txBody>
          <a:bodyPr wrap="square" rtlCol="0">
            <a:spAutoFit/>
          </a:bodyPr>
          <a:lstStyle/>
          <a:p>
            <a:r>
              <a:rPr lang="en-US" altLang="zh-CN" sz="4000" b="1" dirty="0">
                <a:solidFill>
                  <a:srgbClr val="540E04"/>
                </a:solidFill>
                <a:latin typeface="Times New Roman" panose="02020603050405020304" pitchFamily="18" charset="0"/>
                <a:cs typeface="Times New Roman" panose="02020603050405020304" pitchFamily="18" charset="0"/>
              </a:rPr>
              <a:t>Why Modern China</a:t>
            </a:r>
            <a:endParaRPr lang="zh-CN" altLang="en-US" sz="4000" b="1" dirty="0">
              <a:solidFill>
                <a:srgbClr val="540E04"/>
              </a:solidFill>
              <a:latin typeface="Times New Roman" panose="02020603050405020304" pitchFamily="18" charset="0"/>
              <a:cs typeface="Times New Roman" panose="02020603050405020304" pitchFamily="18" charset="0"/>
            </a:endParaRPr>
          </a:p>
        </p:txBody>
      </p:sp>
      <p:sp>
        <p:nvSpPr>
          <p:cNvPr id="24" name="文本框 23"/>
          <p:cNvSpPr txBox="1"/>
          <p:nvPr/>
        </p:nvSpPr>
        <p:spPr>
          <a:xfrm>
            <a:off x="1052830" y="2476500"/>
            <a:ext cx="16198850" cy="5354320"/>
          </a:xfrm>
          <a:prstGeom prst="rect">
            <a:avLst/>
          </a:prstGeom>
          <a:noFill/>
        </p:spPr>
        <p:txBody>
          <a:bodyPr wrap="square" rtlCol="0">
            <a:spAutoFit/>
          </a:bodyPr>
          <a:lstStyle/>
          <a:p>
            <a:pPr marL="285750" indent="-285750" algn="l">
              <a:spcBef>
                <a:spcPts val="1200"/>
              </a:spcBef>
              <a:buClrTx/>
              <a:buSzTx/>
              <a:buFont typeface="Arial" panose="020B0604020202020204" pitchFamily="34" charset="0"/>
              <a:buChar char="•"/>
            </a:pPr>
            <a:r>
              <a:rPr lang="en-US" altLang="zh-CN" sz="3600" b="1" dirty="0">
                <a:solidFill>
                  <a:srgbClr val="26120B"/>
                </a:solidFill>
                <a:latin typeface="Times New Roman" panose="02020603050405020304" pitchFamily="18" charset="0"/>
                <a:cs typeface="Times New Roman" panose="02020603050405020304" pitchFamily="18" charset="0"/>
              </a:rPr>
              <a:t>The collision of global civilizations gave rise to a macro - perspective of “the history of civilization”</a:t>
            </a:r>
          </a:p>
          <a:p>
            <a:pPr indent="0" fontAlgn="auto">
              <a:spcBef>
                <a:spcPts val="600"/>
              </a:spcBef>
            </a:pPr>
            <a:r>
              <a:rPr lang="en-US" altLang="zh-CN" sz="2800" dirty="0">
                <a:solidFill>
                  <a:schemeClr val="tx1">
                    <a:lumMod val="65000"/>
                    <a:lumOff val="35000"/>
                  </a:schemeClr>
                </a:solidFill>
                <a:latin typeface="Times New Roman" panose="02020603050405020304" pitchFamily="18" charset="0"/>
                <a:cs typeface="Times New Roman" panose="02020603050405020304" pitchFamily="18" charset="0"/>
              </a:rPr>
              <a:t>During the Industrial Revolution, Western powers collided with civilizations around the world through colonial expansion and global trade. This cross-civilization interaction forced scholars at that time to think outside the framework of a single nation or country and think about grander issues. </a:t>
            </a:r>
          </a:p>
          <a:p>
            <a:pPr marL="285750" indent="-285750" algn="l" fontAlgn="auto">
              <a:spcBef>
                <a:spcPts val="2400"/>
              </a:spcBef>
              <a:buClrTx/>
              <a:buSzTx/>
              <a:buFont typeface="Arial" panose="020B0604020202020204" pitchFamily="34" charset="0"/>
              <a:buChar char="•"/>
            </a:pPr>
            <a:r>
              <a:rPr lang="en-US" altLang="zh-CN" sz="3600" b="1" dirty="0">
                <a:solidFill>
                  <a:srgbClr val="26120B"/>
                </a:solidFill>
                <a:latin typeface="Times New Roman" panose="02020603050405020304" pitchFamily="18" charset="0"/>
                <a:cs typeface="Times New Roman" panose="02020603050405020304" pitchFamily="18" charset="0"/>
              </a:rPr>
              <a:t>The exchange of ideas and materials promoted the innovation of historical research methods</a:t>
            </a:r>
          </a:p>
          <a:p>
            <a:pPr indent="0" fontAlgn="auto">
              <a:spcBef>
                <a:spcPts val="600"/>
              </a:spcBef>
            </a:pPr>
            <a:r>
              <a:rPr lang="en-US" altLang="zh-CN" sz="2800" dirty="0">
                <a:solidFill>
                  <a:schemeClr val="tx1">
                    <a:lumMod val="65000"/>
                    <a:lumOff val="35000"/>
                  </a:schemeClr>
                </a:solidFill>
                <a:latin typeface="Times New Roman" panose="02020603050405020304" pitchFamily="18" charset="0"/>
                <a:cs typeface="Times New Roman" panose="02020603050405020304" pitchFamily="18" charset="0"/>
              </a:rPr>
              <a:t> The Industrial Revolution not only brought about the interaction of commodities and colonies but also the flow of ideas and technologies. </a:t>
            </a:r>
            <a:r>
              <a:rPr lang="en-US" altLang="zh-CN" sz="2800" dirty="0">
                <a:solidFill>
                  <a:schemeClr val="tx1">
                    <a:lumMod val="65000"/>
                    <a:lumOff val="35000"/>
                  </a:schemeClr>
                </a:solidFill>
                <a:latin typeface="Times New Roman" panose="02020603050405020304" pitchFamily="18" charset="0"/>
                <a:cs typeface="Times New Roman" panose="02020603050405020304" pitchFamily="18" charset="0"/>
                <a:sym typeface="+mn-ea"/>
              </a:rPr>
              <a:t>Through the comparison of objects and documents across civilizations, we can more realistically restore and understand the moral world and life picture of human beings in the past.</a:t>
            </a:r>
          </a:p>
        </p:txBody>
      </p:sp>
      <p:grpSp>
        <p:nvGrpSpPr>
          <p:cNvPr id="19" name="Group 19"/>
          <p:cNvGrpSpPr/>
          <p:nvPr/>
        </p:nvGrpSpPr>
        <p:grpSpPr>
          <a:xfrm rot="9055980">
            <a:off x="6203548" y="3961398"/>
            <a:ext cx="26252900" cy="14767274"/>
            <a:chOff x="-4742" y="-981329"/>
            <a:chExt cx="35003867" cy="19689699"/>
          </a:xfrm>
        </p:grpSpPr>
        <p:sp>
          <p:nvSpPr>
            <p:cNvPr id="20" name="Freeform 20"/>
            <p:cNvSpPr/>
            <p:nvPr/>
          </p:nvSpPr>
          <p:spPr>
            <a:xfrm>
              <a:off x="-4742" y="-981329"/>
              <a:ext cx="35003867" cy="19689699"/>
            </a:xfrm>
            <a:custGeom>
              <a:avLst/>
              <a:gdLst/>
              <a:ahLst/>
              <a:cxnLst/>
              <a:rect l="l" t="t" r="r" b="b"/>
              <a:pathLst>
                <a:path w="35003867" h="19689699">
                  <a:moveTo>
                    <a:pt x="0" y="0"/>
                  </a:moveTo>
                  <a:lnTo>
                    <a:pt x="35003867" y="0"/>
                  </a:lnTo>
                  <a:lnTo>
                    <a:pt x="35003867" y="19689699"/>
                  </a:lnTo>
                  <a:lnTo>
                    <a:pt x="0" y="19689699"/>
                  </a:lnTo>
                  <a:lnTo>
                    <a:pt x="0" y="0"/>
                  </a:lnTo>
                  <a:close/>
                </a:path>
              </a:pathLst>
            </a:custGeom>
            <a:blipFill>
              <a:blip r:embed="rId4">
                <a:alphaModFix amt="55000"/>
              </a:blip>
              <a:stretch>
                <a:fillRect/>
              </a:stretch>
            </a:blipFill>
          </p:spPr>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360000">
            <a:off x="614680" y="102870"/>
            <a:ext cx="21390610" cy="11445240"/>
            <a:chOff x="-1338045" y="511887"/>
            <a:chExt cx="26596340" cy="15260320"/>
          </a:xfrm>
        </p:grpSpPr>
        <p:sp>
          <p:nvSpPr>
            <p:cNvPr id="3" name="Freeform 3"/>
            <p:cNvSpPr/>
            <p:nvPr/>
          </p:nvSpPr>
          <p:spPr>
            <a:xfrm rot="660000">
              <a:off x="-1338045" y="511887"/>
              <a:ext cx="26596340" cy="1526032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55000"/>
              </a:blip>
              <a:stretch>
                <a:fillRect r="-75"/>
              </a:stretch>
            </a:blipFill>
          </p:spPr>
        </p:sp>
      </p:grpSp>
      <p:sp>
        <p:nvSpPr>
          <p:cNvPr id="4" name="TextBox 4"/>
          <p:cNvSpPr txBox="1"/>
          <p:nvPr/>
        </p:nvSpPr>
        <p:spPr>
          <a:xfrm>
            <a:off x="1965593" y="527688"/>
            <a:ext cx="12880082" cy="730265"/>
          </a:xfrm>
          <a:prstGeom prst="rect">
            <a:avLst/>
          </a:prstGeom>
        </p:spPr>
        <p:txBody>
          <a:bodyPr lIns="0" tIns="0" rIns="0" bIns="0" rtlCol="0" anchor="t">
            <a:spAutoFit/>
          </a:bodyPr>
          <a:lstStyle/>
          <a:p>
            <a:pPr algn="ctr">
              <a:lnSpc>
                <a:spcPts val="6480"/>
              </a:lnSpc>
              <a:spcBef>
                <a:spcPct val="0"/>
              </a:spcBef>
            </a:pPr>
            <a:endParaRPr lang="en-US" sz="3600" dirty="0">
              <a:solidFill>
                <a:srgbClr val="000000"/>
              </a:solidFill>
              <a:latin typeface="Arimo" panose="020B0604020202020204"/>
              <a:ea typeface="Arimo" panose="020B0604020202020204"/>
              <a:cs typeface="Arimo" panose="020B0604020202020204"/>
              <a:sym typeface="Arimo" panose="020B0604020202020204"/>
            </a:endParaRPr>
          </a:p>
        </p:txBody>
      </p:sp>
      <p:sp>
        <p:nvSpPr>
          <p:cNvPr id="39" name="文本框 38"/>
          <p:cNvSpPr txBox="1"/>
          <p:nvPr/>
        </p:nvSpPr>
        <p:spPr>
          <a:xfrm>
            <a:off x="3086098" y="55394"/>
            <a:ext cx="13258800" cy="1014730"/>
          </a:xfrm>
          <a:prstGeom prst="rect">
            <a:avLst/>
          </a:prstGeom>
          <a:noFill/>
        </p:spPr>
        <p:txBody>
          <a:bodyPr wrap="square" rtlCol="0">
            <a:spAutoFit/>
          </a:bodyPr>
          <a:lstStyle/>
          <a:p>
            <a:pPr indent="0" algn="l" fontAlgn="auto">
              <a:lnSpc>
                <a:spcPct val="150000"/>
              </a:lnSpc>
              <a:buClrTx/>
              <a:buSzTx/>
              <a:buFontTx/>
            </a:pPr>
            <a:r>
              <a:rPr lang="en-US" sz="4000" b="1" dirty="0">
                <a:solidFill>
                  <a:srgbClr val="9B7D3E"/>
                </a:solidFill>
                <a:latin typeface="Times New Roman" panose="02020603050405020304" pitchFamily="18" charset="0"/>
                <a:ea typeface="Arimo" panose="020B0604020202020204"/>
                <a:cs typeface="Times New Roman" panose="02020603050405020304" pitchFamily="18" charset="0"/>
              </a:rPr>
              <a:t>The Formation of the Ecological Historical View</a:t>
            </a:r>
          </a:p>
        </p:txBody>
      </p:sp>
      <p:grpSp>
        <p:nvGrpSpPr>
          <p:cNvPr id="28" name="组合 27"/>
          <p:cNvGrpSpPr/>
          <p:nvPr/>
        </p:nvGrpSpPr>
        <p:grpSpPr>
          <a:xfrm>
            <a:off x="609600" y="1322070"/>
            <a:ext cx="17470755" cy="6772910"/>
            <a:chOff x="960" y="2082"/>
            <a:chExt cx="27513" cy="10666"/>
          </a:xfrm>
        </p:grpSpPr>
        <p:sp>
          <p:nvSpPr>
            <p:cNvPr id="5" name="文本框 4"/>
            <p:cNvSpPr txBox="1"/>
            <p:nvPr/>
          </p:nvSpPr>
          <p:spPr>
            <a:xfrm>
              <a:off x="2400" y="5582"/>
              <a:ext cx="2520" cy="1115"/>
            </a:xfrm>
            <a:prstGeom prst="rect">
              <a:avLst/>
            </a:prstGeom>
            <a:noFill/>
          </p:spPr>
          <p:txBody>
            <a:bodyPr wrap="square" rtlCol="0">
              <a:spAutoFit/>
            </a:bodyPr>
            <a:lstStyle/>
            <a:p>
              <a:r>
                <a:rPr lang="en-US" altLang="zh-CN" sz="4000" dirty="0">
                  <a:solidFill>
                    <a:srgbClr val="26120B"/>
                  </a:solidFill>
                  <a:latin typeface="Times New Roman" panose="02020603050405020304" pitchFamily="18" charset="0"/>
                  <a:cs typeface="Times New Roman" panose="02020603050405020304" pitchFamily="18" charset="0"/>
                </a:rPr>
                <a:t>Brazil</a:t>
              </a:r>
              <a:endParaRPr lang="zh-CN" altLang="en-US" sz="4000" dirty="0">
                <a:solidFill>
                  <a:srgbClr val="26120B"/>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11340" y="5472"/>
              <a:ext cx="2520" cy="1115"/>
            </a:xfrm>
            <a:prstGeom prst="rect">
              <a:avLst/>
            </a:prstGeom>
            <a:noFill/>
          </p:spPr>
          <p:txBody>
            <a:bodyPr wrap="square" rtlCol="0">
              <a:spAutoFit/>
            </a:bodyPr>
            <a:lstStyle/>
            <a:p>
              <a:r>
                <a:rPr lang="en-US" altLang="zh-CN" sz="4000" dirty="0">
                  <a:solidFill>
                    <a:srgbClr val="26120B"/>
                  </a:solidFill>
                  <a:latin typeface="Times New Roman" panose="02020603050405020304" pitchFamily="18" charset="0"/>
                  <a:cs typeface="Times New Roman" panose="02020603050405020304" pitchFamily="18" charset="0"/>
                </a:rPr>
                <a:t>Britain</a:t>
              </a:r>
              <a:endParaRPr lang="zh-CN" altLang="en-US" sz="4000" dirty="0">
                <a:solidFill>
                  <a:srgbClr val="26120B"/>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20520" y="5424"/>
              <a:ext cx="6081" cy="1115"/>
            </a:xfrm>
            <a:prstGeom prst="rect">
              <a:avLst/>
            </a:prstGeom>
            <a:noFill/>
          </p:spPr>
          <p:txBody>
            <a:bodyPr wrap="square" rtlCol="0">
              <a:spAutoFit/>
            </a:bodyPr>
            <a:lstStyle/>
            <a:p>
              <a:r>
                <a:rPr lang="en-US" altLang="zh-CN" sz="4000" dirty="0">
                  <a:solidFill>
                    <a:srgbClr val="26120B"/>
                  </a:solidFill>
                  <a:latin typeface="Times New Roman" panose="02020603050405020304" pitchFamily="18" charset="0"/>
                  <a:cs typeface="Times New Roman" panose="02020603050405020304" pitchFamily="18" charset="0"/>
                </a:rPr>
                <a:t>Southeast Asia</a:t>
              </a:r>
              <a:endParaRPr lang="zh-CN" altLang="en-US" sz="4000" dirty="0">
                <a:solidFill>
                  <a:srgbClr val="26120B"/>
                </a:solidFill>
                <a:latin typeface="Times New Roman" panose="02020603050405020304" pitchFamily="18" charset="0"/>
                <a:cs typeface="Times New Roman" panose="02020603050405020304" pitchFamily="18" charset="0"/>
              </a:endParaRPr>
            </a:p>
          </p:txBody>
        </p:sp>
        <p:cxnSp>
          <p:nvCxnSpPr>
            <p:cNvPr id="9" name="直接箭头连接符 8"/>
            <p:cNvCxnSpPr/>
            <p:nvPr/>
          </p:nvCxnSpPr>
          <p:spPr>
            <a:xfrm>
              <a:off x="5640" y="5983"/>
              <a:ext cx="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flipH="1">
              <a:off x="5640" y="6300"/>
              <a:ext cx="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p:cNvCxnSpPr/>
            <p:nvPr/>
          </p:nvCxnSpPr>
          <p:spPr>
            <a:xfrm>
              <a:off x="14640" y="5918"/>
              <a:ext cx="49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p:cNvCxnSpPr/>
            <p:nvPr/>
          </p:nvCxnSpPr>
          <p:spPr>
            <a:xfrm flipH="1">
              <a:off x="14640" y="6300"/>
              <a:ext cx="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文本框 14"/>
            <p:cNvSpPr txBox="1"/>
            <p:nvPr/>
          </p:nvSpPr>
          <p:spPr>
            <a:xfrm>
              <a:off x="960" y="2082"/>
              <a:ext cx="11525" cy="919"/>
            </a:xfrm>
            <a:prstGeom prst="rect">
              <a:avLst/>
            </a:prstGeom>
            <a:noFill/>
          </p:spPr>
          <p:txBody>
            <a:bodyPr wrap="square" rtlCol="0">
              <a:spAutoFit/>
            </a:bodyPr>
            <a:lstStyle/>
            <a:p>
              <a:r>
                <a:rPr lang="en-US" altLang="zh-CN" sz="3200" b="1" dirty="0">
                  <a:latin typeface="Times New Roman" panose="02020603050405020304" pitchFamily="18" charset="0"/>
                  <a:cs typeface="Times New Roman" panose="02020603050405020304" pitchFamily="18" charset="0"/>
                </a:rPr>
                <a:t>The Second Industrial Revolution</a:t>
              </a:r>
            </a:p>
          </p:txBody>
        </p:sp>
        <p:sp>
          <p:nvSpPr>
            <p:cNvPr id="16" name="文本框 15"/>
            <p:cNvSpPr txBox="1"/>
            <p:nvPr/>
          </p:nvSpPr>
          <p:spPr>
            <a:xfrm>
              <a:off x="5640" y="5084"/>
              <a:ext cx="4440" cy="871"/>
            </a:xfrm>
            <a:prstGeom prst="rect">
              <a:avLst/>
            </a:prstGeom>
            <a:noFill/>
          </p:spPr>
          <p:txBody>
            <a:bodyPr wrap="square" rtlCol="0">
              <a:spAutoFit/>
            </a:bodyPr>
            <a:lstStyle/>
            <a:p>
              <a:pPr indent="0" algn="ctr" fontAlgn="auto">
                <a:lnSpc>
                  <a:spcPts val="1800"/>
                </a:lnSpc>
              </a:pPr>
              <a:r>
                <a:rPr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Wild rubber tree species</a:t>
              </a:r>
              <a:r>
                <a:rPr lang="zh-CN" altLang="en-US"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US" altLang="zh-CN" dirty="0">
                <a:solidFill>
                  <a:schemeClr val="tx1">
                    <a:lumMod val="65000"/>
                    <a:lumOff val="35000"/>
                  </a:schemeClr>
                </a:solidFill>
                <a:latin typeface="Times New Roman" panose="02020603050405020304" pitchFamily="18" charset="0"/>
                <a:cs typeface="Times New Roman" panose="02020603050405020304" pitchFamily="18" charset="0"/>
              </a:endParaRPr>
            </a:p>
            <a:p>
              <a:pPr indent="0" algn="ctr" fontAlgn="auto">
                <a:lnSpc>
                  <a:spcPts val="1800"/>
                </a:lnSpc>
              </a:pPr>
              <a:r>
                <a:rPr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Primitive genetic resources</a:t>
              </a:r>
            </a:p>
          </p:txBody>
        </p:sp>
        <p:sp>
          <p:nvSpPr>
            <p:cNvPr id="17" name="文本框 16"/>
            <p:cNvSpPr txBox="1"/>
            <p:nvPr/>
          </p:nvSpPr>
          <p:spPr>
            <a:xfrm>
              <a:off x="5395" y="6374"/>
              <a:ext cx="4932" cy="871"/>
            </a:xfrm>
            <a:prstGeom prst="rect">
              <a:avLst/>
            </a:prstGeom>
            <a:noFill/>
          </p:spPr>
          <p:txBody>
            <a:bodyPr wrap="square" rtlCol="0">
              <a:spAutoFit/>
            </a:bodyPr>
            <a:lstStyle/>
            <a:p>
              <a:pPr indent="0" algn="ctr" fontAlgn="auto">
                <a:lnSpc>
                  <a:spcPts val="1800"/>
                </a:lnSpc>
              </a:pPr>
              <a:r>
                <a:rPr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Massacre the indigenous people</a:t>
              </a:r>
            </a:p>
            <a:p>
              <a:pPr indent="0" algn="ctr" fontAlgn="auto">
                <a:lnSpc>
                  <a:spcPts val="1800"/>
                </a:lnSpc>
              </a:pPr>
              <a:r>
                <a:rPr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Economic bankruptcy</a:t>
              </a:r>
            </a:p>
          </p:txBody>
        </p:sp>
        <p:sp>
          <p:nvSpPr>
            <p:cNvPr id="19" name="文本框 18"/>
            <p:cNvSpPr txBox="1"/>
            <p:nvPr/>
          </p:nvSpPr>
          <p:spPr>
            <a:xfrm>
              <a:off x="14945" y="5035"/>
              <a:ext cx="4440" cy="871"/>
            </a:xfrm>
            <a:prstGeom prst="rect">
              <a:avLst/>
            </a:prstGeom>
            <a:noFill/>
          </p:spPr>
          <p:txBody>
            <a:bodyPr wrap="square" rtlCol="0">
              <a:spAutoFit/>
            </a:bodyPr>
            <a:lstStyle/>
            <a:p>
              <a:pPr indent="0" algn="ctr" fontAlgn="auto">
                <a:lnSpc>
                  <a:spcPts val="1800"/>
                </a:lnSpc>
              </a:pPr>
              <a:r>
                <a:rPr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Distribute rubber saplings and exploit the land</a:t>
              </a:r>
            </a:p>
          </p:txBody>
        </p:sp>
        <p:sp>
          <p:nvSpPr>
            <p:cNvPr id="20" name="文本框 19"/>
            <p:cNvSpPr txBox="1"/>
            <p:nvPr/>
          </p:nvSpPr>
          <p:spPr>
            <a:xfrm>
              <a:off x="14820" y="6259"/>
              <a:ext cx="4440" cy="582"/>
            </a:xfrm>
            <a:prstGeom prst="rect">
              <a:avLst/>
            </a:prstGeom>
            <a:noFill/>
          </p:spPr>
          <p:txBody>
            <a:bodyPr wrap="square" rtlCol="0">
              <a:spAutoFit/>
            </a:bodyPr>
            <a:lstStyle/>
            <a:p>
              <a:pPr algn="ctr"/>
              <a:r>
                <a:rPr lang="en-US" altLang="zh-CN" dirty="0">
                  <a:solidFill>
                    <a:schemeClr val="tx1">
                      <a:lumMod val="65000"/>
                      <a:lumOff val="35000"/>
                    </a:schemeClr>
                  </a:solidFill>
                  <a:latin typeface="Times New Roman" panose="02020603050405020304" pitchFamily="18" charset="0"/>
                  <a:cs typeface="Times New Roman" panose="02020603050405020304" pitchFamily="18" charset="0"/>
                </a:rPr>
                <a:t>Output rubber</a:t>
              </a:r>
            </a:p>
          </p:txBody>
        </p:sp>
        <p:sp>
          <p:nvSpPr>
            <p:cNvPr id="24" name="文本框 23"/>
            <p:cNvSpPr txBox="1"/>
            <p:nvPr/>
          </p:nvSpPr>
          <p:spPr>
            <a:xfrm>
              <a:off x="9370" y="7814"/>
              <a:ext cx="6280" cy="2325"/>
            </a:xfrm>
            <a:prstGeom prst="rect">
              <a:avLst/>
            </a:prstGeom>
            <a:noFill/>
          </p:spPr>
          <p:txBody>
            <a:bodyPr wrap="square" rtlCol="0">
              <a:spAutoFit/>
            </a:bodyPr>
            <a:lstStyle/>
            <a:p>
              <a:pPr algn="ctr"/>
              <a:r>
                <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rPr>
                <a:t>Rapid industrial development and the establishment of industrial hegemony</a:t>
              </a:r>
            </a:p>
            <a:p>
              <a:endPar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cxnSp>
          <p:nvCxnSpPr>
            <p:cNvPr id="25" name="直接箭头连接符 24"/>
            <p:cNvCxnSpPr/>
            <p:nvPr/>
          </p:nvCxnSpPr>
          <p:spPr>
            <a:xfrm>
              <a:off x="12610" y="9769"/>
              <a:ext cx="0" cy="10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8520" y="7380"/>
              <a:ext cx="0" cy="35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连接符: 肘形 33"/>
            <p:cNvCxnSpPr/>
            <p:nvPr/>
          </p:nvCxnSpPr>
          <p:spPr>
            <a:xfrm flipV="1">
              <a:off x="14760" y="8940"/>
              <a:ext cx="2880" cy="2520"/>
            </a:xfrm>
            <a:prstGeom prst="bentConnector3">
              <a:avLst>
                <a:gd name="adj1" fmla="val 50035"/>
              </a:avLst>
            </a:prstGeom>
            <a:ln>
              <a:tailEnd type="triangle"/>
            </a:ln>
          </p:spPr>
          <p:style>
            <a:lnRef idx="1">
              <a:schemeClr val="dk1"/>
            </a:lnRef>
            <a:fillRef idx="0">
              <a:schemeClr val="dk1"/>
            </a:fillRef>
            <a:effectRef idx="0">
              <a:schemeClr val="dk1"/>
            </a:effectRef>
            <a:fontRef idx="minor">
              <a:schemeClr val="tx1"/>
            </a:fontRef>
          </p:style>
        </p:cxnSp>
        <p:sp>
          <p:nvSpPr>
            <p:cNvPr id="35" name="文本框 34"/>
            <p:cNvSpPr txBox="1"/>
            <p:nvPr/>
          </p:nvSpPr>
          <p:spPr>
            <a:xfrm>
              <a:off x="17586" y="8194"/>
              <a:ext cx="5906" cy="3633"/>
            </a:xfrm>
            <a:prstGeom prst="rect">
              <a:avLst/>
            </a:prstGeom>
            <a:solidFill>
              <a:srgbClr val="EBEBEA"/>
            </a:solidFill>
          </p:spPr>
          <p:txBody>
            <a:bodyPr wrap="square" rtlCol="0">
              <a:spAutoFit/>
            </a:bodyPr>
            <a:lstStyle/>
            <a:p>
              <a:pPr algn="ctr"/>
              <a:r>
                <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rPr>
                <a:t>Promote the academic community to summarize the experiences and lessons of human - nature interaction from history</a:t>
              </a:r>
            </a:p>
            <a:p>
              <a:pPr algn="ctr"/>
              <a:endPar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cxnSp>
          <p:nvCxnSpPr>
            <p:cNvPr id="37" name="直接箭头连接符 36"/>
            <p:cNvCxnSpPr/>
            <p:nvPr/>
          </p:nvCxnSpPr>
          <p:spPr>
            <a:xfrm>
              <a:off x="23640" y="9540"/>
              <a:ext cx="15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文本框 37"/>
            <p:cNvSpPr txBox="1"/>
            <p:nvPr/>
          </p:nvSpPr>
          <p:spPr>
            <a:xfrm>
              <a:off x="24993" y="8692"/>
              <a:ext cx="3480" cy="1696"/>
            </a:xfrm>
            <a:prstGeom prst="rect">
              <a:avLst/>
            </a:prstGeom>
            <a:noFill/>
          </p:spPr>
          <p:txBody>
            <a:bodyPr wrap="square" rtlCol="0">
              <a:spAutoFit/>
            </a:bodyPr>
            <a:lstStyle/>
            <a:p>
              <a:pPr algn="ctr"/>
              <a:r>
                <a:rPr lang="en-US" altLang="zh-CN" sz="3200" b="1" dirty="0">
                  <a:latin typeface="Times New Roman" panose="02020603050405020304" pitchFamily="18" charset="0"/>
                  <a:cs typeface="Times New Roman" panose="02020603050405020304" pitchFamily="18" charset="0"/>
                </a:rPr>
                <a:t>Ecological History</a:t>
              </a:r>
              <a:endParaRPr lang="zh-CN" altLang="en-US" sz="3200" b="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1692" y="3999"/>
              <a:ext cx="7896" cy="822"/>
            </a:xfrm>
            <a:prstGeom prst="rect">
              <a:avLst/>
            </a:prstGeom>
            <a:noFill/>
          </p:spPr>
          <p:txBody>
            <a:bodyPr wrap="square" rtlCol="0">
              <a:spAutoFit/>
            </a:bodyPr>
            <a:lstStyle/>
            <a:p>
              <a:pPr algn="ctr"/>
              <a:r>
                <a:rPr lang="en-US" altLang="zh-CN" sz="2800" dirty="0">
                  <a:latin typeface="Times New Roman" panose="02020603050405020304" pitchFamily="18" charset="0"/>
                  <a:cs typeface="Times New Roman" panose="02020603050405020304" pitchFamily="18" charset="0"/>
                </a:rPr>
                <a:t>Raw materials are needed</a:t>
              </a:r>
            </a:p>
          </p:txBody>
        </p:sp>
        <p:cxnSp>
          <p:nvCxnSpPr>
            <p:cNvPr id="42" name="直接连接符 41"/>
            <p:cNvCxnSpPr/>
            <p:nvPr/>
          </p:nvCxnSpPr>
          <p:spPr>
            <a:xfrm>
              <a:off x="8880" y="4349"/>
              <a:ext cx="3746" cy="0"/>
            </a:xfrm>
            <a:prstGeom prst="line">
              <a:avLst/>
            </a:prstGeom>
          </p:spPr>
          <p:style>
            <a:lnRef idx="1">
              <a:schemeClr val="dk1"/>
            </a:lnRef>
            <a:fillRef idx="0">
              <a:schemeClr val="dk1"/>
            </a:fillRef>
            <a:effectRef idx="0">
              <a:schemeClr val="dk1"/>
            </a:effectRef>
            <a:fontRef idx="minor">
              <a:schemeClr val="tx1"/>
            </a:fontRef>
          </p:style>
        </p:cxnSp>
        <p:cxnSp>
          <p:nvCxnSpPr>
            <p:cNvPr id="52" name="直接箭头连接符 51"/>
            <p:cNvCxnSpPr/>
            <p:nvPr/>
          </p:nvCxnSpPr>
          <p:spPr>
            <a:xfrm flipV="1">
              <a:off x="10773" y="2648"/>
              <a:ext cx="16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接箭头连接符 52"/>
            <p:cNvCxnSpPr/>
            <p:nvPr/>
          </p:nvCxnSpPr>
          <p:spPr>
            <a:xfrm flipV="1">
              <a:off x="17216" y="2641"/>
              <a:ext cx="16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文本框 53"/>
            <p:cNvSpPr txBox="1"/>
            <p:nvPr/>
          </p:nvSpPr>
          <p:spPr>
            <a:xfrm>
              <a:off x="12589" y="2165"/>
              <a:ext cx="4825" cy="680"/>
            </a:xfrm>
            <a:prstGeom prst="rect">
              <a:avLst/>
            </a:prstGeom>
            <a:noFill/>
          </p:spPr>
          <p:txBody>
            <a:bodyPr wrap="square">
              <a:noAutofit/>
            </a:bodyPr>
            <a:lstStyle/>
            <a:p>
              <a:r>
                <a:rPr lang="en-US" altLang="zh-CN" sz="2800" dirty="0">
                  <a:solidFill>
                    <a:schemeClr val="tx1">
                      <a:lumMod val="75000"/>
                      <a:lumOff val="25000"/>
                    </a:schemeClr>
                  </a:solidFill>
                  <a:latin typeface="Times New Roman" panose="02020603050405020304" pitchFamily="18" charset="0"/>
                  <a:cs typeface="Times New Roman" panose="02020603050405020304" pitchFamily="18" charset="0"/>
                </a:rPr>
                <a:t>Global perspective</a:t>
              </a:r>
            </a:p>
          </p:txBody>
        </p:sp>
        <p:sp>
          <p:nvSpPr>
            <p:cNvPr id="55" name="文本框 54"/>
            <p:cNvSpPr txBox="1"/>
            <p:nvPr/>
          </p:nvSpPr>
          <p:spPr>
            <a:xfrm>
              <a:off x="18745" y="2082"/>
              <a:ext cx="5759" cy="919"/>
            </a:xfrm>
            <a:prstGeom prst="rect">
              <a:avLst/>
            </a:prstGeom>
            <a:noFill/>
          </p:spPr>
          <p:txBody>
            <a:bodyPr wrap="square" rtlCol="0">
              <a:spAutoFit/>
            </a:bodyPr>
            <a:lstStyle/>
            <a:p>
              <a:pPr algn="ctr"/>
              <a:r>
                <a:rPr lang="en-US" altLang="zh-CN" sz="3200" b="1" dirty="0">
                  <a:latin typeface="Times New Roman" panose="02020603050405020304" pitchFamily="18" charset="0"/>
                  <a:cs typeface="Times New Roman" panose="02020603050405020304" pitchFamily="18" charset="0"/>
                </a:rPr>
                <a:t>Scientific History</a:t>
              </a:r>
              <a:endParaRPr lang="zh-CN" altLang="en-US" sz="3200" b="1" dirty="0">
                <a:latin typeface="Times New Roman" panose="02020603050405020304" pitchFamily="18" charset="0"/>
                <a:cs typeface="Times New Roman" panose="02020603050405020304" pitchFamily="18" charset="0"/>
              </a:endParaRPr>
            </a:p>
          </p:txBody>
        </p:sp>
        <p:cxnSp>
          <p:nvCxnSpPr>
            <p:cNvPr id="57" name="直接连接符 56"/>
            <p:cNvCxnSpPr/>
            <p:nvPr/>
          </p:nvCxnSpPr>
          <p:spPr>
            <a:xfrm>
              <a:off x="24470" y="2641"/>
              <a:ext cx="2490" cy="0"/>
            </a:xfrm>
            <a:prstGeom prst="line">
              <a:avLst/>
            </a:prstGeom>
          </p:spPr>
          <p:style>
            <a:lnRef idx="1">
              <a:schemeClr val="dk1"/>
            </a:lnRef>
            <a:fillRef idx="0">
              <a:schemeClr val="dk1"/>
            </a:fillRef>
            <a:effectRef idx="0">
              <a:schemeClr val="dk1"/>
            </a:effectRef>
            <a:fontRef idx="minor">
              <a:schemeClr val="tx1"/>
            </a:fontRef>
          </p:style>
        </p:cxnSp>
        <p:cxnSp>
          <p:nvCxnSpPr>
            <p:cNvPr id="59" name="直接箭头连接符 58"/>
            <p:cNvCxnSpPr/>
            <p:nvPr/>
          </p:nvCxnSpPr>
          <p:spPr>
            <a:xfrm>
              <a:off x="26961" y="2641"/>
              <a:ext cx="0" cy="59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7676" y="10860"/>
              <a:ext cx="6964" cy="1888"/>
            </a:xfrm>
            <a:prstGeom prst="rect">
              <a:avLst/>
            </a:prstGeom>
            <a:noFill/>
          </p:spPr>
          <p:txBody>
            <a:bodyPr wrap="square" rtlCol="0">
              <a:spAutoFit/>
            </a:bodyPr>
            <a:lstStyle/>
            <a:p>
              <a:pPr algn="ctr"/>
              <a:r>
                <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rPr>
                <a:t>air environmental pollution Resource depletion Ecological imbalance</a:t>
              </a:r>
            </a:p>
          </p:txBody>
        </p:sp>
      </p:grpSp>
      <p:cxnSp>
        <p:nvCxnSpPr>
          <p:cNvPr id="26" name="直接箭头连接符 25"/>
          <p:cNvCxnSpPr/>
          <p:nvPr/>
        </p:nvCxnSpPr>
        <p:spPr>
          <a:xfrm>
            <a:off x="3581400" y="1891665"/>
            <a:ext cx="0" cy="661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a:off x="8001000" y="2799715"/>
            <a:ext cx="0" cy="661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7994015" y="4229100"/>
            <a:ext cx="0" cy="661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9" name="组合 28"/>
          <p:cNvGrpSpPr/>
          <p:nvPr/>
        </p:nvGrpSpPr>
        <p:grpSpPr>
          <a:xfrm>
            <a:off x="-152157" y="5406282"/>
            <a:ext cx="4906936" cy="3301176"/>
            <a:chOff x="128" y="6900"/>
            <a:chExt cx="7850" cy="5163"/>
          </a:xfrm>
          <a:effectLst>
            <a:outerShdw blurRad="50800" dist="38100" dir="2700000" sx="101000" sy="101000" algn="tl" rotWithShape="0">
              <a:prstClr val="black">
                <a:alpha val="40000"/>
              </a:prstClr>
            </a:outerShdw>
          </a:effectLst>
        </p:grpSpPr>
        <p:sp>
          <p:nvSpPr>
            <p:cNvPr id="27" name="流程图: 可选过程 26"/>
            <p:cNvSpPr/>
            <p:nvPr/>
          </p:nvSpPr>
          <p:spPr>
            <a:xfrm>
              <a:off x="128" y="6900"/>
              <a:ext cx="7850" cy="5163"/>
            </a:xfrm>
            <a:prstGeom prst="flowChartAlternateProcess">
              <a:avLst/>
            </a:prstGeom>
            <a:solidFill>
              <a:srgbClr val="EBEAE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文本框 39"/>
            <p:cNvSpPr txBox="1"/>
            <p:nvPr/>
          </p:nvSpPr>
          <p:spPr>
            <a:xfrm>
              <a:off x="983" y="7805"/>
              <a:ext cx="6000" cy="4042"/>
            </a:xfrm>
            <a:prstGeom prst="rect">
              <a:avLst/>
            </a:prstGeom>
            <a:noFill/>
          </p:spPr>
          <p:txBody>
            <a:bodyPr wrap="square" rtlCol="0">
              <a:spAutoFit/>
            </a:bodyPr>
            <a:lstStyle/>
            <a:p>
              <a:pPr algn="ctr"/>
              <a:r>
                <a:rPr lang="en-US" altLang="zh-CN" sz="2400" dirty="0">
                  <a:solidFill>
                    <a:srgbClr val="C00000"/>
                  </a:solidFill>
                  <a:highlight>
                    <a:srgbClr val="000000">
                      <a:alpha val="0"/>
                    </a:srgbClr>
                  </a:highlight>
                  <a:latin typeface="Times New Roman" panose="02020603050405020304" pitchFamily="18" charset="0"/>
                  <a:cs typeface="Times New Roman" panose="02020603050405020304" pitchFamily="18" charset="0"/>
                </a:rPr>
                <a:t>The unequal interaction between industrial civilization and non - industrial civilization has given rise to the ecological historical view.</a:t>
              </a:r>
            </a:p>
            <a:p>
              <a:pPr algn="ctr"/>
              <a:endParaRPr lang="en-US" altLang="zh-CN" sz="2400" dirty="0">
                <a:solidFill>
                  <a:srgbClr val="C00000"/>
                </a:solidFill>
                <a:highlight>
                  <a:srgbClr val="000000">
                    <a:alpha val="0"/>
                  </a:srgbClr>
                </a:highlight>
                <a:latin typeface="Times New Roman" panose="02020603050405020304" pitchFamily="18" charset="0"/>
                <a:cs typeface="Times New Roman" panose="02020603050405020304" pitchFamily="18" charset="0"/>
              </a:endParaRPr>
            </a:p>
          </p:txBody>
        </p:sp>
        <p:sp>
          <p:nvSpPr>
            <p:cNvPr id="47" name="Freeform 18"/>
            <p:cNvSpPr/>
            <p:nvPr/>
          </p:nvSpPr>
          <p:spPr>
            <a:xfrm rot="10800000">
              <a:off x="983" y="7461"/>
              <a:ext cx="1166" cy="1150"/>
            </a:xfrm>
            <a:custGeom>
              <a:avLst/>
              <a:gdLst/>
              <a:ahLst/>
              <a:cxnLst/>
              <a:rect l="l" t="t" r="r" b="b"/>
              <a:pathLst>
                <a:path w="740093" h="740092">
                  <a:moveTo>
                    <a:pt x="0" y="0"/>
                  </a:moveTo>
                  <a:lnTo>
                    <a:pt x="740092" y="0"/>
                  </a:lnTo>
                  <a:lnTo>
                    <a:pt x="740092" y="740093"/>
                  </a:lnTo>
                  <a:lnTo>
                    <a:pt x="0" y="74009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48" name="Freeform 18"/>
            <p:cNvSpPr/>
            <p:nvPr/>
          </p:nvSpPr>
          <p:spPr>
            <a:xfrm>
              <a:off x="6003" y="10388"/>
              <a:ext cx="1166" cy="1165"/>
            </a:xfrm>
            <a:custGeom>
              <a:avLst/>
              <a:gdLst/>
              <a:ahLst/>
              <a:cxnLst/>
              <a:rect l="l" t="t" r="r" b="b"/>
              <a:pathLst>
                <a:path w="740093" h="740092">
                  <a:moveTo>
                    <a:pt x="0" y="0"/>
                  </a:moveTo>
                  <a:lnTo>
                    <a:pt x="740092" y="0"/>
                  </a:lnTo>
                  <a:lnTo>
                    <a:pt x="740092" y="740093"/>
                  </a:lnTo>
                  <a:lnTo>
                    <a:pt x="0" y="74009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939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sp>
      <p:sp>
        <p:nvSpPr>
          <p:cNvPr id="9" name="TextBox 9"/>
          <p:cNvSpPr txBox="1"/>
          <p:nvPr/>
        </p:nvSpPr>
        <p:spPr>
          <a:xfrm>
            <a:off x="8028940" y="1943100"/>
            <a:ext cx="9328785" cy="5386070"/>
          </a:xfrm>
          <a:prstGeom prst="rect">
            <a:avLst/>
          </a:prstGeom>
        </p:spPr>
        <p:txBody>
          <a:bodyPr wrap="square" lIns="0" tIns="0" rIns="0" bIns="0" rtlCol="0" anchor="t">
            <a:spAutoFit/>
          </a:bodyPr>
          <a:lstStyle/>
          <a:p>
            <a:pPr>
              <a:lnSpc>
                <a:spcPts val="3960"/>
              </a:lnSpc>
            </a:pPr>
            <a:r>
              <a:rPr lang="en-US" sz="4000" b="1" dirty="0">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rPr>
              <a:t>Core viewpoints</a:t>
            </a:r>
          </a:p>
          <a:p>
            <a:pPr marL="742950" indent="-742950" fontAlgn="auto">
              <a:lnSpc>
                <a:spcPts val="3960"/>
              </a:lnSpc>
              <a:spcBef>
                <a:spcPts val="1200"/>
              </a:spcBef>
              <a:buFont typeface="+mj-lt"/>
              <a:buAutoNum type="arabicPeriod"/>
            </a:pPr>
            <a:r>
              <a:rPr lang="en-US" sz="28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Interaction between nature and civilization</a:t>
            </a:r>
            <a:r>
              <a:rPr lang="en-US"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a:t>
            </a:r>
            <a:r>
              <a:rPr lang="en-US" sz="24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a:t>
            </a:r>
            <a:r>
              <a:rPr lang="en-US" sz="2400"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The ecological historical view emphasizes the interactive relationship between </a:t>
            </a:r>
            <a:r>
              <a:rPr lang="en-US" sz="2400" b="1"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human civilization and the natural environment</a:t>
            </a:r>
            <a:r>
              <a:rPr lang="en-US" sz="2400"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 believing that the development of civilization cannot do without </a:t>
            </a:r>
            <a:r>
              <a:rPr lang="en-US" sz="2400" b="1"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respect for and protection of the natural environment</a:t>
            </a:r>
            <a:r>
              <a:rPr lang="en-US" sz="2400"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a:t>
            </a:r>
          </a:p>
          <a:p>
            <a:pPr marL="742950" indent="-742950" fontAlgn="auto">
              <a:lnSpc>
                <a:spcPts val="3960"/>
              </a:lnSpc>
              <a:spcBef>
                <a:spcPts val="1200"/>
              </a:spcBef>
              <a:buFont typeface="+mj-lt"/>
              <a:buAutoNum type="arabicPeriod"/>
            </a:pPr>
            <a:r>
              <a:rPr lang="en-US" sz="28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Sustainability</a:t>
            </a:r>
            <a:r>
              <a:rPr lang="en-US"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a:t>
            </a:r>
            <a:r>
              <a:rPr lang="en-US" sz="2400"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This theory holds that the sustainability of environmental resources is the foundation for the survival of civilization, and changes in the </a:t>
            </a:r>
            <a:r>
              <a:rPr lang="en-US" sz="2400" b="1"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ecological environment </a:t>
            </a:r>
            <a:r>
              <a:rPr lang="en-US" sz="2400"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will directly affect </a:t>
            </a:r>
            <a:r>
              <a:rPr lang="en-US" sz="2400" b="1"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the rise and fall of civilization</a:t>
            </a:r>
            <a:r>
              <a:rPr lang="en-US" sz="2400" dirty="0">
                <a:solidFill>
                  <a:schemeClr val="tx1">
                    <a:lumMod val="65000"/>
                    <a:lumOff val="3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a:t>
            </a:r>
          </a:p>
        </p:txBody>
      </p:sp>
      <p:sp>
        <p:nvSpPr>
          <p:cNvPr id="10" name="TextBox 10"/>
          <p:cNvSpPr txBox="1"/>
          <p:nvPr/>
        </p:nvSpPr>
        <p:spPr>
          <a:xfrm>
            <a:off x="6007019" y="581096"/>
            <a:ext cx="6273962" cy="641201"/>
          </a:xfrm>
          <a:prstGeom prst="rect">
            <a:avLst/>
          </a:prstGeom>
        </p:spPr>
        <p:txBody>
          <a:bodyPr wrap="square" lIns="0" tIns="0" rIns="0" bIns="0" rtlCol="0" anchor="t">
            <a:spAutoFit/>
          </a:bodyPr>
          <a:lstStyle/>
          <a:p>
            <a:pPr algn="l">
              <a:lnSpc>
                <a:spcPts val="5040"/>
              </a:lnSpc>
            </a:pPr>
            <a:r>
              <a:rPr lang="en-US" sz="42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Ecological Historical View</a:t>
            </a:r>
          </a:p>
        </p:txBody>
      </p:sp>
      <p:sp>
        <p:nvSpPr>
          <p:cNvPr id="11" name="AutoShape 11"/>
          <p:cNvSpPr/>
          <p:nvPr/>
        </p:nvSpPr>
        <p:spPr>
          <a:xfrm rot="9780">
            <a:off x="5936298" y="1366151"/>
            <a:ext cx="6156000" cy="635"/>
          </a:xfrm>
          <a:prstGeom prst="line">
            <a:avLst/>
          </a:prstGeom>
          <a:ln w="9525" cap="rnd">
            <a:solidFill>
              <a:srgbClr val="000000"/>
            </a:solidFill>
            <a:prstDash val="solid"/>
            <a:headEnd type="none" w="sm" len="sm"/>
            <a:tailEnd type="none" w="sm" len="sm"/>
          </a:ln>
        </p:spPr>
      </p:sp>
      <p:sp>
        <p:nvSpPr>
          <p:cNvPr id="17" name="文本框 16"/>
          <p:cNvSpPr txBox="1"/>
          <p:nvPr/>
        </p:nvSpPr>
        <p:spPr>
          <a:xfrm>
            <a:off x="6248400" y="7658131"/>
            <a:ext cx="5791200" cy="1077218"/>
          </a:xfrm>
          <a:prstGeom prst="rect">
            <a:avLst/>
          </a:prstGeom>
          <a:noFill/>
        </p:spPr>
        <p:txBody>
          <a:bodyPr wrap="square" rtlCol="0">
            <a:spAutoFit/>
          </a:bodyPr>
          <a:lstStyle/>
          <a:p>
            <a:pPr algn="ctr"/>
            <a:r>
              <a:rPr lang="en-US" altLang="zh-CN" sz="3200" b="1" dirty="0">
                <a:solidFill>
                  <a:srgbClr val="9B7D3E"/>
                </a:solidFill>
                <a:latin typeface="Times New Roman" panose="02020603050405020304" pitchFamily="18" charset="0"/>
                <a:cs typeface="Times New Roman" panose="02020603050405020304" pitchFamily="18" charset="0"/>
              </a:rPr>
              <a:t>one of the seven basic historical views in history</a:t>
            </a:r>
            <a:endParaRPr lang="zh-CN" altLang="en-US" sz="3200" b="1" dirty="0">
              <a:solidFill>
                <a:srgbClr val="9B7D3E"/>
              </a:solidFill>
              <a:latin typeface="Times New Roman" panose="02020603050405020304" pitchFamily="18" charset="0"/>
              <a:cs typeface="Times New Roman" panose="02020603050405020304" pitchFamily="18" charset="0"/>
            </a:endParaRPr>
          </a:p>
        </p:txBody>
      </p:sp>
      <p:grpSp>
        <p:nvGrpSpPr>
          <p:cNvPr id="14" name="Group 14"/>
          <p:cNvGrpSpPr>
            <a:grpSpLocks noGrp="1" noUngrp="1" noRot="1" noMove="1" noResize="1"/>
          </p:cNvGrpSpPr>
          <p:nvPr/>
        </p:nvGrpSpPr>
        <p:grpSpPr>
          <a:xfrm rot="9835979">
            <a:off x="7807325" y="7179945"/>
            <a:ext cx="14083665" cy="9244330"/>
            <a:chOff x="-697026" y="-1467569"/>
            <a:chExt cx="24384000" cy="13716000"/>
          </a:xfrm>
          <a:effectLst>
            <a:outerShdw blurRad="50800" dist="50800" dir="5400000" algn="ctr" rotWithShape="0">
              <a:srgbClr val="000000">
                <a:alpha val="16000"/>
              </a:srgbClr>
            </a:outerShdw>
          </a:effectLst>
        </p:grpSpPr>
        <p:sp>
          <p:nvSpPr>
            <p:cNvPr id="15" name="Freeform 15"/>
            <p:cNvSpPr/>
            <p:nvPr/>
          </p:nvSpPr>
          <p:spPr>
            <a:xfrm>
              <a:off x="-697026" y="-1467569"/>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alphaModFix amt="55000"/>
              </a:blip>
              <a:stretch>
                <a:fillRect/>
              </a:stretch>
            </a:blipFill>
            <a:effectLst>
              <a:outerShdw blurRad="50800" dist="50800" dir="5400000" algn="ctr" rotWithShape="0">
                <a:srgbClr val="000000">
                  <a:alpha val="62000"/>
                </a:srgbClr>
              </a:outerShdw>
            </a:effectLst>
          </p:spPr>
        </p:sp>
      </p:grpSp>
      <p:grpSp>
        <p:nvGrpSpPr>
          <p:cNvPr id="23" name="组合 22"/>
          <p:cNvGrpSpPr/>
          <p:nvPr/>
        </p:nvGrpSpPr>
        <p:grpSpPr>
          <a:xfrm>
            <a:off x="-1810385" y="7651750"/>
            <a:ext cx="8446770" cy="4991735"/>
            <a:chOff x="-660" y="9890"/>
            <a:chExt cx="11980" cy="7861"/>
          </a:xfrm>
        </p:grpSpPr>
        <p:grpSp>
          <p:nvGrpSpPr>
            <p:cNvPr id="3" name="Group 3"/>
            <p:cNvGrpSpPr/>
            <p:nvPr/>
          </p:nvGrpSpPr>
          <p:grpSpPr>
            <a:xfrm>
              <a:off x="6706" y="11900"/>
              <a:ext cx="4611" cy="5471"/>
              <a:chOff x="0" y="0"/>
              <a:chExt cx="3903777" cy="4632414"/>
            </a:xfrm>
          </p:grpSpPr>
          <p:sp>
            <p:nvSpPr>
              <p:cNvPr id="4" name="Freeform 4"/>
              <p:cNvSpPr/>
              <p:nvPr/>
            </p:nvSpPr>
            <p:spPr>
              <a:xfrm>
                <a:off x="0" y="0"/>
                <a:ext cx="3903726" cy="4632452"/>
              </a:xfrm>
              <a:custGeom>
                <a:avLst/>
                <a:gdLst/>
                <a:ahLst/>
                <a:cxnLst/>
                <a:rect l="l" t="t" r="r" b="b"/>
                <a:pathLst>
                  <a:path w="3903726" h="4632452">
                    <a:moveTo>
                      <a:pt x="0" y="0"/>
                    </a:moveTo>
                    <a:lnTo>
                      <a:pt x="3903726" y="0"/>
                    </a:lnTo>
                    <a:lnTo>
                      <a:pt x="3903726" y="4632452"/>
                    </a:lnTo>
                    <a:lnTo>
                      <a:pt x="0" y="4632452"/>
                    </a:lnTo>
                    <a:lnTo>
                      <a:pt x="0" y="0"/>
                    </a:lnTo>
                    <a:close/>
                  </a:path>
                </a:pathLst>
              </a:custGeom>
              <a:blipFill>
                <a:blip r:embed="rId5">
                  <a:alphaModFix amt="55000"/>
                </a:blip>
                <a:stretch>
                  <a:fillRect t="-35" r="-1" b="-35"/>
                </a:stretch>
              </a:blipFill>
            </p:spPr>
          </p:sp>
        </p:grpSp>
        <p:grpSp>
          <p:nvGrpSpPr>
            <p:cNvPr id="7" name="Group 7"/>
            <p:cNvGrpSpPr/>
            <p:nvPr/>
          </p:nvGrpSpPr>
          <p:grpSpPr>
            <a:xfrm>
              <a:off x="-660" y="12797"/>
              <a:ext cx="4639" cy="4954"/>
              <a:chOff x="0" y="0"/>
              <a:chExt cx="3927602" cy="4194467"/>
            </a:xfrm>
          </p:grpSpPr>
          <p:sp>
            <p:nvSpPr>
              <p:cNvPr id="8" name="Freeform 8"/>
              <p:cNvSpPr/>
              <p:nvPr/>
            </p:nvSpPr>
            <p:spPr>
              <a:xfrm flipH="1">
                <a:off x="0" y="0"/>
                <a:ext cx="3927602" cy="4194429"/>
              </a:xfrm>
              <a:custGeom>
                <a:avLst/>
                <a:gdLst/>
                <a:ahLst/>
                <a:cxnLst/>
                <a:rect l="l" t="t" r="r" b="b"/>
                <a:pathLst>
                  <a:path w="3927602" h="4194429">
                    <a:moveTo>
                      <a:pt x="3927602" y="0"/>
                    </a:moveTo>
                    <a:lnTo>
                      <a:pt x="0" y="0"/>
                    </a:lnTo>
                    <a:lnTo>
                      <a:pt x="0" y="4194429"/>
                    </a:lnTo>
                    <a:lnTo>
                      <a:pt x="3927602" y="4194429"/>
                    </a:lnTo>
                    <a:lnTo>
                      <a:pt x="3927602" y="0"/>
                    </a:lnTo>
                    <a:close/>
                  </a:path>
                </a:pathLst>
              </a:custGeom>
              <a:blipFill>
                <a:blip r:embed="rId6">
                  <a:alphaModFix amt="55000"/>
                </a:blip>
                <a:stretch>
                  <a:fillRect t="-17" b="-18"/>
                </a:stretch>
              </a:blipFill>
            </p:spPr>
          </p:sp>
        </p:grpSp>
        <p:grpSp>
          <p:nvGrpSpPr>
            <p:cNvPr id="5" name="Group 5"/>
            <p:cNvGrpSpPr>
              <a:grpSpLocks noGrp="1" noUngrp="1" noRot="1" noMove="1" noResize="1"/>
            </p:cNvGrpSpPr>
            <p:nvPr/>
          </p:nvGrpSpPr>
          <p:grpSpPr>
            <a:xfrm>
              <a:off x="2880" y="9890"/>
              <a:ext cx="8441" cy="7460"/>
              <a:chOff x="0" y="0"/>
              <a:chExt cx="7146811" cy="6316447"/>
            </a:xfrm>
          </p:grpSpPr>
          <p:sp>
            <p:nvSpPr>
              <p:cNvPr id="6" name="Freeform 6"/>
              <p:cNvSpPr>
                <a:spLocks noGrp="1" noRot="1" noMove="1" noResize="1" noEditPoints="1" noAdjustHandles="1" noChangeArrowheads="1" noChangeShapeType="1"/>
              </p:cNvSpPr>
              <p:nvPr/>
            </p:nvSpPr>
            <p:spPr>
              <a:xfrm>
                <a:off x="0" y="0"/>
                <a:ext cx="7146798" cy="6316472"/>
              </a:xfrm>
              <a:custGeom>
                <a:avLst/>
                <a:gdLst/>
                <a:ahLst/>
                <a:cxnLst/>
                <a:rect l="l" t="t" r="r" b="b"/>
                <a:pathLst>
                  <a:path w="7146798" h="6316472">
                    <a:moveTo>
                      <a:pt x="0" y="0"/>
                    </a:moveTo>
                    <a:lnTo>
                      <a:pt x="7146798" y="0"/>
                    </a:lnTo>
                    <a:lnTo>
                      <a:pt x="7146798" y="6316472"/>
                    </a:lnTo>
                    <a:lnTo>
                      <a:pt x="0" y="6316472"/>
                    </a:lnTo>
                    <a:lnTo>
                      <a:pt x="0" y="0"/>
                    </a:lnTo>
                    <a:close/>
                  </a:path>
                </a:pathLst>
              </a:custGeom>
              <a:blipFill>
                <a:blip r:embed="rId7">
                  <a:alphaModFix amt="55000"/>
                </a:blip>
                <a:stretch>
                  <a:fillRect b="-38"/>
                </a:stretch>
              </a:blipFill>
            </p:spPr>
          </p:sp>
        </p:grpSp>
      </p:grpSp>
      <p:grpSp>
        <p:nvGrpSpPr>
          <p:cNvPr id="12" name="Group 12"/>
          <p:cNvGrpSpPr>
            <a:grpSpLocks noGrp="1" noUngrp="1" noRot="1" noMove="1" noResize="1"/>
          </p:cNvGrpSpPr>
          <p:nvPr/>
        </p:nvGrpSpPr>
        <p:grpSpPr>
          <a:xfrm rot="9055980">
            <a:off x="-2239010" y="-2578100"/>
            <a:ext cx="9593580" cy="7935595"/>
            <a:chOff x="6885727" y="12843132"/>
            <a:chExt cx="35003867" cy="19689699"/>
          </a:xfrm>
          <a:effectLst>
            <a:outerShdw blurRad="50800" dist="50800" dir="5400000" algn="ctr" rotWithShape="0">
              <a:srgbClr val="000000">
                <a:alpha val="58000"/>
              </a:srgbClr>
            </a:outerShdw>
          </a:effectLst>
        </p:grpSpPr>
        <p:sp>
          <p:nvSpPr>
            <p:cNvPr id="13" name="Freeform 13"/>
            <p:cNvSpPr/>
            <p:nvPr/>
          </p:nvSpPr>
          <p:spPr>
            <a:xfrm>
              <a:off x="6885727" y="12843132"/>
              <a:ext cx="35003867" cy="19689699"/>
            </a:xfrm>
            <a:custGeom>
              <a:avLst/>
              <a:gdLst/>
              <a:ahLst/>
              <a:cxnLst/>
              <a:rect l="l" t="t" r="r" b="b"/>
              <a:pathLst>
                <a:path w="35003867" h="19689699">
                  <a:moveTo>
                    <a:pt x="0" y="0"/>
                  </a:moveTo>
                  <a:lnTo>
                    <a:pt x="35003867" y="0"/>
                  </a:lnTo>
                  <a:lnTo>
                    <a:pt x="35003867" y="19689699"/>
                  </a:lnTo>
                  <a:lnTo>
                    <a:pt x="0" y="19689699"/>
                  </a:lnTo>
                  <a:lnTo>
                    <a:pt x="0" y="0"/>
                  </a:lnTo>
                  <a:close/>
                </a:path>
              </a:pathLst>
            </a:custGeom>
            <a:blipFill>
              <a:blip r:embed="rId4">
                <a:alphaModFix amt="55000"/>
              </a:blip>
              <a:stretch>
                <a:fillRect/>
              </a:stretch>
            </a:blipFill>
          </p:spPr>
          <p:txBody>
            <a:bodyPr/>
            <a:lstStyle/>
            <a:p>
              <a:endParaRPr lang="zh-CN" altLang="en-US" dirty="0"/>
            </a:p>
          </p:txBody>
        </p:sp>
      </p:grpSp>
      <p:sp>
        <p:nvSpPr>
          <p:cNvPr id="16" name="TextBox 9"/>
          <p:cNvSpPr txBox="1"/>
          <p:nvPr/>
        </p:nvSpPr>
        <p:spPr>
          <a:xfrm>
            <a:off x="1712790" y="3807285"/>
            <a:ext cx="6400800" cy="480901"/>
          </a:xfrm>
          <a:prstGeom prst="rect">
            <a:avLst/>
          </a:prstGeom>
        </p:spPr>
        <p:txBody>
          <a:bodyPr wrap="square" lIns="0" tIns="0" rIns="0" bIns="0" rtlCol="0" anchor="t">
            <a:spAutoFit/>
          </a:bodyPr>
          <a:lstStyle/>
          <a:p>
            <a:pPr>
              <a:lnSpc>
                <a:spcPts val="3960"/>
              </a:lnSpc>
            </a:pPr>
            <a:r>
              <a:rPr lang="en-US" sz="32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politics, economy, and culture</a:t>
            </a:r>
          </a:p>
        </p:txBody>
      </p:sp>
      <p:cxnSp>
        <p:nvCxnSpPr>
          <p:cNvPr id="19" name="直接箭头连接符 18"/>
          <p:cNvCxnSpPr/>
          <p:nvPr/>
        </p:nvCxnSpPr>
        <p:spPr>
          <a:xfrm>
            <a:off x="3810000" y="4457700"/>
            <a:ext cx="0" cy="990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9"/>
          <p:cNvSpPr txBox="1"/>
          <p:nvPr/>
        </p:nvSpPr>
        <p:spPr>
          <a:xfrm>
            <a:off x="933450" y="5729605"/>
            <a:ext cx="6601460" cy="507365"/>
          </a:xfrm>
          <a:prstGeom prst="rect">
            <a:avLst/>
          </a:prstGeom>
        </p:spPr>
        <p:txBody>
          <a:bodyPr wrap="square" lIns="0" tIns="0" rIns="0" bIns="0" rtlCol="0" anchor="t">
            <a:spAutoFit/>
          </a:bodyPr>
          <a:lstStyle/>
          <a:p>
            <a:pPr>
              <a:lnSpc>
                <a:spcPts val="3960"/>
              </a:lnSpc>
            </a:pPr>
            <a:r>
              <a:rPr lang="en-US" sz="32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politics, economy, culture and </a:t>
            </a:r>
            <a:r>
              <a:rPr lang="en-US" sz="4000" b="1" dirty="0">
                <a:solidFill>
                  <a:srgbClr val="000000"/>
                </a:solidFill>
                <a:highlight>
                  <a:srgbClr val="C0C0C0"/>
                </a:highlight>
                <a:latin typeface="Times New Roman" panose="02020603050405020304" pitchFamily="18" charset="0"/>
                <a:ea typeface="Arimo" panose="020B0604020202020204"/>
                <a:cs typeface="Times New Roman" panose="02020603050405020304" pitchFamily="18" charset="0"/>
                <a:sym typeface="Arimo" panose="020B0604020202020204"/>
              </a:rPr>
              <a:t>nature</a:t>
            </a:r>
          </a:p>
        </p:txBody>
      </p:sp>
      <p:sp>
        <p:nvSpPr>
          <p:cNvPr id="21" name="文本框 20"/>
          <p:cNvSpPr txBox="1"/>
          <p:nvPr/>
        </p:nvSpPr>
        <p:spPr>
          <a:xfrm>
            <a:off x="2209800" y="3015224"/>
            <a:ext cx="3941658" cy="707886"/>
          </a:xfrm>
          <a:prstGeom prst="rect">
            <a:avLst/>
          </a:prstGeom>
          <a:noFill/>
        </p:spPr>
        <p:txBody>
          <a:bodyPr wrap="square" rtlCol="0">
            <a:spAutoFit/>
          </a:bodyPr>
          <a:lstStyle/>
          <a:p>
            <a:pPr algn="ctr"/>
            <a:r>
              <a:rPr lang="en-US" altLang="zh-CN" sz="4000" dirty="0">
                <a:solidFill>
                  <a:srgbClr val="9B7D3E"/>
                </a:solidFill>
                <a:latin typeface="Times New Roman" panose="02020603050405020304" pitchFamily="18" charset="0"/>
                <a:cs typeface="Times New Roman" panose="02020603050405020304" pitchFamily="18" charset="0"/>
              </a:rPr>
              <a:t>Historiography</a:t>
            </a:r>
            <a:endParaRPr lang="zh-CN" altLang="en-US" sz="4000" dirty="0">
              <a:solidFill>
                <a:srgbClr val="9B7D3E"/>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294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sp>
      <p:grpSp>
        <p:nvGrpSpPr>
          <p:cNvPr id="3" name="Group 3"/>
          <p:cNvGrpSpPr/>
          <p:nvPr/>
        </p:nvGrpSpPr>
        <p:grpSpPr>
          <a:xfrm rot="-5239140">
            <a:off x="-10945901" y="1067314"/>
            <a:ext cx="18288000" cy="10287000"/>
            <a:chOff x="0" y="0"/>
            <a:chExt cx="24384000" cy="13716000"/>
          </a:xfrm>
        </p:grpSpPr>
        <p:sp>
          <p:nvSpPr>
            <p:cNvPr id="4" name="Freeform 4"/>
            <p:cNvSpPr/>
            <p:nvPr/>
          </p:nvSpPr>
          <p:spPr>
            <a:xfrm flipH="1">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blipFill>
              <a:blip r:embed="rId4">
                <a:alphaModFix amt="55000"/>
              </a:blip>
              <a:stretch>
                <a:fillRect/>
              </a:stretch>
            </a:blipFill>
          </p:spPr>
        </p:sp>
      </p:grpSp>
      <p:grpSp>
        <p:nvGrpSpPr>
          <p:cNvPr id="5" name="Group 5"/>
          <p:cNvGrpSpPr/>
          <p:nvPr/>
        </p:nvGrpSpPr>
        <p:grpSpPr>
          <a:xfrm rot="-5239140">
            <a:off x="10509494" y="1360065"/>
            <a:ext cx="18288000" cy="10287000"/>
            <a:chOff x="0" y="0"/>
            <a:chExt cx="24384000" cy="13716000"/>
          </a:xfrm>
        </p:grpSpPr>
        <p:sp>
          <p:nvSpPr>
            <p:cNvPr id="6" name="Freeform 6"/>
            <p:cNvSpPr/>
            <p:nvPr/>
          </p:nvSpPr>
          <p:spPr>
            <a:xfrm flipV="1">
              <a:off x="0" y="0"/>
              <a:ext cx="24384000" cy="13716000"/>
            </a:xfrm>
            <a:custGeom>
              <a:avLst/>
              <a:gdLst/>
              <a:ahLst/>
              <a:cxnLst/>
              <a:rect l="l" t="t" r="r" b="b"/>
              <a:pathLst>
                <a:path w="24384000" h="13716000">
                  <a:moveTo>
                    <a:pt x="0" y="13716000"/>
                  </a:moveTo>
                  <a:lnTo>
                    <a:pt x="24384000" y="13716000"/>
                  </a:lnTo>
                  <a:lnTo>
                    <a:pt x="24384000" y="0"/>
                  </a:lnTo>
                  <a:lnTo>
                    <a:pt x="0" y="0"/>
                  </a:lnTo>
                  <a:lnTo>
                    <a:pt x="0" y="13716000"/>
                  </a:lnTo>
                  <a:close/>
                </a:path>
              </a:pathLst>
            </a:custGeom>
            <a:blipFill>
              <a:blip r:embed="rId4">
                <a:alphaModFix amt="55000"/>
              </a:blip>
              <a:stretch>
                <a:fillRect/>
              </a:stretch>
            </a:blipFill>
          </p:spPr>
        </p:sp>
      </p:grpSp>
      <p:sp>
        <p:nvSpPr>
          <p:cNvPr id="7" name="AutoShape 7"/>
          <p:cNvSpPr/>
          <p:nvPr/>
        </p:nvSpPr>
        <p:spPr>
          <a:xfrm flipV="1">
            <a:off x="2661443" y="5566495"/>
            <a:ext cx="12452658" cy="0"/>
          </a:xfrm>
          <a:prstGeom prst="line">
            <a:avLst/>
          </a:prstGeom>
          <a:ln w="38100" cap="flat">
            <a:solidFill>
              <a:srgbClr val="000000"/>
            </a:solidFill>
            <a:prstDash val="solid"/>
            <a:headEnd type="none" w="sm" len="sm"/>
            <a:tailEnd type="arrow" w="med" len="sm"/>
          </a:ln>
        </p:spPr>
      </p:sp>
      <p:sp>
        <p:nvSpPr>
          <p:cNvPr id="8" name="AutoShape 8"/>
          <p:cNvSpPr/>
          <p:nvPr/>
        </p:nvSpPr>
        <p:spPr>
          <a:xfrm>
            <a:off x="3785401" y="4518231"/>
            <a:ext cx="0" cy="1048264"/>
          </a:xfrm>
          <a:prstGeom prst="line">
            <a:avLst/>
          </a:prstGeom>
          <a:ln w="38100" cap="flat">
            <a:solidFill>
              <a:srgbClr val="000000"/>
            </a:solidFill>
            <a:prstDash val="solid"/>
            <a:headEnd type="none" w="sm" len="sm"/>
            <a:tailEnd type="none" w="sm" len="sm"/>
          </a:ln>
        </p:spPr>
      </p:sp>
      <p:sp>
        <p:nvSpPr>
          <p:cNvPr id="9" name="AutoShape 9"/>
          <p:cNvSpPr/>
          <p:nvPr/>
        </p:nvSpPr>
        <p:spPr>
          <a:xfrm>
            <a:off x="8887772" y="4500061"/>
            <a:ext cx="0" cy="1048264"/>
          </a:xfrm>
          <a:prstGeom prst="line">
            <a:avLst/>
          </a:prstGeom>
          <a:ln w="38100" cap="flat">
            <a:solidFill>
              <a:srgbClr val="000000"/>
            </a:solidFill>
            <a:prstDash val="solid"/>
            <a:headEnd type="none" w="sm" len="sm"/>
            <a:tailEnd type="none" w="sm" len="sm"/>
          </a:ln>
        </p:spPr>
      </p:sp>
      <p:sp>
        <p:nvSpPr>
          <p:cNvPr id="10" name="AutoShape 10"/>
          <p:cNvSpPr/>
          <p:nvPr/>
        </p:nvSpPr>
        <p:spPr>
          <a:xfrm flipH="1">
            <a:off x="5346697" y="5567562"/>
            <a:ext cx="0" cy="1260000"/>
          </a:xfrm>
          <a:prstGeom prst="line">
            <a:avLst/>
          </a:prstGeom>
          <a:ln w="38100" cap="flat">
            <a:solidFill>
              <a:srgbClr val="000000"/>
            </a:solidFill>
            <a:prstDash val="solid"/>
            <a:headEnd type="none" w="sm" len="sm"/>
            <a:tailEnd type="none" w="sm" len="sm"/>
          </a:ln>
        </p:spPr>
      </p:sp>
      <p:sp>
        <p:nvSpPr>
          <p:cNvPr id="11" name="AutoShape 11"/>
          <p:cNvSpPr/>
          <p:nvPr/>
        </p:nvSpPr>
        <p:spPr>
          <a:xfrm flipH="1">
            <a:off x="10717432" y="5567562"/>
            <a:ext cx="0" cy="1260000"/>
          </a:xfrm>
          <a:prstGeom prst="line">
            <a:avLst/>
          </a:prstGeom>
          <a:ln w="38100" cap="flat">
            <a:solidFill>
              <a:srgbClr val="000000"/>
            </a:solidFill>
            <a:prstDash val="solid"/>
            <a:headEnd type="none" w="sm" len="sm"/>
            <a:tailEnd type="none" w="sm" len="sm"/>
          </a:ln>
        </p:spPr>
      </p:sp>
      <p:grpSp>
        <p:nvGrpSpPr>
          <p:cNvPr id="12" name="Group 12"/>
          <p:cNvGrpSpPr/>
          <p:nvPr/>
        </p:nvGrpSpPr>
        <p:grpSpPr>
          <a:xfrm>
            <a:off x="3633921" y="5404243"/>
            <a:ext cx="290178" cy="29017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333"/>
            </a:solidFill>
          </p:spPr>
        </p:sp>
        <p:sp>
          <p:nvSpPr>
            <p:cNvPr id="14" name="TextBox 14"/>
            <p:cNvSpPr txBox="1"/>
            <p:nvPr/>
          </p:nvSpPr>
          <p:spPr>
            <a:xfrm>
              <a:off x="76200" y="-28575"/>
              <a:ext cx="660400" cy="765175"/>
            </a:xfrm>
            <a:prstGeom prst="rect">
              <a:avLst/>
            </a:prstGeom>
          </p:spPr>
          <p:txBody>
            <a:bodyPr lIns="50800" tIns="50800" rIns="50800" bIns="50800" rtlCol="0" anchor="ctr"/>
            <a:lstStyle/>
            <a:p>
              <a:pPr algn="ctr">
                <a:lnSpc>
                  <a:spcPts val="2835"/>
                </a:lnSpc>
              </a:pPr>
              <a:endParaRPr/>
            </a:p>
          </p:txBody>
        </p:sp>
      </p:grpSp>
      <p:grpSp>
        <p:nvGrpSpPr>
          <p:cNvPr id="15" name="Group 15"/>
          <p:cNvGrpSpPr/>
          <p:nvPr/>
        </p:nvGrpSpPr>
        <p:grpSpPr>
          <a:xfrm>
            <a:off x="5212853" y="5421940"/>
            <a:ext cx="290178" cy="29017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333"/>
            </a:solidFill>
          </p:spPr>
        </p:sp>
        <p:sp>
          <p:nvSpPr>
            <p:cNvPr id="17" name="TextBox 17"/>
            <p:cNvSpPr txBox="1"/>
            <p:nvPr/>
          </p:nvSpPr>
          <p:spPr>
            <a:xfrm>
              <a:off x="76200" y="-28575"/>
              <a:ext cx="660400" cy="765175"/>
            </a:xfrm>
            <a:prstGeom prst="rect">
              <a:avLst/>
            </a:prstGeom>
          </p:spPr>
          <p:txBody>
            <a:bodyPr lIns="50800" tIns="50800" rIns="50800" bIns="50800" rtlCol="0" anchor="ctr"/>
            <a:lstStyle/>
            <a:p>
              <a:pPr algn="ctr">
                <a:lnSpc>
                  <a:spcPts val="2835"/>
                </a:lnSpc>
              </a:pPr>
              <a:endParaRPr/>
            </a:p>
          </p:txBody>
        </p:sp>
      </p:grpSp>
      <p:grpSp>
        <p:nvGrpSpPr>
          <p:cNvPr id="18" name="Group 18"/>
          <p:cNvGrpSpPr/>
          <p:nvPr/>
        </p:nvGrpSpPr>
        <p:grpSpPr>
          <a:xfrm>
            <a:off x="8744895" y="5411738"/>
            <a:ext cx="290178" cy="29017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333"/>
            </a:solidFill>
          </p:spPr>
        </p:sp>
        <p:sp>
          <p:nvSpPr>
            <p:cNvPr id="20" name="TextBox 20"/>
            <p:cNvSpPr txBox="1"/>
            <p:nvPr/>
          </p:nvSpPr>
          <p:spPr>
            <a:xfrm>
              <a:off x="76200" y="-28575"/>
              <a:ext cx="660400" cy="765175"/>
            </a:xfrm>
            <a:prstGeom prst="rect">
              <a:avLst/>
            </a:prstGeom>
          </p:spPr>
          <p:txBody>
            <a:bodyPr lIns="50800" tIns="50800" rIns="50800" bIns="50800" rtlCol="0" anchor="ctr"/>
            <a:lstStyle/>
            <a:p>
              <a:pPr algn="ctr">
                <a:lnSpc>
                  <a:spcPts val="2835"/>
                </a:lnSpc>
              </a:pPr>
              <a:endParaRPr/>
            </a:p>
          </p:txBody>
        </p:sp>
      </p:grpSp>
      <p:grpSp>
        <p:nvGrpSpPr>
          <p:cNvPr id="21" name="Group 21"/>
          <p:cNvGrpSpPr/>
          <p:nvPr/>
        </p:nvGrpSpPr>
        <p:grpSpPr>
          <a:xfrm>
            <a:off x="10566224" y="5449591"/>
            <a:ext cx="290178" cy="290178"/>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333"/>
            </a:solidFill>
          </p:spPr>
        </p:sp>
        <p:sp>
          <p:nvSpPr>
            <p:cNvPr id="23" name="TextBox 23"/>
            <p:cNvSpPr txBox="1"/>
            <p:nvPr/>
          </p:nvSpPr>
          <p:spPr>
            <a:xfrm>
              <a:off x="76200" y="-28575"/>
              <a:ext cx="660400" cy="765175"/>
            </a:xfrm>
            <a:prstGeom prst="rect">
              <a:avLst/>
            </a:prstGeom>
          </p:spPr>
          <p:txBody>
            <a:bodyPr lIns="50800" tIns="50800" rIns="50800" bIns="50800" rtlCol="0" anchor="ctr"/>
            <a:lstStyle/>
            <a:p>
              <a:pPr algn="ctr">
                <a:lnSpc>
                  <a:spcPts val="2835"/>
                </a:lnSpc>
              </a:pPr>
              <a:endParaRPr/>
            </a:p>
          </p:txBody>
        </p:sp>
      </p:grpSp>
      <p:sp>
        <p:nvSpPr>
          <p:cNvPr id="24" name="Freeform 24"/>
          <p:cNvSpPr/>
          <p:nvPr/>
        </p:nvSpPr>
        <p:spPr>
          <a:xfrm>
            <a:off x="1679903" y="6489672"/>
            <a:ext cx="3375441" cy="2494599"/>
          </a:xfrm>
          <a:custGeom>
            <a:avLst/>
            <a:gdLst/>
            <a:ahLst/>
            <a:cxnLst/>
            <a:rect l="l" t="t" r="r" b="b"/>
            <a:pathLst>
              <a:path w="3375441" h="2494599">
                <a:moveTo>
                  <a:pt x="0" y="0"/>
                </a:moveTo>
                <a:lnTo>
                  <a:pt x="3375441" y="0"/>
                </a:lnTo>
                <a:lnTo>
                  <a:pt x="3375441" y="2494599"/>
                </a:lnTo>
                <a:lnTo>
                  <a:pt x="0" y="2494599"/>
                </a:lnTo>
                <a:lnTo>
                  <a:pt x="0" y="0"/>
                </a:lnTo>
                <a:close/>
              </a:path>
            </a:pathLst>
          </a:custGeom>
          <a:blipFill>
            <a:blip r:embed="rId5">
              <a:alphaModFix amt="65000"/>
            </a:blip>
            <a:stretch>
              <a:fillRect/>
            </a:stretch>
          </a:blipFill>
        </p:spPr>
      </p:sp>
      <p:sp>
        <p:nvSpPr>
          <p:cNvPr id="25" name="TextBox 25"/>
          <p:cNvSpPr txBox="1"/>
          <p:nvPr/>
        </p:nvSpPr>
        <p:spPr>
          <a:xfrm>
            <a:off x="3946890" y="2693799"/>
            <a:ext cx="4798006" cy="2693035"/>
          </a:xfrm>
          <a:prstGeom prst="rect">
            <a:avLst/>
          </a:prstGeom>
        </p:spPr>
        <p:txBody>
          <a:bodyPr lIns="0" tIns="0" rIns="0" bIns="0" rtlCol="0" anchor="t">
            <a:spAutoFit/>
          </a:bodyPr>
          <a:lstStyle/>
          <a:p>
            <a:pPr indent="0" algn="l" fontAlgn="auto">
              <a:lnSpc>
                <a:spcPts val="3500"/>
              </a:lnSpc>
              <a:spcBef>
                <a:spcPct val="0"/>
              </a:spcBef>
            </a:pP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Henry Wickham smuggled 70,000 rubber seeds from Brazil to the Royal Botanic Gardens in the UK</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marking the beginning of 'scientific colonization' and breaking the Amazon's rubber monopoly.</a:t>
            </a:r>
          </a:p>
        </p:txBody>
      </p:sp>
      <p:sp>
        <p:nvSpPr>
          <p:cNvPr id="26" name="TextBox 26"/>
          <p:cNvSpPr txBox="1"/>
          <p:nvPr/>
        </p:nvSpPr>
        <p:spPr>
          <a:xfrm>
            <a:off x="3614885" y="1881487"/>
            <a:ext cx="1474291" cy="830580"/>
          </a:xfrm>
          <a:prstGeom prst="rect">
            <a:avLst/>
          </a:prstGeom>
        </p:spPr>
        <p:txBody>
          <a:bodyPr lIns="0" tIns="0" rIns="0" bIns="0" rtlCol="0" anchor="ctr" anchorCtr="0">
            <a:spAutoFit/>
          </a:bodyPr>
          <a:lstStyle/>
          <a:p>
            <a:pPr algn="ctr">
              <a:lnSpc>
                <a:spcPts val="6480"/>
              </a:lnSpc>
              <a:spcBef>
                <a:spcPct val="0"/>
              </a:spcBef>
            </a:pPr>
            <a:r>
              <a:rPr lang="en-US" sz="3600" b="1" dirty="0">
                <a:solidFill>
                  <a:srgbClr val="002060"/>
                </a:solidFill>
                <a:latin typeface="Arimo" panose="020B0604020202020204"/>
                <a:ea typeface="Arimo" panose="020B0604020202020204"/>
                <a:cs typeface="Arimo" panose="020B0604020202020204"/>
                <a:sym typeface="Arimo" panose="020B0604020202020204"/>
              </a:rPr>
              <a:t>1876：</a:t>
            </a:r>
          </a:p>
        </p:txBody>
      </p:sp>
      <p:sp>
        <p:nvSpPr>
          <p:cNvPr id="27" name="TextBox 27"/>
          <p:cNvSpPr txBox="1"/>
          <p:nvPr/>
        </p:nvSpPr>
        <p:spPr>
          <a:xfrm>
            <a:off x="5751195" y="6210935"/>
            <a:ext cx="4716780" cy="2693035"/>
          </a:xfrm>
          <a:prstGeom prst="rect">
            <a:avLst/>
          </a:prstGeom>
        </p:spPr>
        <p:txBody>
          <a:bodyPr wrap="square" lIns="0" tIns="0" rIns="0" bIns="0" rtlCol="0" anchor="t">
            <a:spAutoFit/>
          </a:bodyPr>
          <a:lstStyle/>
          <a:p>
            <a:pPr indent="0" algn="l" fontAlgn="auto">
              <a:lnSpc>
                <a:spcPts val="3500"/>
              </a:lnSpc>
              <a:spcBef>
                <a:spcPct val="0"/>
              </a:spcBef>
            </a:pP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In 1888, Dunlop invented the </a:t>
            </a: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pneumatic tire</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and combined with the birth of the </a:t>
            </a: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internal combustion engine car</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in 1886, this drove the exponential </a:t>
            </a: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growth of rubber demand</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a:t>
            </a:r>
          </a:p>
        </p:txBody>
      </p:sp>
      <p:sp>
        <p:nvSpPr>
          <p:cNvPr id="28" name="TextBox 28"/>
          <p:cNvSpPr txBox="1"/>
          <p:nvPr/>
        </p:nvSpPr>
        <p:spPr>
          <a:xfrm>
            <a:off x="5754929" y="5518321"/>
            <a:ext cx="1474291" cy="773424"/>
          </a:xfrm>
          <a:prstGeom prst="rect">
            <a:avLst/>
          </a:prstGeom>
        </p:spPr>
        <p:txBody>
          <a:bodyPr lIns="0" tIns="0" rIns="0" bIns="0" rtlCol="0" anchor="t">
            <a:spAutoFit/>
          </a:bodyPr>
          <a:lstStyle/>
          <a:p>
            <a:pPr algn="ctr">
              <a:lnSpc>
                <a:spcPts val="6480"/>
              </a:lnSpc>
              <a:spcBef>
                <a:spcPct val="0"/>
              </a:spcBef>
            </a:pPr>
            <a:r>
              <a:rPr lang="en-US" sz="3600" b="1" dirty="0">
                <a:solidFill>
                  <a:srgbClr val="002060"/>
                </a:solidFill>
                <a:latin typeface="Arimo" panose="020B0604020202020204"/>
                <a:ea typeface="Arimo" panose="020B0604020202020204"/>
                <a:cs typeface="Arimo" panose="020B0604020202020204"/>
                <a:sym typeface="Arimo" panose="020B0604020202020204"/>
              </a:rPr>
              <a:t>1888</a:t>
            </a:r>
            <a:r>
              <a:rPr lang="en-US" sz="3600" dirty="0">
                <a:solidFill>
                  <a:srgbClr val="000000"/>
                </a:solidFill>
                <a:latin typeface="Arimo" panose="020B0604020202020204"/>
                <a:ea typeface="Arimo" panose="020B0604020202020204"/>
                <a:cs typeface="Arimo" panose="020B0604020202020204"/>
                <a:sym typeface="Arimo" panose="020B0604020202020204"/>
              </a:rPr>
              <a:t>：</a:t>
            </a:r>
          </a:p>
        </p:txBody>
      </p:sp>
      <p:sp>
        <p:nvSpPr>
          <p:cNvPr id="29" name="TextBox 29"/>
          <p:cNvSpPr txBox="1"/>
          <p:nvPr/>
        </p:nvSpPr>
        <p:spPr>
          <a:xfrm>
            <a:off x="9117330" y="2703830"/>
            <a:ext cx="6183630" cy="2693035"/>
          </a:xfrm>
          <a:prstGeom prst="rect">
            <a:avLst/>
          </a:prstGeom>
        </p:spPr>
        <p:txBody>
          <a:bodyPr wrap="square" lIns="0" tIns="0" rIns="0" bIns="0" rtlCol="0" anchor="t">
            <a:spAutoFit/>
          </a:bodyPr>
          <a:lstStyle/>
          <a:p>
            <a:pPr indent="0" algn="l" fontAlgn="auto">
              <a:lnSpc>
                <a:spcPts val="3500"/>
              </a:lnSpc>
            </a:pP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Extreme manifestation of colonial violence</a:t>
            </a:r>
          </a:p>
          <a:p>
            <a:pPr indent="0" algn="l" fontAlgn="auto">
              <a:lnSpc>
                <a:spcPts val="3500"/>
              </a:lnSpc>
              <a:spcBef>
                <a:spcPct val="0"/>
              </a:spcBef>
            </a:pP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Indigenous people were treated as free labor</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and the price of rubber soared to £640 per ton, triggering frenzied plundering. </a:t>
            </a: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More than 40,000 indigenous people in the Amazon region died due to the rubber boom</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a:t>
            </a:r>
          </a:p>
        </p:txBody>
      </p:sp>
      <p:sp>
        <p:nvSpPr>
          <p:cNvPr id="30" name="TextBox 30"/>
          <p:cNvSpPr txBox="1"/>
          <p:nvPr/>
        </p:nvSpPr>
        <p:spPr>
          <a:xfrm>
            <a:off x="9052567" y="1889846"/>
            <a:ext cx="1474291" cy="830580"/>
          </a:xfrm>
          <a:prstGeom prst="rect">
            <a:avLst/>
          </a:prstGeom>
        </p:spPr>
        <p:txBody>
          <a:bodyPr lIns="0" tIns="0" rIns="0" bIns="0" rtlCol="0" anchor="ctr" anchorCtr="0">
            <a:spAutoFit/>
          </a:bodyPr>
          <a:lstStyle/>
          <a:p>
            <a:pPr algn="ctr">
              <a:lnSpc>
                <a:spcPts val="6480"/>
              </a:lnSpc>
              <a:spcBef>
                <a:spcPct val="0"/>
              </a:spcBef>
            </a:pPr>
            <a:r>
              <a:rPr lang="en-US" sz="3600" b="1" dirty="0">
                <a:solidFill>
                  <a:srgbClr val="002060"/>
                </a:solidFill>
                <a:latin typeface="Arimo" panose="020B0604020202020204"/>
                <a:ea typeface="Arimo" panose="020B0604020202020204"/>
                <a:cs typeface="Arimo" panose="020B0604020202020204"/>
                <a:sym typeface="Arimo" panose="020B0604020202020204"/>
              </a:rPr>
              <a:t>1910：</a:t>
            </a:r>
          </a:p>
        </p:txBody>
      </p:sp>
      <p:sp>
        <p:nvSpPr>
          <p:cNvPr id="31" name="TextBox 31"/>
          <p:cNvSpPr txBox="1"/>
          <p:nvPr/>
        </p:nvSpPr>
        <p:spPr>
          <a:xfrm>
            <a:off x="10961550" y="6210814"/>
            <a:ext cx="4798006" cy="2244090"/>
          </a:xfrm>
          <a:prstGeom prst="rect">
            <a:avLst/>
          </a:prstGeom>
        </p:spPr>
        <p:txBody>
          <a:bodyPr lIns="0" tIns="0" rIns="0" bIns="0" rtlCol="0" anchor="t">
            <a:spAutoFit/>
          </a:bodyPr>
          <a:lstStyle/>
          <a:p>
            <a:pPr indent="0" algn="l" fontAlgn="auto">
              <a:lnSpc>
                <a:spcPts val="3500"/>
              </a:lnSpc>
              <a:spcBef>
                <a:spcPct val="0"/>
              </a:spcBef>
            </a:pP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Southeast Asian plantations were established</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Under the colonial system's redistribution of resources, Southeast Asia became the </a:t>
            </a:r>
            <a:r>
              <a:rPr lang="en-US" sz="246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global center of rubber production</a:t>
            </a:r>
            <a:r>
              <a:rPr lang="en-US" sz="246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a:t>
            </a:r>
          </a:p>
        </p:txBody>
      </p:sp>
      <p:sp>
        <p:nvSpPr>
          <p:cNvPr id="32" name="TextBox 32"/>
          <p:cNvSpPr txBox="1"/>
          <p:nvPr/>
        </p:nvSpPr>
        <p:spPr>
          <a:xfrm>
            <a:off x="10933437" y="5518321"/>
            <a:ext cx="1474291" cy="830580"/>
          </a:xfrm>
          <a:prstGeom prst="rect">
            <a:avLst/>
          </a:prstGeom>
        </p:spPr>
        <p:txBody>
          <a:bodyPr lIns="0" tIns="0" rIns="0" bIns="0" rtlCol="0" anchor="t">
            <a:spAutoFit/>
          </a:bodyPr>
          <a:lstStyle/>
          <a:p>
            <a:pPr algn="ctr">
              <a:lnSpc>
                <a:spcPts val="6480"/>
              </a:lnSpc>
              <a:spcBef>
                <a:spcPct val="0"/>
              </a:spcBef>
            </a:pPr>
            <a:r>
              <a:rPr lang="en-US" sz="3600" b="1" dirty="0">
                <a:solidFill>
                  <a:srgbClr val="002060"/>
                </a:solidFill>
                <a:latin typeface="Arimo" panose="020B0604020202020204"/>
                <a:ea typeface="Arimo" panose="020B0604020202020204"/>
                <a:cs typeface="Arimo" panose="020B0604020202020204"/>
                <a:sym typeface="Arimo" panose="020B0604020202020204"/>
              </a:rPr>
              <a:t>1913：</a:t>
            </a:r>
          </a:p>
        </p:txBody>
      </p:sp>
      <p:sp>
        <p:nvSpPr>
          <p:cNvPr id="33" name="文本框 32"/>
          <p:cNvSpPr txBox="1"/>
          <p:nvPr/>
        </p:nvSpPr>
        <p:spPr>
          <a:xfrm>
            <a:off x="3785401" y="333846"/>
            <a:ext cx="9997710" cy="1107996"/>
          </a:xfrm>
          <a:prstGeom prst="rect">
            <a:avLst/>
          </a:prstGeom>
          <a:noFill/>
        </p:spPr>
        <p:txBody>
          <a:bodyPr wrap="square" rtlCol="0">
            <a:spAutoFit/>
          </a:bodyPr>
          <a:lstStyle/>
          <a:p>
            <a:pPr algn="ctr"/>
            <a:r>
              <a:rPr lang="en-US" altLang="zh-CN" sz="4800" b="1" dirty="0">
                <a:solidFill>
                  <a:schemeClr val="tx2"/>
                </a:solidFill>
                <a:latin typeface="Times New Roman" panose="02020603050405020304" pitchFamily="18" charset="0"/>
                <a:cs typeface="Times New Roman" panose="02020603050405020304" pitchFamily="18" charset="0"/>
              </a:rPr>
              <a:t>The global flow of “black gold”</a:t>
            </a:r>
          </a:p>
          <a:p>
            <a:pPr algn="ctr"/>
            <a:endParaRPr lang="en-US" altLang="zh-CN" sz="48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sp>
      <p:grpSp>
        <p:nvGrpSpPr>
          <p:cNvPr id="3" name="Group 3"/>
          <p:cNvGrpSpPr/>
          <p:nvPr/>
        </p:nvGrpSpPr>
        <p:grpSpPr>
          <a:xfrm rot="20805659">
            <a:off x="3030850" y="2510798"/>
            <a:ext cx="20372070" cy="10287000"/>
            <a:chOff x="-3033692" y="-1954470"/>
            <a:chExt cx="24384000" cy="13716000"/>
          </a:xfrm>
        </p:grpSpPr>
        <p:sp>
          <p:nvSpPr>
            <p:cNvPr id="4" name="Freeform 4"/>
            <p:cNvSpPr/>
            <p:nvPr/>
          </p:nvSpPr>
          <p:spPr>
            <a:xfrm rot="21300000">
              <a:off x="-3033692" y="-195447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alphaModFix amt="55000"/>
              </a:blip>
              <a:stretch>
                <a:fillRect/>
              </a:stretch>
            </a:blipFill>
          </p:spPr>
        </p:sp>
      </p:grpSp>
      <p:grpSp>
        <p:nvGrpSpPr>
          <p:cNvPr id="5" name="Group 5"/>
          <p:cNvGrpSpPr/>
          <p:nvPr/>
        </p:nvGrpSpPr>
        <p:grpSpPr>
          <a:xfrm rot="-974340">
            <a:off x="-7320972" y="-6906873"/>
            <a:ext cx="18288000" cy="10287000"/>
            <a:chOff x="0" y="0"/>
            <a:chExt cx="24384000" cy="13716000"/>
          </a:xfrm>
        </p:grpSpPr>
        <p:sp>
          <p:nvSpPr>
            <p:cNvPr id="6" name="Freeform 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alphaModFix amt="55000"/>
              </a:blip>
              <a:stretch>
                <a:fillRect/>
              </a:stretch>
            </a:blipFill>
          </p:spPr>
        </p:sp>
      </p:grpSp>
      <p:sp>
        <p:nvSpPr>
          <p:cNvPr id="8" name="文本框 7"/>
          <p:cNvSpPr txBox="1"/>
          <p:nvPr/>
        </p:nvSpPr>
        <p:spPr>
          <a:xfrm>
            <a:off x="1600200" y="1040501"/>
            <a:ext cx="9997710" cy="1107996"/>
          </a:xfrm>
          <a:prstGeom prst="rect">
            <a:avLst/>
          </a:prstGeom>
          <a:noFill/>
        </p:spPr>
        <p:txBody>
          <a:bodyPr wrap="square" rtlCol="0">
            <a:spAutoFit/>
          </a:bodyPr>
          <a:lstStyle/>
          <a:p>
            <a:pPr algn="ctr"/>
            <a:r>
              <a:rPr lang="en-US" altLang="zh-CN" sz="4800" b="1" dirty="0">
                <a:solidFill>
                  <a:schemeClr val="tx2"/>
                </a:solidFill>
                <a:latin typeface="Times New Roman" panose="02020603050405020304" pitchFamily="18" charset="0"/>
                <a:cs typeface="Times New Roman" panose="02020603050405020304" pitchFamily="18" charset="0"/>
              </a:rPr>
              <a:t>The global flow of “black gold”</a:t>
            </a:r>
          </a:p>
          <a:p>
            <a:pPr algn="ctr"/>
            <a:endParaRPr lang="en-US" altLang="zh-CN" sz="4800" b="1" dirty="0">
              <a:solidFill>
                <a:schemeClr val="tx2"/>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932305" y="2750820"/>
            <a:ext cx="14925675" cy="953135"/>
          </a:xfrm>
          <a:prstGeom prst="rect">
            <a:avLst/>
          </a:prstGeom>
          <a:noFill/>
        </p:spPr>
        <p:txBody>
          <a:bodyPr wrap="square" rtlCol="0">
            <a:spAutoFit/>
          </a:bodyPr>
          <a:lstStyle/>
          <a:p>
            <a:pPr marL="457200" indent="-457200">
              <a:buFont typeface="Wingdings" panose="05000000000000000000" charset="0"/>
              <a:buChar char="n"/>
            </a:pPr>
            <a:r>
              <a:rPr lang="en-US" altLang="zh-CN" sz="3200" b="1" dirty="0">
                <a:solidFill>
                  <a:schemeClr val="tx1"/>
                </a:solidFill>
                <a:latin typeface="Times New Roman" panose="02020603050405020304" pitchFamily="18" charset="0"/>
                <a:cs typeface="Times New Roman" panose="02020603050405020304" pitchFamily="18" charset="0"/>
              </a:rPr>
              <a:t>The Starting Point of Civilizational Interaction: </a:t>
            </a:r>
          </a:p>
          <a:p>
            <a:pPr indent="0">
              <a:buFont typeface="+mj-lt"/>
              <a:buNone/>
            </a:pPr>
            <a:r>
              <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rPr>
              <a:t>Driven by the Ecological Needs of Industrial Civilization, Breaking the Regional Ecological Balance</a:t>
            </a:r>
          </a:p>
        </p:txBody>
      </p:sp>
      <p:sp>
        <p:nvSpPr>
          <p:cNvPr id="10" name="文本框 9"/>
          <p:cNvSpPr txBox="1"/>
          <p:nvPr/>
        </p:nvSpPr>
        <p:spPr>
          <a:xfrm>
            <a:off x="1932940" y="4076700"/>
            <a:ext cx="15333345" cy="953135"/>
          </a:xfrm>
          <a:prstGeom prst="rect">
            <a:avLst/>
          </a:prstGeom>
          <a:noFill/>
        </p:spPr>
        <p:txBody>
          <a:bodyPr wrap="square" rtlCol="0">
            <a:spAutoFit/>
          </a:bodyPr>
          <a:lstStyle/>
          <a:p>
            <a:pPr marL="457200" indent="-457200">
              <a:buFont typeface="Wingdings" panose="05000000000000000000" charset="0"/>
              <a:buChar char="n"/>
            </a:pPr>
            <a:r>
              <a:rPr lang="en-US" altLang="zh-CN" sz="3200" b="1" dirty="0">
                <a:latin typeface="Times New Roman" panose="02020603050405020304" pitchFamily="18" charset="0"/>
                <a:cs typeface="Times New Roman" panose="02020603050405020304" pitchFamily="18" charset="0"/>
              </a:rPr>
              <a:t>The Process of Civilizational Interaction: </a:t>
            </a:r>
          </a:p>
          <a:p>
            <a:pPr indent="0">
              <a:buFont typeface="+mj-lt"/>
              <a:buNone/>
            </a:pPr>
            <a:r>
              <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rPr>
              <a:t>Asymmetric Ecological Power Interaction, The Alienation of the Relationship between Civilization and Nature</a:t>
            </a:r>
          </a:p>
        </p:txBody>
      </p:sp>
      <p:sp>
        <p:nvSpPr>
          <p:cNvPr id="7" name="文本框 6"/>
          <p:cNvSpPr txBox="1"/>
          <p:nvPr/>
        </p:nvSpPr>
        <p:spPr>
          <a:xfrm>
            <a:off x="1981200" y="5524500"/>
            <a:ext cx="16052800" cy="953135"/>
          </a:xfrm>
          <a:prstGeom prst="rect">
            <a:avLst/>
          </a:prstGeom>
          <a:noFill/>
        </p:spPr>
        <p:txBody>
          <a:bodyPr wrap="square" rtlCol="0">
            <a:spAutoFit/>
          </a:bodyPr>
          <a:lstStyle/>
          <a:p>
            <a:pPr marL="457200" indent="-457200">
              <a:buFont typeface="Wingdings" panose="05000000000000000000" charset="0"/>
              <a:buChar char="n"/>
            </a:pPr>
            <a:r>
              <a:rPr lang="en-US" altLang="zh-CN" sz="3200" b="1" dirty="0">
                <a:solidFill>
                  <a:schemeClr val="tx1"/>
                </a:solidFill>
                <a:latin typeface="Times New Roman" panose="02020603050405020304" pitchFamily="18" charset="0"/>
                <a:cs typeface="Times New Roman" panose="02020603050405020304" pitchFamily="18" charset="0"/>
              </a:rPr>
              <a:t>The Result of Civilizational Interaction: </a:t>
            </a:r>
          </a:p>
          <a:p>
            <a:pPr indent="0">
              <a:buFont typeface="+mj-lt"/>
              <a:buNone/>
            </a:pPr>
            <a:r>
              <a:rPr lang="en-US" altLang="zh-CN" sz="2400" dirty="0">
                <a:solidFill>
                  <a:schemeClr val="tx1">
                    <a:lumMod val="75000"/>
                    <a:lumOff val="25000"/>
                  </a:schemeClr>
                </a:solidFill>
                <a:latin typeface="Times New Roman" panose="02020603050405020304" pitchFamily="18" charset="0"/>
                <a:cs typeface="Times New Roman" panose="02020603050405020304" pitchFamily="18" charset="0"/>
              </a:rPr>
              <a:t>The Breakage of the Global Ecological Chain and the Imbalance of Civilization, Incurring Double Costs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 y="19"/>
            <a:ext cx="18287971" cy="10286981"/>
            <a:chOff x="0" y="0"/>
            <a:chExt cx="24383962" cy="13715975"/>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55000"/>
              </a:blip>
              <a:stretch>
                <a:fillRect r="-75"/>
              </a:stretch>
            </a:blipFill>
          </p:spPr>
        </p:sp>
      </p:grpSp>
      <p:grpSp>
        <p:nvGrpSpPr>
          <p:cNvPr id="5" name="Group 5"/>
          <p:cNvGrpSpPr/>
          <p:nvPr/>
        </p:nvGrpSpPr>
        <p:grpSpPr>
          <a:xfrm>
            <a:off x="1064895" y="3600450"/>
            <a:ext cx="3780155" cy="5523230"/>
            <a:chOff x="0" y="0"/>
            <a:chExt cx="5039995" cy="7919999"/>
          </a:xfrm>
        </p:grpSpPr>
        <p:sp>
          <p:nvSpPr>
            <p:cNvPr id="6" name="Freeform 6"/>
            <p:cNvSpPr/>
            <p:nvPr/>
          </p:nvSpPr>
          <p:spPr>
            <a:xfrm>
              <a:off x="0" y="0"/>
              <a:ext cx="5039995" cy="7919974"/>
            </a:xfrm>
            <a:custGeom>
              <a:avLst/>
              <a:gdLst/>
              <a:ahLst/>
              <a:cxnLst/>
              <a:rect l="l" t="t" r="r" b="b"/>
              <a:pathLst>
                <a:path w="5039995" h="7919974">
                  <a:moveTo>
                    <a:pt x="0" y="0"/>
                  </a:moveTo>
                  <a:lnTo>
                    <a:pt x="5039995" y="0"/>
                  </a:lnTo>
                  <a:lnTo>
                    <a:pt x="5039995" y="7919974"/>
                  </a:lnTo>
                  <a:lnTo>
                    <a:pt x="0" y="7919974"/>
                  </a:lnTo>
                  <a:close/>
                </a:path>
              </a:pathLst>
            </a:custGeom>
            <a:blipFill>
              <a:blip r:embed="rId4">
                <a:alphaModFix amt="55000"/>
              </a:blip>
              <a:stretch>
                <a:fillRect l="-64782" r="-64782"/>
              </a:stretch>
            </a:blipFill>
          </p:spPr>
        </p:sp>
      </p:grpSp>
      <p:sp>
        <p:nvSpPr>
          <p:cNvPr id="7" name="AutoShape 7"/>
          <p:cNvSpPr/>
          <p:nvPr/>
        </p:nvSpPr>
        <p:spPr>
          <a:xfrm rot="5386560">
            <a:off x="-1774841" y="6307445"/>
            <a:ext cx="4874266" cy="0"/>
          </a:xfrm>
          <a:prstGeom prst="line">
            <a:avLst/>
          </a:prstGeom>
          <a:ln w="9525" cap="rnd">
            <a:solidFill>
              <a:srgbClr val="000000"/>
            </a:solidFill>
            <a:prstDash val="solid"/>
            <a:headEnd type="none" w="sm" len="sm"/>
            <a:tailEnd type="none" w="sm" len="sm"/>
          </a:ln>
        </p:spPr>
      </p:sp>
      <p:grpSp>
        <p:nvGrpSpPr>
          <p:cNvPr id="15" name="Group 15"/>
          <p:cNvGrpSpPr/>
          <p:nvPr/>
        </p:nvGrpSpPr>
        <p:grpSpPr>
          <a:xfrm>
            <a:off x="11508962" y="3550320"/>
            <a:ext cx="229486" cy="215817"/>
            <a:chOff x="0" y="0"/>
            <a:chExt cx="305981" cy="287757"/>
          </a:xfrm>
        </p:grpSpPr>
        <p:sp>
          <p:nvSpPr>
            <p:cNvPr id="16" name="Freeform 16"/>
            <p:cNvSpPr/>
            <p:nvPr/>
          </p:nvSpPr>
          <p:spPr>
            <a:xfrm>
              <a:off x="12700" y="12700"/>
              <a:ext cx="280543" cy="262382"/>
            </a:xfrm>
            <a:custGeom>
              <a:avLst/>
              <a:gdLst/>
              <a:ahLst/>
              <a:cxnLst/>
              <a:rect l="l" t="t" r="r" b="b"/>
              <a:pathLst>
                <a:path w="280543" h="262382">
                  <a:moveTo>
                    <a:pt x="0" y="0"/>
                  </a:moveTo>
                  <a:lnTo>
                    <a:pt x="280543" y="131191"/>
                  </a:lnTo>
                  <a:lnTo>
                    <a:pt x="0" y="262382"/>
                  </a:lnTo>
                  <a:lnTo>
                    <a:pt x="280543" y="131191"/>
                  </a:lnTo>
                  <a:close/>
                </a:path>
              </a:pathLst>
            </a:custGeom>
            <a:solidFill>
              <a:srgbClr val="4472C4"/>
            </a:solidFill>
          </p:spPr>
        </p:sp>
        <p:sp>
          <p:nvSpPr>
            <p:cNvPr id="17" name="Freeform 17"/>
            <p:cNvSpPr/>
            <p:nvPr/>
          </p:nvSpPr>
          <p:spPr>
            <a:xfrm>
              <a:off x="-41" y="0"/>
              <a:ext cx="306111" cy="287694"/>
            </a:xfrm>
            <a:custGeom>
              <a:avLst/>
              <a:gdLst/>
              <a:ahLst/>
              <a:cxnLst/>
              <a:rect l="l" t="t" r="r" b="b"/>
              <a:pathLst>
                <a:path w="306111" h="287694">
                  <a:moveTo>
                    <a:pt x="12741" y="0"/>
                  </a:moveTo>
                  <a:cubicBezTo>
                    <a:pt x="14646" y="0"/>
                    <a:pt x="16424" y="381"/>
                    <a:pt x="18075" y="1143"/>
                  </a:cubicBezTo>
                  <a:lnTo>
                    <a:pt x="298745" y="132334"/>
                  </a:lnTo>
                  <a:cubicBezTo>
                    <a:pt x="303190" y="134366"/>
                    <a:pt x="306111" y="138938"/>
                    <a:pt x="306111" y="143891"/>
                  </a:cubicBezTo>
                  <a:cubicBezTo>
                    <a:pt x="306111" y="148844"/>
                    <a:pt x="303317" y="153289"/>
                    <a:pt x="298745" y="155448"/>
                  </a:cubicBezTo>
                  <a:lnTo>
                    <a:pt x="18075" y="286512"/>
                  </a:lnTo>
                  <a:lnTo>
                    <a:pt x="12741" y="275082"/>
                  </a:lnTo>
                  <a:lnTo>
                    <a:pt x="7407" y="263525"/>
                  </a:lnTo>
                  <a:lnTo>
                    <a:pt x="287950" y="132334"/>
                  </a:lnTo>
                  <a:lnTo>
                    <a:pt x="293284" y="143891"/>
                  </a:lnTo>
                  <a:lnTo>
                    <a:pt x="287950" y="155448"/>
                  </a:lnTo>
                  <a:lnTo>
                    <a:pt x="7407" y="24257"/>
                  </a:lnTo>
                  <a:cubicBezTo>
                    <a:pt x="1946" y="21717"/>
                    <a:pt x="-975" y="15748"/>
                    <a:pt x="295" y="9906"/>
                  </a:cubicBezTo>
                  <a:cubicBezTo>
                    <a:pt x="1565" y="4064"/>
                    <a:pt x="6772" y="0"/>
                    <a:pt x="12741" y="0"/>
                  </a:cubicBezTo>
                  <a:moveTo>
                    <a:pt x="12741" y="25400"/>
                  </a:moveTo>
                  <a:lnTo>
                    <a:pt x="12741" y="12700"/>
                  </a:lnTo>
                  <a:lnTo>
                    <a:pt x="18075" y="1143"/>
                  </a:lnTo>
                  <a:lnTo>
                    <a:pt x="298745" y="132334"/>
                  </a:lnTo>
                  <a:cubicBezTo>
                    <a:pt x="303190" y="134366"/>
                    <a:pt x="306111" y="138938"/>
                    <a:pt x="306111" y="143891"/>
                  </a:cubicBezTo>
                  <a:cubicBezTo>
                    <a:pt x="306111" y="148844"/>
                    <a:pt x="303317" y="153289"/>
                    <a:pt x="298745" y="155448"/>
                  </a:cubicBezTo>
                  <a:lnTo>
                    <a:pt x="18075" y="286512"/>
                  </a:lnTo>
                  <a:cubicBezTo>
                    <a:pt x="11725" y="289433"/>
                    <a:pt x="4105" y="286766"/>
                    <a:pt x="1184" y="280416"/>
                  </a:cubicBezTo>
                  <a:cubicBezTo>
                    <a:pt x="-1737" y="274066"/>
                    <a:pt x="930" y="266446"/>
                    <a:pt x="7280" y="263525"/>
                  </a:cubicBezTo>
                  <a:lnTo>
                    <a:pt x="287950" y="132334"/>
                  </a:lnTo>
                  <a:lnTo>
                    <a:pt x="293284" y="143891"/>
                  </a:lnTo>
                  <a:lnTo>
                    <a:pt x="287950" y="155448"/>
                  </a:lnTo>
                  <a:lnTo>
                    <a:pt x="7407" y="24257"/>
                  </a:lnTo>
                  <a:lnTo>
                    <a:pt x="12741" y="12700"/>
                  </a:lnTo>
                  <a:lnTo>
                    <a:pt x="12741" y="25400"/>
                  </a:lnTo>
                  <a:close/>
                </a:path>
              </a:pathLst>
            </a:custGeom>
            <a:solidFill>
              <a:srgbClr val="FFFFFF"/>
            </a:solidFill>
          </p:spPr>
        </p:sp>
      </p:grpSp>
      <p:grpSp>
        <p:nvGrpSpPr>
          <p:cNvPr id="18" name="Group 18"/>
          <p:cNvGrpSpPr/>
          <p:nvPr/>
        </p:nvGrpSpPr>
        <p:grpSpPr>
          <a:xfrm>
            <a:off x="10878493" y="3550320"/>
            <a:ext cx="229486" cy="215817"/>
            <a:chOff x="0" y="0"/>
            <a:chExt cx="305981" cy="287757"/>
          </a:xfrm>
        </p:grpSpPr>
        <p:sp>
          <p:nvSpPr>
            <p:cNvPr id="19" name="Freeform 19"/>
            <p:cNvSpPr/>
            <p:nvPr/>
          </p:nvSpPr>
          <p:spPr>
            <a:xfrm>
              <a:off x="12700" y="12700"/>
              <a:ext cx="280543" cy="262382"/>
            </a:xfrm>
            <a:custGeom>
              <a:avLst/>
              <a:gdLst/>
              <a:ahLst/>
              <a:cxnLst/>
              <a:rect l="l" t="t" r="r" b="b"/>
              <a:pathLst>
                <a:path w="280543" h="262382">
                  <a:moveTo>
                    <a:pt x="280543" y="0"/>
                  </a:moveTo>
                  <a:lnTo>
                    <a:pt x="0" y="131191"/>
                  </a:lnTo>
                  <a:lnTo>
                    <a:pt x="280543" y="262382"/>
                  </a:lnTo>
                  <a:lnTo>
                    <a:pt x="0" y="131191"/>
                  </a:lnTo>
                  <a:close/>
                </a:path>
              </a:pathLst>
            </a:custGeom>
            <a:solidFill>
              <a:srgbClr val="4472C4"/>
            </a:solidFill>
          </p:spPr>
        </p:sp>
        <p:sp>
          <p:nvSpPr>
            <p:cNvPr id="20" name="Freeform 20"/>
            <p:cNvSpPr/>
            <p:nvPr/>
          </p:nvSpPr>
          <p:spPr>
            <a:xfrm>
              <a:off x="0" y="0"/>
              <a:ext cx="306037" cy="287749"/>
            </a:xfrm>
            <a:custGeom>
              <a:avLst/>
              <a:gdLst/>
              <a:ahLst/>
              <a:cxnLst/>
              <a:rect l="l" t="t" r="r" b="b"/>
              <a:pathLst>
                <a:path w="306037" h="287749">
                  <a:moveTo>
                    <a:pt x="293243" y="0"/>
                  </a:moveTo>
                  <a:cubicBezTo>
                    <a:pt x="299212" y="0"/>
                    <a:pt x="304292" y="4191"/>
                    <a:pt x="305689" y="9906"/>
                  </a:cubicBezTo>
                  <a:cubicBezTo>
                    <a:pt x="307086" y="15621"/>
                    <a:pt x="304038" y="21590"/>
                    <a:pt x="298704" y="24130"/>
                  </a:cubicBezTo>
                  <a:lnTo>
                    <a:pt x="18034" y="155321"/>
                  </a:lnTo>
                  <a:lnTo>
                    <a:pt x="12700" y="143891"/>
                  </a:lnTo>
                  <a:lnTo>
                    <a:pt x="18034" y="132334"/>
                  </a:lnTo>
                  <a:lnTo>
                    <a:pt x="298704" y="263525"/>
                  </a:lnTo>
                  <a:lnTo>
                    <a:pt x="293370" y="275082"/>
                  </a:lnTo>
                  <a:lnTo>
                    <a:pt x="288036" y="286639"/>
                  </a:lnTo>
                  <a:lnTo>
                    <a:pt x="7366" y="155321"/>
                  </a:lnTo>
                  <a:cubicBezTo>
                    <a:pt x="2921" y="153289"/>
                    <a:pt x="0" y="148717"/>
                    <a:pt x="0" y="143764"/>
                  </a:cubicBezTo>
                  <a:cubicBezTo>
                    <a:pt x="0" y="138811"/>
                    <a:pt x="2794" y="134366"/>
                    <a:pt x="7366" y="132207"/>
                  </a:cubicBezTo>
                  <a:lnTo>
                    <a:pt x="287909" y="1143"/>
                  </a:lnTo>
                  <a:cubicBezTo>
                    <a:pt x="289560" y="381"/>
                    <a:pt x="291465" y="0"/>
                    <a:pt x="293243" y="0"/>
                  </a:cubicBezTo>
                  <a:moveTo>
                    <a:pt x="293243" y="25400"/>
                  </a:moveTo>
                  <a:lnTo>
                    <a:pt x="293243" y="12700"/>
                  </a:lnTo>
                  <a:lnTo>
                    <a:pt x="298577" y="24257"/>
                  </a:lnTo>
                  <a:lnTo>
                    <a:pt x="18034" y="155321"/>
                  </a:lnTo>
                  <a:lnTo>
                    <a:pt x="12700" y="143891"/>
                  </a:lnTo>
                  <a:lnTo>
                    <a:pt x="18034" y="132334"/>
                  </a:lnTo>
                  <a:lnTo>
                    <a:pt x="298704" y="263525"/>
                  </a:lnTo>
                  <a:cubicBezTo>
                    <a:pt x="305054" y="266446"/>
                    <a:pt x="307848" y="274066"/>
                    <a:pt x="304800" y="280416"/>
                  </a:cubicBezTo>
                  <a:cubicBezTo>
                    <a:pt x="301752" y="286766"/>
                    <a:pt x="294259" y="289560"/>
                    <a:pt x="287909" y="286512"/>
                  </a:cubicBezTo>
                  <a:lnTo>
                    <a:pt x="7366" y="155321"/>
                  </a:lnTo>
                  <a:cubicBezTo>
                    <a:pt x="2921" y="153289"/>
                    <a:pt x="0" y="148717"/>
                    <a:pt x="0" y="143764"/>
                  </a:cubicBezTo>
                  <a:cubicBezTo>
                    <a:pt x="0" y="138811"/>
                    <a:pt x="2794" y="134366"/>
                    <a:pt x="7366" y="132207"/>
                  </a:cubicBezTo>
                  <a:lnTo>
                    <a:pt x="287909" y="1143"/>
                  </a:lnTo>
                  <a:lnTo>
                    <a:pt x="293243" y="12700"/>
                  </a:lnTo>
                  <a:lnTo>
                    <a:pt x="293243" y="25400"/>
                  </a:lnTo>
                  <a:close/>
                </a:path>
              </a:pathLst>
            </a:custGeom>
            <a:solidFill>
              <a:srgbClr val="FFFFFF"/>
            </a:solidFill>
          </p:spPr>
        </p:sp>
      </p:grpSp>
      <p:sp>
        <p:nvSpPr>
          <p:cNvPr id="22" name="TextBox 22"/>
          <p:cNvSpPr txBox="1"/>
          <p:nvPr/>
        </p:nvSpPr>
        <p:spPr>
          <a:xfrm>
            <a:off x="6297295" y="4187190"/>
            <a:ext cx="10401300" cy="1477010"/>
          </a:xfrm>
          <a:prstGeom prst="rect">
            <a:avLst/>
          </a:prstGeom>
        </p:spPr>
        <p:txBody>
          <a:bodyPr wrap="square" lIns="0" tIns="0" rIns="0" bIns="0" rtlCol="0" anchor="t">
            <a:spAutoFit/>
          </a:bodyPr>
          <a:lstStyle/>
          <a:p>
            <a:pPr>
              <a:lnSpc>
                <a:spcPts val="2880"/>
              </a:lnSpc>
            </a:pPr>
            <a:r>
              <a:rPr lang="en-US" sz="24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Industrial civilization takes ecological plunder as its core and forcibly incorporates natural ecosystems, colonial regional civilizations, and the global market system into the “asymmetric, unbalanced, and unsustainable” interaction process of capital expansion.</a:t>
            </a:r>
          </a:p>
        </p:txBody>
      </p:sp>
      <p:grpSp>
        <p:nvGrpSpPr>
          <p:cNvPr id="9" name="组合 8"/>
          <p:cNvGrpSpPr/>
          <p:nvPr/>
        </p:nvGrpSpPr>
        <p:grpSpPr>
          <a:xfrm>
            <a:off x="6400800" y="6099810"/>
            <a:ext cx="4850765" cy="553720"/>
            <a:chOff x="10800" y="9606"/>
            <a:chExt cx="7639" cy="872"/>
          </a:xfrm>
        </p:grpSpPr>
        <p:sp>
          <p:nvSpPr>
            <p:cNvPr id="23" name="TextBox 23"/>
            <p:cNvSpPr txBox="1"/>
            <p:nvPr/>
          </p:nvSpPr>
          <p:spPr>
            <a:xfrm>
              <a:off x="11693" y="9606"/>
              <a:ext cx="6746" cy="872"/>
            </a:xfrm>
            <a:prstGeom prst="rect">
              <a:avLst/>
            </a:prstGeom>
          </p:spPr>
          <p:txBody>
            <a:bodyPr wrap="square" lIns="0" tIns="0" rIns="0" bIns="0" rtlCol="0" anchor="t">
              <a:spAutoFit/>
            </a:bodyPr>
            <a:lstStyle/>
            <a:p>
              <a:pPr>
                <a:lnSpc>
                  <a:spcPts val="4320"/>
                </a:lnSpc>
              </a:pPr>
              <a:r>
                <a:rPr lang="en-US" altLang="zh-CN" sz="36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Development Trap</a:t>
              </a:r>
            </a:p>
          </p:txBody>
        </p:sp>
        <p:sp>
          <p:nvSpPr>
            <p:cNvPr id="25" name="Freeform 25"/>
            <p:cNvSpPr/>
            <p:nvPr/>
          </p:nvSpPr>
          <p:spPr>
            <a:xfrm>
              <a:off x="10800" y="9606"/>
              <a:ext cx="632" cy="677"/>
            </a:xfrm>
            <a:custGeom>
              <a:avLst/>
              <a:gdLst/>
              <a:ahLst/>
              <a:cxnLst/>
              <a:rect l="l" t="t" r="r" b="b"/>
              <a:pathLst>
                <a:path w="401355" h="429635">
                  <a:moveTo>
                    <a:pt x="0" y="0"/>
                  </a:moveTo>
                  <a:lnTo>
                    <a:pt x="401355" y="0"/>
                  </a:lnTo>
                  <a:lnTo>
                    <a:pt x="401355" y="429634"/>
                  </a:lnTo>
                  <a:lnTo>
                    <a:pt x="0" y="42963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grpSp>
        <p:nvGrpSpPr>
          <p:cNvPr id="11" name="组合 10"/>
          <p:cNvGrpSpPr/>
          <p:nvPr/>
        </p:nvGrpSpPr>
        <p:grpSpPr>
          <a:xfrm>
            <a:off x="6324600" y="3470910"/>
            <a:ext cx="4431030" cy="553720"/>
            <a:chOff x="13182" y="10752"/>
            <a:chExt cx="6978" cy="872"/>
          </a:xfrm>
        </p:grpSpPr>
        <p:sp>
          <p:nvSpPr>
            <p:cNvPr id="24" name="TextBox 24"/>
            <p:cNvSpPr txBox="1"/>
            <p:nvPr/>
          </p:nvSpPr>
          <p:spPr>
            <a:xfrm>
              <a:off x="14157" y="10752"/>
              <a:ext cx="6003" cy="872"/>
            </a:xfrm>
            <a:prstGeom prst="rect">
              <a:avLst/>
            </a:prstGeom>
          </p:spPr>
          <p:txBody>
            <a:bodyPr wrap="square" lIns="0" tIns="0" rIns="0" bIns="0" rtlCol="0" anchor="t">
              <a:spAutoFit/>
            </a:bodyPr>
            <a:lstStyle/>
            <a:p>
              <a:pPr>
                <a:lnSpc>
                  <a:spcPts val="4320"/>
                </a:lnSpc>
              </a:pPr>
              <a:r>
                <a:rPr lang="en-US" sz="36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Core Essence</a:t>
              </a:r>
            </a:p>
          </p:txBody>
        </p:sp>
        <p:grpSp>
          <p:nvGrpSpPr>
            <p:cNvPr id="26" name="Group 26"/>
            <p:cNvGrpSpPr/>
            <p:nvPr/>
          </p:nvGrpSpPr>
          <p:grpSpPr>
            <a:xfrm>
              <a:off x="13250" y="10979"/>
              <a:ext cx="540" cy="267"/>
              <a:chOff x="0" y="0"/>
              <a:chExt cx="456882" cy="225806"/>
            </a:xfrm>
          </p:grpSpPr>
          <p:sp>
            <p:nvSpPr>
              <p:cNvPr id="27" name="Freeform 27"/>
              <p:cNvSpPr/>
              <p:nvPr/>
            </p:nvSpPr>
            <p:spPr>
              <a:xfrm>
                <a:off x="9525" y="9525"/>
                <a:ext cx="437769" cy="206756"/>
              </a:xfrm>
              <a:custGeom>
                <a:avLst/>
                <a:gdLst/>
                <a:ahLst/>
                <a:cxnLst/>
                <a:rect l="l" t="t" r="r" b="b"/>
                <a:pathLst>
                  <a:path w="437769" h="206756">
                    <a:moveTo>
                      <a:pt x="14351" y="0"/>
                    </a:moveTo>
                    <a:cubicBezTo>
                      <a:pt x="8636" y="0"/>
                      <a:pt x="0" y="5715"/>
                      <a:pt x="0" y="14351"/>
                    </a:cubicBezTo>
                    <a:cubicBezTo>
                      <a:pt x="0" y="137795"/>
                      <a:pt x="0" y="137795"/>
                      <a:pt x="0" y="137795"/>
                    </a:cubicBezTo>
                    <a:cubicBezTo>
                      <a:pt x="5715" y="137795"/>
                      <a:pt x="11557" y="137795"/>
                      <a:pt x="17272" y="137795"/>
                    </a:cubicBezTo>
                    <a:cubicBezTo>
                      <a:pt x="20193" y="137795"/>
                      <a:pt x="25908" y="137795"/>
                      <a:pt x="28829" y="137795"/>
                    </a:cubicBezTo>
                    <a:cubicBezTo>
                      <a:pt x="28829" y="14351"/>
                      <a:pt x="28829" y="14351"/>
                      <a:pt x="28829" y="14351"/>
                    </a:cubicBezTo>
                    <a:cubicBezTo>
                      <a:pt x="28829" y="5715"/>
                      <a:pt x="22987" y="0"/>
                      <a:pt x="14351" y="0"/>
                    </a:cubicBezTo>
                    <a:close/>
                    <a:moveTo>
                      <a:pt x="423418" y="0"/>
                    </a:moveTo>
                    <a:cubicBezTo>
                      <a:pt x="414782" y="0"/>
                      <a:pt x="409067" y="5715"/>
                      <a:pt x="409067" y="14351"/>
                    </a:cubicBezTo>
                    <a:cubicBezTo>
                      <a:pt x="409067" y="206756"/>
                      <a:pt x="409067" y="206756"/>
                      <a:pt x="409067" y="206756"/>
                    </a:cubicBezTo>
                    <a:cubicBezTo>
                      <a:pt x="411988" y="203835"/>
                      <a:pt x="417703" y="203835"/>
                      <a:pt x="423418" y="203835"/>
                    </a:cubicBezTo>
                    <a:cubicBezTo>
                      <a:pt x="426339" y="203835"/>
                      <a:pt x="432054" y="203835"/>
                      <a:pt x="437769" y="203835"/>
                    </a:cubicBezTo>
                    <a:cubicBezTo>
                      <a:pt x="437769" y="14351"/>
                      <a:pt x="437769" y="14351"/>
                      <a:pt x="437769" y="14351"/>
                    </a:cubicBezTo>
                    <a:cubicBezTo>
                      <a:pt x="437769" y="5715"/>
                      <a:pt x="429133" y="0"/>
                      <a:pt x="423418" y="0"/>
                    </a:cubicBezTo>
                    <a:close/>
                    <a:moveTo>
                      <a:pt x="216027" y="0"/>
                    </a:moveTo>
                    <a:cubicBezTo>
                      <a:pt x="207391" y="0"/>
                      <a:pt x="201676" y="5715"/>
                      <a:pt x="201676" y="14351"/>
                    </a:cubicBezTo>
                    <a:cubicBezTo>
                      <a:pt x="201676" y="94742"/>
                      <a:pt x="201676" y="94742"/>
                      <a:pt x="201676" y="94742"/>
                    </a:cubicBezTo>
                    <a:cubicBezTo>
                      <a:pt x="207391" y="94742"/>
                      <a:pt x="210312" y="94742"/>
                      <a:pt x="216027" y="94742"/>
                    </a:cubicBezTo>
                    <a:cubicBezTo>
                      <a:pt x="221742" y="94742"/>
                      <a:pt x="227584" y="94742"/>
                      <a:pt x="230378" y="94742"/>
                    </a:cubicBezTo>
                    <a:cubicBezTo>
                      <a:pt x="230378" y="14351"/>
                      <a:pt x="230378" y="14351"/>
                      <a:pt x="230378" y="14351"/>
                    </a:cubicBezTo>
                    <a:cubicBezTo>
                      <a:pt x="230378" y="5715"/>
                      <a:pt x="224663" y="0"/>
                      <a:pt x="216027" y="0"/>
                    </a:cubicBezTo>
                    <a:close/>
                  </a:path>
                </a:pathLst>
              </a:custGeom>
              <a:blipFill>
                <a:blip r:embed="rId6"/>
                <a:stretch>
                  <a:fillRect l="-4606" t="-4606" r="-4624" b="-4606"/>
                </a:stretch>
              </a:blipFill>
            </p:spPr>
          </p:sp>
          <p:sp>
            <p:nvSpPr>
              <p:cNvPr id="28" name="Freeform 28"/>
              <p:cNvSpPr/>
              <p:nvPr/>
            </p:nvSpPr>
            <p:spPr>
              <a:xfrm>
                <a:off x="0" y="0"/>
                <a:ext cx="456946" cy="225660"/>
              </a:xfrm>
              <a:custGeom>
                <a:avLst/>
                <a:gdLst/>
                <a:ahLst/>
                <a:cxnLst/>
                <a:rect l="l" t="t" r="r" b="b"/>
                <a:pathLst>
                  <a:path w="456946" h="225660">
                    <a:moveTo>
                      <a:pt x="23876" y="19050"/>
                    </a:moveTo>
                    <a:cubicBezTo>
                      <a:pt x="21844" y="19177"/>
                      <a:pt x="18923" y="21844"/>
                      <a:pt x="18923" y="23876"/>
                    </a:cubicBezTo>
                    <a:lnTo>
                      <a:pt x="9525" y="23876"/>
                    </a:lnTo>
                    <a:lnTo>
                      <a:pt x="19050" y="23876"/>
                    </a:lnTo>
                    <a:lnTo>
                      <a:pt x="19050" y="147320"/>
                    </a:lnTo>
                    <a:lnTo>
                      <a:pt x="9525" y="147320"/>
                    </a:lnTo>
                    <a:lnTo>
                      <a:pt x="9525" y="137795"/>
                    </a:lnTo>
                    <a:lnTo>
                      <a:pt x="26797" y="137795"/>
                    </a:lnTo>
                    <a:lnTo>
                      <a:pt x="26797" y="147320"/>
                    </a:lnTo>
                    <a:lnTo>
                      <a:pt x="26797" y="137795"/>
                    </a:lnTo>
                    <a:lnTo>
                      <a:pt x="38354" y="137795"/>
                    </a:lnTo>
                    <a:lnTo>
                      <a:pt x="38354" y="147320"/>
                    </a:lnTo>
                    <a:lnTo>
                      <a:pt x="28829" y="147320"/>
                    </a:lnTo>
                    <a:lnTo>
                      <a:pt x="28829" y="23876"/>
                    </a:lnTo>
                    <a:lnTo>
                      <a:pt x="38354" y="23876"/>
                    </a:lnTo>
                    <a:lnTo>
                      <a:pt x="28829" y="23876"/>
                    </a:lnTo>
                    <a:cubicBezTo>
                      <a:pt x="28829" y="20574"/>
                      <a:pt x="27305" y="19050"/>
                      <a:pt x="24003" y="19050"/>
                    </a:cubicBezTo>
                    <a:lnTo>
                      <a:pt x="24003" y="9525"/>
                    </a:lnTo>
                    <a:lnTo>
                      <a:pt x="24003" y="19050"/>
                    </a:lnTo>
                    <a:moveTo>
                      <a:pt x="24003" y="0"/>
                    </a:moveTo>
                    <a:cubicBezTo>
                      <a:pt x="37846" y="0"/>
                      <a:pt x="47879" y="10033"/>
                      <a:pt x="47879" y="23876"/>
                    </a:cubicBezTo>
                    <a:lnTo>
                      <a:pt x="47879" y="147320"/>
                    </a:lnTo>
                    <a:cubicBezTo>
                      <a:pt x="47879" y="152527"/>
                      <a:pt x="43561" y="156845"/>
                      <a:pt x="38354" y="156845"/>
                    </a:cubicBezTo>
                    <a:lnTo>
                      <a:pt x="26797" y="156845"/>
                    </a:lnTo>
                    <a:lnTo>
                      <a:pt x="9525" y="156845"/>
                    </a:lnTo>
                    <a:cubicBezTo>
                      <a:pt x="4318" y="156845"/>
                      <a:pt x="0" y="152527"/>
                      <a:pt x="0" y="147320"/>
                    </a:cubicBezTo>
                    <a:lnTo>
                      <a:pt x="0" y="23876"/>
                    </a:lnTo>
                    <a:cubicBezTo>
                      <a:pt x="0" y="9144"/>
                      <a:pt x="13462" y="508"/>
                      <a:pt x="22987" y="0"/>
                    </a:cubicBezTo>
                    <a:cubicBezTo>
                      <a:pt x="23368" y="0"/>
                      <a:pt x="23622" y="0"/>
                      <a:pt x="24003" y="0"/>
                    </a:cubicBezTo>
                    <a:close/>
                    <a:moveTo>
                      <a:pt x="432943" y="19050"/>
                    </a:moveTo>
                    <a:cubicBezTo>
                      <a:pt x="429514" y="19050"/>
                      <a:pt x="428117" y="20574"/>
                      <a:pt x="428117" y="23876"/>
                    </a:cubicBezTo>
                    <a:lnTo>
                      <a:pt x="418592" y="23876"/>
                    </a:lnTo>
                    <a:lnTo>
                      <a:pt x="428117" y="23876"/>
                    </a:lnTo>
                    <a:lnTo>
                      <a:pt x="428117" y="216281"/>
                    </a:lnTo>
                    <a:lnTo>
                      <a:pt x="418592" y="216281"/>
                    </a:lnTo>
                    <a:lnTo>
                      <a:pt x="411861" y="209550"/>
                    </a:lnTo>
                    <a:cubicBezTo>
                      <a:pt x="413385" y="208026"/>
                      <a:pt x="415163" y="206883"/>
                      <a:pt x="416941" y="206121"/>
                    </a:cubicBezTo>
                    <a:cubicBezTo>
                      <a:pt x="422402" y="203708"/>
                      <a:pt x="429260" y="203835"/>
                      <a:pt x="433070" y="203835"/>
                    </a:cubicBezTo>
                    <a:lnTo>
                      <a:pt x="433070" y="213360"/>
                    </a:lnTo>
                    <a:lnTo>
                      <a:pt x="433070" y="203835"/>
                    </a:lnTo>
                    <a:lnTo>
                      <a:pt x="447421" y="203835"/>
                    </a:lnTo>
                    <a:lnTo>
                      <a:pt x="447421" y="213360"/>
                    </a:lnTo>
                    <a:lnTo>
                      <a:pt x="437896" y="213360"/>
                    </a:lnTo>
                    <a:lnTo>
                      <a:pt x="437896" y="23876"/>
                    </a:lnTo>
                    <a:lnTo>
                      <a:pt x="447421" y="23876"/>
                    </a:lnTo>
                    <a:lnTo>
                      <a:pt x="437896" y="23876"/>
                    </a:lnTo>
                    <a:cubicBezTo>
                      <a:pt x="437896" y="21844"/>
                      <a:pt x="435102" y="19177"/>
                      <a:pt x="432943" y="19050"/>
                    </a:cubicBezTo>
                    <a:lnTo>
                      <a:pt x="432943" y="9525"/>
                    </a:lnTo>
                    <a:lnTo>
                      <a:pt x="432943" y="19050"/>
                    </a:lnTo>
                    <a:moveTo>
                      <a:pt x="432943" y="0"/>
                    </a:moveTo>
                    <a:cubicBezTo>
                      <a:pt x="433324" y="0"/>
                      <a:pt x="433578" y="0"/>
                      <a:pt x="433959" y="0"/>
                    </a:cubicBezTo>
                    <a:cubicBezTo>
                      <a:pt x="443357" y="508"/>
                      <a:pt x="456946" y="9144"/>
                      <a:pt x="456946" y="23876"/>
                    </a:cubicBezTo>
                    <a:lnTo>
                      <a:pt x="456946" y="213360"/>
                    </a:lnTo>
                    <a:cubicBezTo>
                      <a:pt x="456946" y="218567"/>
                      <a:pt x="452628" y="222885"/>
                      <a:pt x="447421" y="222885"/>
                    </a:cubicBezTo>
                    <a:lnTo>
                      <a:pt x="432943" y="222885"/>
                    </a:lnTo>
                    <a:cubicBezTo>
                      <a:pt x="427609" y="222885"/>
                      <a:pt x="425450" y="223012"/>
                      <a:pt x="424688" y="223393"/>
                    </a:cubicBezTo>
                    <a:cubicBezTo>
                      <a:pt x="424561" y="223393"/>
                      <a:pt x="425323" y="223012"/>
                      <a:pt x="425323" y="222885"/>
                    </a:cubicBezTo>
                    <a:cubicBezTo>
                      <a:pt x="422656" y="225552"/>
                      <a:pt x="418465" y="226441"/>
                      <a:pt x="414909" y="224917"/>
                    </a:cubicBezTo>
                    <a:cubicBezTo>
                      <a:pt x="411353" y="223393"/>
                      <a:pt x="409067" y="219964"/>
                      <a:pt x="409067" y="216154"/>
                    </a:cubicBezTo>
                    <a:lnTo>
                      <a:pt x="409067" y="23876"/>
                    </a:lnTo>
                    <a:cubicBezTo>
                      <a:pt x="409067" y="10033"/>
                      <a:pt x="419100" y="0"/>
                      <a:pt x="432943" y="0"/>
                    </a:cubicBezTo>
                    <a:close/>
                    <a:moveTo>
                      <a:pt x="225552" y="19050"/>
                    </a:moveTo>
                    <a:cubicBezTo>
                      <a:pt x="222123" y="19050"/>
                      <a:pt x="220726" y="20574"/>
                      <a:pt x="220726" y="23876"/>
                    </a:cubicBezTo>
                    <a:lnTo>
                      <a:pt x="211201" y="23876"/>
                    </a:lnTo>
                    <a:lnTo>
                      <a:pt x="220726" y="23876"/>
                    </a:lnTo>
                    <a:lnTo>
                      <a:pt x="220726" y="104267"/>
                    </a:lnTo>
                    <a:lnTo>
                      <a:pt x="211201" y="104267"/>
                    </a:lnTo>
                    <a:lnTo>
                      <a:pt x="211201" y="94742"/>
                    </a:lnTo>
                    <a:lnTo>
                      <a:pt x="225552" y="94742"/>
                    </a:lnTo>
                    <a:lnTo>
                      <a:pt x="225552" y="104267"/>
                    </a:lnTo>
                    <a:lnTo>
                      <a:pt x="225552" y="94742"/>
                    </a:lnTo>
                    <a:lnTo>
                      <a:pt x="239903" y="94742"/>
                    </a:lnTo>
                    <a:lnTo>
                      <a:pt x="239903" y="104267"/>
                    </a:lnTo>
                    <a:lnTo>
                      <a:pt x="230378" y="104267"/>
                    </a:lnTo>
                    <a:lnTo>
                      <a:pt x="230378" y="23876"/>
                    </a:lnTo>
                    <a:lnTo>
                      <a:pt x="239903" y="23876"/>
                    </a:lnTo>
                    <a:lnTo>
                      <a:pt x="230378" y="23876"/>
                    </a:lnTo>
                    <a:cubicBezTo>
                      <a:pt x="230378" y="20574"/>
                      <a:pt x="228854" y="19050"/>
                      <a:pt x="225552" y="19050"/>
                    </a:cubicBezTo>
                    <a:lnTo>
                      <a:pt x="225552" y="9525"/>
                    </a:lnTo>
                    <a:lnTo>
                      <a:pt x="225552" y="19050"/>
                    </a:lnTo>
                    <a:moveTo>
                      <a:pt x="225552" y="0"/>
                    </a:moveTo>
                    <a:cubicBezTo>
                      <a:pt x="239395" y="0"/>
                      <a:pt x="249428" y="10033"/>
                      <a:pt x="249428" y="23876"/>
                    </a:cubicBezTo>
                    <a:lnTo>
                      <a:pt x="249428" y="104267"/>
                    </a:lnTo>
                    <a:cubicBezTo>
                      <a:pt x="249428" y="109474"/>
                      <a:pt x="245110" y="113792"/>
                      <a:pt x="239903" y="113792"/>
                    </a:cubicBezTo>
                    <a:lnTo>
                      <a:pt x="225552" y="113792"/>
                    </a:lnTo>
                    <a:lnTo>
                      <a:pt x="211201" y="113792"/>
                    </a:lnTo>
                    <a:cubicBezTo>
                      <a:pt x="205994" y="113792"/>
                      <a:pt x="201676" y="109474"/>
                      <a:pt x="201676" y="104267"/>
                    </a:cubicBezTo>
                    <a:lnTo>
                      <a:pt x="201676" y="23876"/>
                    </a:lnTo>
                    <a:cubicBezTo>
                      <a:pt x="201676" y="10033"/>
                      <a:pt x="211709" y="0"/>
                      <a:pt x="225552" y="0"/>
                    </a:cubicBezTo>
                    <a:close/>
                  </a:path>
                </a:pathLst>
              </a:custGeom>
              <a:solidFill>
                <a:srgbClr val="FFFFFF"/>
              </a:solidFill>
              <a:ln>
                <a:solidFill>
                  <a:srgbClr val="7030A0"/>
                </a:solidFill>
              </a:ln>
            </p:spPr>
          </p:sp>
        </p:grpSp>
        <p:grpSp>
          <p:nvGrpSpPr>
            <p:cNvPr id="29" name="Group 29"/>
            <p:cNvGrpSpPr/>
            <p:nvPr/>
          </p:nvGrpSpPr>
          <p:grpSpPr>
            <a:xfrm>
              <a:off x="13250" y="11312"/>
              <a:ext cx="540" cy="284"/>
              <a:chOff x="0" y="0"/>
              <a:chExt cx="456882" cy="240398"/>
            </a:xfrm>
          </p:grpSpPr>
          <p:sp>
            <p:nvSpPr>
              <p:cNvPr id="30" name="Freeform 30"/>
              <p:cNvSpPr/>
              <p:nvPr/>
            </p:nvSpPr>
            <p:spPr>
              <a:xfrm>
                <a:off x="9398" y="9525"/>
                <a:ext cx="437896" cy="221488"/>
              </a:xfrm>
              <a:custGeom>
                <a:avLst/>
                <a:gdLst/>
                <a:ahLst/>
                <a:cxnLst/>
                <a:rect l="l" t="t" r="r" b="b"/>
                <a:pathLst>
                  <a:path w="437896" h="221488">
                    <a:moveTo>
                      <a:pt x="127" y="43180"/>
                    </a:moveTo>
                    <a:cubicBezTo>
                      <a:pt x="127" y="204216"/>
                      <a:pt x="127" y="204216"/>
                      <a:pt x="127" y="204216"/>
                    </a:cubicBezTo>
                    <a:cubicBezTo>
                      <a:pt x="127" y="212852"/>
                      <a:pt x="8763" y="221488"/>
                      <a:pt x="14478" y="221488"/>
                    </a:cubicBezTo>
                    <a:cubicBezTo>
                      <a:pt x="23114" y="221488"/>
                      <a:pt x="28829" y="212852"/>
                      <a:pt x="28829" y="204216"/>
                    </a:cubicBezTo>
                    <a:cubicBezTo>
                      <a:pt x="28829" y="43180"/>
                      <a:pt x="28829" y="43180"/>
                      <a:pt x="28829" y="43180"/>
                    </a:cubicBezTo>
                    <a:cubicBezTo>
                      <a:pt x="25908" y="43180"/>
                      <a:pt x="20193" y="46101"/>
                      <a:pt x="17272" y="46101"/>
                    </a:cubicBezTo>
                    <a:cubicBezTo>
                      <a:pt x="11557" y="46101"/>
                      <a:pt x="5715" y="43180"/>
                      <a:pt x="0" y="43180"/>
                    </a:cubicBezTo>
                    <a:close/>
                    <a:moveTo>
                      <a:pt x="201803" y="0"/>
                    </a:moveTo>
                    <a:cubicBezTo>
                      <a:pt x="201803" y="204089"/>
                      <a:pt x="201803" y="204089"/>
                      <a:pt x="201803" y="204089"/>
                    </a:cubicBezTo>
                    <a:cubicBezTo>
                      <a:pt x="201803" y="212725"/>
                      <a:pt x="207518" y="221361"/>
                      <a:pt x="216154" y="221361"/>
                    </a:cubicBezTo>
                    <a:cubicBezTo>
                      <a:pt x="224790" y="221361"/>
                      <a:pt x="230505" y="212725"/>
                      <a:pt x="230505" y="204089"/>
                    </a:cubicBezTo>
                    <a:cubicBezTo>
                      <a:pt x="230505" y="0"/>
                      <a:pt x="230505" y="0"/>
                      <a:pt x="230505" y="0"/>
                    </a:cubicBezTo>
                    <a:cubicBezTo>
                      <a:pt x="227584" y="2921"/>
                      <a:pt x="221869" y="2921"/>
                      <a:pt x="216154" y="2921"/>
                    </a:cubicBezTo>
                    <a:cubicBezTo>
                      <a:pt x="210439" y="2921"/>
                      <a:pt x="207518" y="0"/>
                      <a:pt x="201803" y="0"/>
                    </a:cubicBezTo>
                    <a:close/>
                    <a:moveTo>
                      <a:pt x="423545" y="112141"/>
                    </a:moveTo>
                    <a:cubicBezTo>
                      <a:pt x="417830" y="112141"/>
                      <a:pt x="411988" y="112141"/>
                      <a:pt x="409194" y="109220"/>
                    </a:cubicBezTo>
                    <a:cubicBezTo>
                      <a:pt x="409194" y="204089"/>
                      <a:pt x="409194" y="204089"/>
                      <a:pt x="409194" y="204089"/>
                    </a:cubicBezTo>
                    <a:cubicBezTo>
                      <a:pt x="409194" y="212725"/>
                      <a:pt x="414909" y="221361"/>
                      <a:pt x="423545" y="221361"/>
                    </a:cubicBezTo>
                    <a:cubicBezTo>
                      <a:pt x="429260" y="221361"/>
                      <a:pt x="437896" y="212725"/>
                      <a:pt x="437896" y="204089"/>
                    </a:cubicBezTo>
                    <a:cubicBezTo>
                      <a:pt x="437896" y="109220"/>
                      <a:pt x="437896" y="109220"/>
                      <a:pt x="437896" y="109220"/>
                    </a:cubicBezTo>
                    <a:cubicBezTo>
                      <a:pt x="432181" y="112141"/>
                      <a:pt x="426339" y="112141"/>
                      <a:pt x="423545" y="112141"/>
                    </a:cubicBezTo>
                    <a:close/>
                  </a:path>
                </a:pathLst>
              </a:custGeom>
              <a:blipFill>
                <a:blip r:embed="rId7"/>
                <a:stretch>
                  <a:fillRect l="-4878" t="-4300" r="-4921" b="-4237"/>
                </a:stretch>
              </a:blipFill>
            </p:spPr>
          </p:sp>
          <p:sp>
            <p:nvSpPr>
              <p:cNvPr id="31" name="Freeform 31"/>
              <p:cNvSpPr/>
              <p:nvPr/>
            </p:nvSpPr>
            <p:spPr>
              <a:xfrm>
                <a:off x="0" y="0"/>
                <a:ext cx="456565" cy="240411"/>
              </a:xfrm>
              <a:custGeom>
                <a:avLst/>
                <a:gdLst/>
                <a:ahLst/>
                <a:cxnLst/>
                <a:rect l="l" t="t" r="r" b="b"/>
                <a:pathLst>
                  <a:path w="456565" h="240411">
                    <a:moveTo>
                      <a:pt x="19050" y="52705"/>
                    </a:moveTo>
                    <a:lnTo>
                      <a:pt x="19050" y="213614"/>
                    </a:lnTo>
                    <a:lnTo>
                      <a:pt x="9525" y="213614"/>
                    </a:lnTo>
                    <a:lnTo>
                      <a:pt x="19050" y="213614"/>
                    </a:lnTo>
                    <a:cubicBezTo>
                      <a:pt x="19050" y="216662"/>
                      <a:pt x="22733" y="220853"/>
                      <a:pt x="24511" y="221361"/>
                    </a:cubicBezTo>
                    <a:cubicBezTo>
                      <a:pt x="24638" y="221361"/>
                      <a:pt x="24003" y="221234"/>
                      <a:pt x="23876" y="221234"/>
                    </a:cubicBezTo>
                    <a:lnTo>
                      <a:pt x="23876" y="230759"/>
                    </a:lnTo>
                    <a:lnTo>
                      <a:pt x="23876" y="221234"/>
                    </a:lnTo>
                    <a:cubicBezTo>
                      <a:pt x="25146" y="221234"/>
                      <a:pt x="28702" y="219202"/>
                      <a:pt x="28702" y="213487"/>
                    </a:cubicBezTo>
                    <a:lnTo>
                      <a:pt x="38227" y="213487"/>
                    </a:lnTo>
                    <a:lnTo>
                      <a:pt x="28702" y="213487"/>
                    </a:lnTo>
                    <a:lnTo>
                      <a:pt x="28702" y="52705"/>
                    </a:lnTo>
                    <a:lnTo>
                      <a:pt x="38227" y="52705"/>
                    </a:lnTo>
                    <a:lnTo>
                      <a:pt x="38227" y="62230"/>
                    </a:lnTo>
                    <a:cubicBezTo>
                      <a:pt x="38354" y="62230"/>
                      <a:pt x="38735" y="62230"/>
                      <a:pt x="38735" y="62230"/>
                    </a:cubicBezTo>
                    <a:cubicBezTo>
                      <a:pt x="38354" y="62230"/>
                      <a:pt x="37465" y="62611"/>
                      <a:pt x="35433" y="63246"/>
                    </a:cubicBezTo>
                    <a:cubicBezTo>
                      <a:pt x="34036" y="63754"/>
                      <a:pt x="31496" y="64643"/>
                      <a:pt x="29083" y="65024"/>
                    </a:cubicBezTo>
                    <a:cubicBezTo>
                      <a:pt x="28448" y="65151"/>
                      <a:pt x="27559" y="65278"/>
                      <a:pt x="26543" y="65278"/>
                    </a:cubicBezTo>
                    <a:lnTo>
                      <a:pt x="26543" y="55499"/>
                    </a:lnTo>
                    <a:lnTo>
                      <a:pt x="26543" y="65024"/>
                    </a:lnTo>
                    <a:cubicBezTo>
                      <a:pt x="22225" y="65024"/>
                      <a:pt x="18288" y="64008"/>
                      <a:pt x="15621" y="63246"/>
                    </a:cubicBezTo>
                    <a:cubicBezTo>
                      <a:pt x="12700" y="62611"/>
                      <a:pt x="11049" y="62230"/>
                      <a:pt x="9525" y="62230"/>
                    </a:cubicBezTo>
                    <a:lnTo>
                      <a:pt x="9525" y="52705"/>
                    </a:lnTo>
                    <a:lnTo>
                      <a:pt x="19050" y="52705"/>
                    </a:lnTo>
                    <a:moveTo>
                      <a:pt x="0" y="52705"/>
                    </a:moveTo>
                    <a:cubicBezTo>
                      <a:pt x="0" y="47498"/>
                      <a:pt x="4318" y="43180"/>
                      <a:pt x="9525" y="43180"/>
                    </a:cubicBezTo>
                    <a:cubicBezTo>
                      <a:pt x="13843" y="43180"/>
                      <a:pt x="17780" y="44196"/>
                      <a:pt x="20447" y="44958"/>
                    </a:cubicBezTo>
                    <a:cubicBezTo>
                      <a:pt x="23495" y="45720"/>
                      <a:pt x="25273" y="46101"/>
                      <a:pt x="26797" y="46101"/>
                    </a:cubicBezTo>
                    <a:cubicBezTo>
                      <a:pt x="26670" y="46101"/>
                      <a:pt x="26289" y="46101"/>
                      <a:pt x="26289" y="46101"/>
                    </a:cubicBezTo>
                    <a:cubicBezTo>
                      <a:pt x="26670" y="46101"/>
                      <a:pt x="27559" y="45720"/>
                      <a:pt x="29591" y="45085"/>
                    </a:cubicBezTo>
                    <a:cubicBezTo>
                      <a:pt x="30988" y="44577"/>
                      <a:pt x="33528" y="43688"/>
                      <a:pt x="35941" y="43307"/>
                    </a:cubicBezTo>
                    <a:cubicBezTo>
                      <a:pt x="36576" y="43180"/>
                      <a:pt x="37465" y="43053"/>
                      <a:pt x="38481" y="43053"/>
                    </a:cubicBezTo>
                    <a:cubicBezTo>
                      <a:pt x="43688" y="43053"/>
                      <a:pt x="48006" y="47371"/>
                      <a:pt x="48006" y="52578"/>
                    </a:cubicBezTo>
                    <a:lnTo>
                      <a:pt x="48006" y="213614"/>
                    </a:lnTo>
                    <a:cubicBezTo>
                      <a:pt x="48006" y="225171"/>
                      <a:pt x="40005" y="240411"/>
                      <a:pt x="24130" y="240411"/>
                    </a:cubicBezTo>
                    <a:cubicBezTo>
                      <a:pt x="22352" y="240411"/>
                      <a:pt x="20574" y="240030"/>
                      <a:pt x="19177" y="239649"/>
                    </a:cubicBezTo>
                    <a:cubicBezTo>
                      <a:pt x="9779" y="236728"/>
                      <a:pt x="0" y="225806"/>
                      <a:pt x="0" y="213614"/>
                    </a:cubicBezTo>
                    <a:lnTo>
                      <a:pt x="0" y="52705"/>
                    </a:lnTo>
                    <a:close/>
                    <a:moveTo>
                      <a:pt x="220726" y="9525"/>
                    </a:moveTo>
                    <a:lnTo>
                      <a:pt x="220726" y="213614"/>
                    </a:lnTo>
                    <a:lnTo>
                      <a:pt x="211201" y="213614"/>
                    </a:lnTo>
                    <a:lnTo>
                      <a:pt x="220726" y="213614"/>
                    </a:lnTo>
                    <a:cubicBezTo>
                      <a:pt x="220726" y="219329"/>
                      <a:pt x="224282" y="221361"/>
                      <a:pt x="225552" y="221361"/>
                    </a:cubicBezTo>
                    <a:lnTo>
                      <a:pt x="225552" y="230886"/>
                    </a:lnTo>
                    <a:lnTo>
                      <a:pt x="225552" y="221361"/>
                    </a:lnTo>
                    <a:cubicBezTo>
                      <a:pt x="226822" y="221361"/>
                      <a:pt x="230378" y="219329"/>
                      <a:pt x="230378" y="213614"/>
                    </a:cubicBezTo>
                    <a:lnTo>
                      <a:pt x="239903" y="213614"/>
                    </a:lnTo>
                    <a:lnTo>
                      <a:pt x="230378" y="213614"/>
                    </a:lnTo>
                    <a:lnTo>
                      <a:pt x="230378" y="9525"/>
                    </a:lnTo>
                    <a:lnTo>
                      <a:pt x="239903" y="9525"/>
                    </a:lnTo>
                    <a:lnTo>
                      <a:pt x="246634" y="16256"/>
                    </a:lnTo>
                    <a:cubicBezTo>
                      <a:pt x="245110" y="17780"/>
                      <a:pt x="243332" y="18923"/>
                      <a:pt x="241554" y="19685"/>
                    </a:cubicBezTo>
                    <a:cubicBezTo>
                      <a:pt x="236093" y="22098"/>
                      <a:pt x="229235" y="21971"/>
                      <a:pt x="225425" y="21971"/>
                    </a:cubicBezTo>
                    <a:lnTo>
                      <a:pt x="225425" y="12446"/>
                    </a:lnTo>
                    <a:lnTo>
                      <a:pt x="225425" y="21971"/>
                    </a:lnTo>
                    <a:cubicBezTo>
                      <a:pt x="220853" y="21971"/>
                      <a:pt x="217424" y="20828"/>
                      <a:pt x="215265" y="20066"/>
                    </a:cubicBezTo>
                    <a:cubicBezTo>
                      <a:pt x="213106" y="19304"/>
                      <a:pt x="212217" y="19177"/>
                      <a:pt x="211074" y="19177"/>
                    </a:cubicBezTo>
                    <a:lnTo>
                      <a:pt x="211074" y="9525"/>
                    </a:lnTo>
                    <a:lnTo>
                      <a:pt x="220599" y="9525"/>
                    </a:lnTo>
                    <a:moveTo>
                      <a:pt x="201549" y="9525"/>
                    </a:moveTo>
                    <a:cubicBezTo>
                      <a:pt x="201549" y="4318"/>
                      <a:pt x="205867" y="0"/>
                      <a:pt x="211074" y="0"/>
                    </a:cubicBezTo>
                    <a:cubicBezTo>
                      <a:pt x="215646" y="0"/>
                      <a:pt x="219075" y="1143"/>
                      <a:pt x="221234" y="1905"/>
                    </a:cubicBezTo>
                    <a:cubicBezTo>
                      <a:pt x="223393" y="2667"/>
                      <a:pt x="224282" y="2794"/>
                      <a:pt x="225425" y="2794"/>
                    </a:cubicBezTo>
                    <a:cubicBezTo>
                      <a:pt x="230759" y="2794"/>
                      <a:pt x="232918" y="2667"/>
                      <a:pt x="233680" y="2286"/>
                    </a:cubicBezTo>
                    <a:cubicBezTo>
                      <a:pt x="233807" y="2286"/>
                      <a:pt x="233045" y="2667"/>
                      <a:pt x="233045" y="2794"/>
                    </a:cubicBezTo>
                    <a:cubicBezTo>
                      <a:pt x="235712" y="127"/>
                      <a:pt x="239903" y="-762"/>
                      <a:pt x="243459" y="762"/>
                    </a:cubicBezTo>
                    <a:cubicBezTo>
                      <a:pt x="247015" y="2286"/>
                      <a:pt x="249301" y="5715"/>
                      <a:pt x="249301" y="9525"/>
                    </a:cubicBezTo>
                    <a:lnTo>
                      <a:pt x="249301" y="213614"/>
                    </a:lnTo>
                    <a:cubicBezTo>
                      <a:pt x="249301" y="225171"/>
                      <a:pt x="241300" y="240411"/>
                      <a:pt x="225425" y="240411"/>
                    </a:cubicBezTo>
                    <a:cubicBezTo>
                      <a:pt x="209550" y="240411"/>
                      <a:pt x="201549" y="225171"/>
                      <a:pt x="201549" y="213614"/>
                    </a:cubicBezTo>
                    <a:lnTo>
                      <a:pt x="201549" y="9525"/>
                    </a:lnTo>
                    <a:close/>
                    <a:moveTo>
                      <a:pt x="432816" y="131191"/>
                    </a:moveTo>
                    <a:cubicBezTo>
                      <a:pt x="429133" y="131191"/>
                      <a:pt x="422148" y="131318"/>
                      <a:pt x="416687" y="128905"/>
                    </a:cubicBezTo>
                    <a:cubicBezTo>
                      <a:pt x="415036" y="128143"/>
                      <a:pt x="413258" y="127000"/>
                      <a:pt x="411607" y="125476"/>
                    </a:cubicBezTo>
                    <a:lnTo>
                      <a:pt x="418338" y="118745"/>
                    </a:lnTo>
                    <a:lnTo>
                      <a:pt x="427863" y="118745"/>
                    </a:lnTo>
                    <a:lnTo>
                      <a:pt x="427863" y="213614"/>
                    </a:lnTo>
                    <a:lnTo>
                      <a:pt x="418338" y="213614"/>
                    </a:lnTo>
                    <a:lnTo>
                      <a:pt x="427863" y="213614"/>
                    </a:lnTo>
                    <a:cubicBezTo>
                      <a:pt x="427863" y="219329"/>
                      <a:pt x="431419" y="221361"/>
                      <a:pt x="432689" y="221361"/>
                    </a:cubicBezTo>
                    <a:lnTo>
                      <a:pt x="432689" y="230886"/>
                    </a:lnTo>
                    <a:lnTo>
                      <a:pt x="432689" y="221361"/>
                    </a:lnTo>
                    <a:cubicBezTo>
                      <a:pt x="432562" y="221361"/>
                      <a:pt x="431927" y="221488"/>
                      <a:pt x="432054" y="221488"/>
                    </a:cubicBezTo>
                    <a:cubicBezTo>
                      <a:pt x="433959" y="220853"/>
                      <a:pt x="437515" y="216789"/>
                      <a:pt x="437515" y="213741"/>
                    </a:cubicBezTo>
                    <a:lnTo>
                      <a:pt x="447040" y="213741"/>
                    </a:lnTo>
                    <a:lnTo>
                      <a:pt x="437515" y="213741"/>
                    </a:lnTo>
                    <a:lnTo>
                      <a:pt x="437515" y="118745"/>
                    </a:lnTo>
                    <a:lnTo>
                      <a:pt x="447040" y="118745"/>
                    </a:lnTo>
                    <a:lnTo>
                      <a:pt x="451231" y="127254"/>
                    </a:lnTo>
                    <a:cubicBezTo>
                      <a:pt x="443357" y="131191"/>
                      <a:pt x="435483" y="131191"/>
                      <a:pt x="432562" y="131191"/>
                    </a:cubicBezTo>
                    <a:lnTo>
                      <a:pt x="432562" y="121666"/>
                    </a:lnTo>
                    <a:lnTo>
                      <a:pt x="432562" y="131191"/>
                    </a:lnTo>
                    <a:moveTo>
                      <a:pt x="432562" y="112141"/>
                    </a:moveTo>
                    <a:cubicBezTo>
                      <a:pt x="435356" y="112141"/>
                      <a:pt x="439166" y="112014"/>
                      <a:pt x="442722" y="110236"/>
                    </a:cubicBezTo>
                    <a:cubicBezTo>
                      <a:pt x="445643" y="108712"/>
                      <a:pt x="449199" y="108966"/>
                      <a:pt x="451993" y="110617"/>
                    </a:cubicBezTo>
                    <a:cubicBezTo>
                      <a:pt x="454787" y="112268"/>
                      <a:pt x="456565" y="115443"/>
                      <a:pt x="456565" y="118745"/>
                    </a:cubicBezTo>
                    <a:lnTo>
                      <a:pt x="456565" y="213614"/>
                    </a:lnTo>
                    <a:cubicBezTo>
                      <a:pt x="456565" y="225679"/>
                      <a:pt x="446786" y="236728"/>
                      <a:pt x="437642" y="239649"/>
                    </a:cubicBezTo>
                    <a:cubicBezTo>
                      <a:pt x="436118" y="240157"/>
                      <a:pt x="434467" y="240411"/>
                      <a:pt x="432689" y="240411"/>
                    </a:cubicBezTo>
                    <a:cubicBezTo>
                      <a:pt x="416687" y="240411"/>
                      <a:pt x="408813" y="225171"/>
                      <a:pt x="408813" y="213614"/>
                    </a:cubicBezTo>
                    <a:lnTo>
                      <a:pt x="408813" y="118745"/>
                    </a:lnTo>
                    <a:cubicBezTo>
                      <a:pt x="408813" y="114935"/>
                      <a:pt x="411099" y="111379"/>
                      <a:pt x="414655" y="109982"/>
                    </a:cubicBezTo>
                    <a:cubicBezTo>
                      <a:pt x="418211" y="108585"/>
                      <a:pt x="422275" y="109347"/>
                      <a:pt x="425069" y="112014"/>
                    </a:cubicBezTo>
                    <a:cubicBezTo>
                      <a:pt x="425069" y="112014"/>
                      <a:pt x="424307" y="111506"/>
                      <a:pt x="424434" y="111506"/>
                    </a:cubicBezTo>
                    <a:cubicBezTo>
                      <a:pt x="425323" y="111887"/>
                      <a:pt x="427355" y="112014"/>
                      <a:pt x="432689" y="112014"/>
                    </a:cubicBezTo>
                    <a:close/>
                  </a:path>
                </a:pathLst>
              </a:custGeom>
              <a:solidFill>
                <a:srgbClr val="FFFFFF"/>
              </a:solidFill>
              <a:ln>
                <a:solidFill>
                  <a:srgbClr val="7030A0"/>
                </a:solidFill>
              </a:ln>
            </p:spPr>
          </p:sp>
        </p:grpSp>
        <p:grpSp>
          <p:nvGrpSpPr>
            <p:cNvPr id="32" name="Group 32"/>
            <p:cNvGrpSpPr/>
            <p:nvPr/>
          </p:nvGrpSpPr>
          <p:grpSpPr>
            <a:xfrm>
              <a:off x="13661" y="11243"/>
              <a:ext cx="196" cy="196"/>
              <a:chOff x="0" y="0"/>
              <a:chExt cx="166218" cy="166218"/>
            </a:xfrm>
          </p:grpSpPr>
          <p:sp>
            <p:nvSpPr>
              <p:cNvPr id="33" name="Freeform 33"/>
              <p:cNvSpPr/>
              <p:nvPr/>
            </p:nvSpPr>
            <p:spPr>
              <a:xfrm>
                <a:off x="0" y="0"/>
                <a:ext cx="166116" cy="166116"/>
              </a:xfrm>
              <a:custGeom>
                <a:avLst/>
                <a:gdLst/>
                <a:ahLst/>
                <a:cxnLst/>
                <a:rect l="l" t="t" r="r" b="b"/>
                <a:pathLst>
                  <a:path w="166116" h="166116">
                    <a:moveTo>
                      <a:pt x="0" y="83058"/>
                    </a:moveTo>
                    <a:cubicBezTo>
                      <a:pt x="0" y="37211"/>
                      <a:pt x="37211" y="0"/>
                      <a:pt x="83058" y="0"/>
                    </a:cubicBezTo>
                    <a:lnTo>
                      <a:pt x="83058" y="9525"/>
                    </a:lnTo>
                    <a:lnTo>
                      <a:pt x="83058" y="0"/>
                    </a:lnTo>
                    <a:cubicBezTo>
                      <a:pt x="128905" y="0"/>
                      <a:pt x="166116" y="37211"/>
                      <a:pt x="166116" y="83058"/>
                    </a:cubicBezTo>
                    <a:lnTo>
                      <a:pt x="156591" y="83058"/>
                    </a:lnTo>
                    <a:lnTo>
                      <a:pt x="166116" y="83058"/>
                    </a:lnTo>
                    <a:cubicBezTo>
                      <a:pt x="166116" y="128905"/>
                      <a:pt x="128905" y="166116"/>
                      <a:pt x="83058" y="166116"/>
                    </a:cubicBezTo>
                    <a:lnTo>
                      <a:pt x="83058" y="156591"/>
                    </a:lnTo>
                    <a:lnTo>
                      <a:pt x="83058" y="166116"/>
                    </a:lnTo>
                    <a:cubicBezTo>
                      <a:pt x="37211" y="166243"/>
                      <a:pt x="0" y="129032"/>
                      <a:pt x="0" y="83058"/>
                    </a:cubicBezTo>
                    <a:lnTo>
                      <a:pt x="9525" y="83058"/>
                    </a:lnTo>
                    <a:lnTo>
                      <a:pt x="19050" y="83058"/>
                    </a:lnTo>
                    <a:lnTo>
                      <a:pt x="9525" y="83058"/>
                    </a:lnTo>
                    <a:lnTo>
                      <a:pt x="0" y="83058"/>
                    </a:lnTo>
                    <a:moveTo>
                      <a:pt x="19050" y="83058"/>
                    </a:moveTo>
                    <a:cubicBezTo>
                      <a:pt x="19050" y="88265"/>
                      <a:pt x="14732" y="92583"/>
                      <a:pt x="9525" y="92583"/>
                    </a:cubicBezTo>
                    <a:cubicBezTo>
                      <a:pt x="4318" y="92583"/>
                      <a:pt x="0" y="88392"/>
                      <a:pt x="0" y="83058"/>
                    </a:cubicBezTo>
                    <a:cubicBezTo>
                      <a:pt x="0" y="77724"/>
                      <a:pt x="4318" y="73533"/>
                      <a:pt x="9525" y="73533"/>
                    </a:cubicBezTo>
                    <a:cubicBezTo>
                      <a:pt x="14732" y="73533"/>
                      <a:pt x="19050" y="77851"/>
                      <a:pt x="19050" y="83058"/>
                    </a:cubicBezTo>
                    <a:cubicBezTo>
                      <a:pt x="19050" y="118491"/>
                      <a:pt x="47752" y="147066"/>
                      <a:pt x="83058" y="147066"/>
                    </a:cubicBezTo>
                    <a:cubicBezTo>
                      <a:pt x="118364" y="147066"/>
                      <a:pt x="147066" y="118364"/>
                      <a:pt x="147066" y="83058"/>
                    </a:cubicBezTo>
                    <a:cubicBezTo>
                      <a:pt x="147066" y="47752"/>
                      <a:pt x="118491" y="19050"/>
                      <a:pt x="83058" y="19050"/>
                    </a:cubicBezTo>
                    <a:lnTo>
                      <a:pt x="83058" y="9525"/>
                    </a:lnTo>
                    <a:lnTo>
                      <a:pt x="83058" y="19050"/>
                    </a:lnTo>
                    <a:cubicBezTo>
                      <a:pt x="47752" y="19050"/>
                      <a:pt x="19050" y="47752"/>
                      <a:pt x="19050" y="83058"/>
                    </a:cubicBezTo>
                    <a:close/>
                  </a:path>
                </a:pathLst>
              </a:custGeom>
              <a:solidFill>
                <a:srgbClr val="FFFFFF"/>
              </a:solidFill>
              <a:ln>
                <a:solidFill>
                  <a:schemeClr val="accent6"/>
                </a:solidFill>
              </a:ln>
            </p:spPr>
          </p:sp>
        </p:grpSp>
        <p:grpSp>
          <p:nvGrpSpPr>
            <p:cNvPr id="34" name="Group 34"/>
            <p:cNvGrpSpPr/>
            <p:nvPr/>
          </p:nvGrpSpPr>
          <p:grpSpPr>
            <a:xfrm>
              <a:off x="13424" y="11116"/>
              <a:ext cx="192" cy="195"/>
              <a:chOff x="0" y="0"/>
              <a:chExt cx="162560" cy="164998"/>
            </a:xfrm>
          </p:grpSpPr>
          <p:sp>
            <p:nvSpPr>
              <p:cNvPr id="35" name="Freeform 35"/>
              <p:cNvSpPr/>
              <p:nvPr/>
            </p:nvSpPr>
            <p:spPr>
              <a:xfrm>
                <a:off x="9525" y="9525"/>
                <a:ext cx="143510" cy="146050"/>
              </a:xfrm>
              <a:custGeom>
                <a:avLst/>
                <a:gdLst/>
                <a:ahLst/>
                <a:cxnLst/>
                <a:rect l="l" t="t" r="r" b="b"/>
                <a:pathLst>
                  <a:path w="143510" h="146050">
                    <a:moveTo>
                      <a:pt x="0" y="73025"/>
                    </a:moveTo>
                    <a:cubicBezTo>
                      <a:pt x="0" y="32639"/>
                      <a:pt x="32131" y="0"/>
                      <a:pt x="71755" y="0"/>
                    </a:cubicBezTo>
                    <a:cubicBezTo>
                      <a:pt x="111379" y="0"/>
                      <a:pt x="143510" y="32639"/>
                      <a:pt x="143510" y="73025"/>
                    </a:cubicBezTo>
                    <a:cubicBezTo>
                      <a:pt x="143510" y="113411"/>
                      <a:pt x="111379" y="146050"/>
                      <a:pt x="71755" y="146050"/>
                    </a:cubicBezTo>
                    <a:cubicBezTo>
                      <a:pt x="32131" y="146050"/>
                      <a:pt x="0" y="113284"/>
                      <a:pt x="0" y="73025"/>
                    </a:cubicBezTo>
                    <a:close/>
                  </a:path>
                </a:pathLst>
              </a:custGeom>
              <a:solidFill>
                <a:srgbClr val="000000"/>
              </a:solidFill>
            </p:spPr>
          </p:sp>
          <p:sp>
            <p:nvSpPr>
              <p:cNvPr id="36" name="Freeform 36"/>
              <p:cNvSpPr/>
              <p:nvPr/>
            </p:nvSpPr>
            <p:spPr>
              <a:xfrm>
                <a:off x="0" y="0"/>
                <a:ext cx="162560" cy="165100"/>
              </a:xfrm>
              <a:custGeom>
                <a:avLst/>
                <a:gdLst/>
                <a:ahLst/>
                <a:cxnLst/>
                <a:rect l="l" t="t" r="r" b="b"/>
                <a:pathLst>
                  <a:path w="162560" h="165100">
                    <a:moveTo>
                      <a:pt x="0" y="82550"/>
                    </a:moveTo>
                    <a:cubicBezTo>
                      <a:pt x="0" y="37084"/>
                      <a:pt x="36195" y="0"/>
                      <a:pt x="81280" y="0"/>
                    </a:cubicBezTo>
                    <a:lnTo>
                      <a:pt x="81280" y="9525"/>
                    </a:lnTo>
                    <a:lnTo>
                      <a:pt x="81280" y="0"/>
                    </a:lnTo>
                    <a:cubicBezTo>
                      <a:pt x="126365" y="0"/>
                      <a:pt x="162560" y="37084"/>
                      <a:pt x="162560" y="82550"/>
                    </a:cubicBezTo>
                    <a:lnTo>
                      <a:pt x="153035" y="82550"/>
                    </a:lnTo>
                    <a:lnTo>
                      <a:pt x="162560" y="82550"/>
                    </a:lnTo>
                    <a:cubicBezTo>
                      <a:pt x="162560" y="128016"/>
                      <a:pt x="126365" y="165100"/>
                      <a:pt x="81280" y="165100"/>
                    </a:cubicBezTo>
                    <a:lnTo>
                      <a:pt x="81280" y="155575"/>
                    </a:lnTo>
                    <a:lnTo>
                      <a:pt x="81280" y="165100"/>
                    </a:lnTo>
                    <a:cubicBezTo>
                      <a:pt x="36195" y="164973"/>
                      <a:pt x="0" y="127889"/>
                      <a:pt x="0" y="82550"/>
                    </a:cubicBezTo>
                    <a:lnTo>
                      <a:pt x="9525" y="82550"/>
                    </a:lnTo>
                    <a:lnTo>
                      <a:pt x="19050" y="82550"/>
                    </a:lnTo>
                    <a:lnTo>
                      <a:pt x="9525" y="82550"/>
                    </a:lnTo>
                    <a:lnTo>
                      <a:pt x="0" y="82550"/>
                    </a:lnTo>
                    <a:moveTo>
                      <a:pt x="19050" y="82550"/>
                    </a:moveTo>
                    <a:cubicBezTo>
                      <a:pt x="19050" y="87757"/>
                      <a:pt x="14732" y="92075"/>
                      <a:pt x="9525" y="92075"/>
                    </a:cubicBezTo>
                    <a:cubicBezTo>
                      <a:pt x="4318" y="92075"/>
                      <a:pt x="0" y="87757"/>
                      <a:pt x="0" y="82550"/>
                    </a:cubicBezTo>
                    <a:cubicBezTo>
                      <a:pt x="0" y="77343"/>
                      <a:pt x="4318" y="73025"/>
                      <a:pt x="9525" y="73025"/>
                    </a:cubicBezTo>
                    <a:cubicBezTo>
                      <a:pt x="14732" y="73025"/>
                      <a:pt x="19050" y="77343"/>
                      <a:pt x="19050" y="82550"/>
                    </a:cubicBezTo>
                    <a:cubicBezTo>
                      <a:pt x="19050" y="117729"/>
                      <a:pt x="47117" y="146050"/>
                      <a:pt x="81280" y="146050"/>
                    </a:cubicBezTo>
                    <a:cubicBezTo>
                      <a:pt x="115443" y="146050"/>
                      <a:pt x="143510" y="117856"/>
                      <a:pt x="143510" y="82550"/>
                    </a:cubicBezTo>
                    <a:cubicBezTo>
                      <a:pt x="143510" y="47244"/>
                      <a:pt x="115443" y="19050"/>
                      <a:pt x="81280" y="19050"/>
                    </a:cubicBezTo>
                    <a:lnTo>
                      <a:pt x="81280" y="9525"/>
                    </a:lnTo>
                    <a:lnTo>
                      <a:pt x="81280" y="19050"/>
                    </a:lnTo>
                    <a:cubicBezTo>
                      <a:pt x="47117" y="19050"/>
                      <a:pt x="19050" y="47244"/>
                      <a:pt x="19050" y="82550"/>
                    </a:cubicBezTo>
                    <a:close/>
                  </a:path>
                </a:pathLst>
              </a:custGeom>
              <a:solidFill>
                <a:srgbClr val="FFFFFF"/>
              </a:solidFill>
            </p:spPr>
          </p:sp>
        </p:grpSp>
        <p:grpSp>
          <p:nvGrpSpPr>
            <p:cNvPr id="37" name="Group 37"/>
            <p:cNvGrpSpPr/>
            <p:nvPr/>
          </p:nvGrpSpPr>
          <p:grpSpPr>
            <a:xfrm>
              <a:off x="13182" y="11166"/>
              <a:ext cx="196" cy="196"/>
              <a:chOff x="0" y="0"/>
              <a:chExt cx="166218" cy="166218"/>
            </a:xfrm>
          </p:grpSpPr>
          <p:sp>
            <p:nvSpPr>
              <p:cNvPr id="38" name="Freeform 38"/>
              <p:cNvSpPr/>
              <p:nvPr/>
            </p:nvSpPr>
            <p:spPr>
              <a:xfrm>
                <a:off x="0" y="0"/>
                <a:ext cx="166116" cy="166116"/>
              </a:xfrm>
              <a:custGeom>
                <a:avLst/>
                <a:gdLst/>
                <a:ahLst/>
                <a:cxnLst/>
                <a:rect l="l" t="t" r="r" b="b"/>
                <a:pathLst>
                  <a:path w="166116" h="166116">
                    <a:moveTo>
                      <a:pt x="0" y="83058"/>
                    </a:moveTo>
                    <a:cubicBezTo>
                      <a:pt x="0" y="37211"/>
                      <a:pt x="37211" y="0"/>
                      <a:pt x="83058" y="0"/>
                    </a:cubicBezTo>
                    <a:lnTo>
                      <a:pt x="83058" y="9525"/>
                    </a:lnTo>
                    <a:lnTo>
                      <a:pt x="83058" y="0"/>
                    </a:lnTo>
                    <a:cubicBezTo>
                      <a:pt x="128905" y="0"/>
                      <a:pt x="166116" y="37211"/>
                      <a:pt x="166116" y="83058"/>
                    </a:cubicBezTo>
                    <a:lnTo>
                      <a:pt x="156591" y="83058"/>
                    </a:lnTo>
                    <a:lnTo>
                      <a:pt x="166116" y="83058"/>
                    </a:lnTo>
                    <a:cubicBezTo>
                      <a:pt x="166116" y="128905"/>
                      <a:pt x="128905" y="166116"/>
                      <a:pt x="83058" y="166116"/>
                    </a:cubicBezTo>
                    <a:lnTo>
                      <a:pt x="83058" y="156591"/>
                    </a:lnTo>
                    <a:lnTo>
                      <a:pt x="83058" y="166116"/>
                    </a:lnTo>
                    <a:cubicBezTo>
                      <a:pt x="37211" y="166243"/>
                      <a:pt x="0" y="129032"/>
                      <a:pt x="0" y="83058"/>
                    </a:cubicBezTo>
                    <a:lnTo>
                      <a:pt x="9525" y="83058"/>
                    </a:lnTo>
                    <a:lnTo>
                      <a:pt x="19050" y="83058"/>
                    </a:lnTo>
                    <a:lnTo>
                      <a:pt x="9525" y="83058"/>
                    </a:lnTo>
                    <a:lnTo>
                      <a:pt x="0" y="83058"/>
                    </a:lnTo>
                    <a:moveTo>
                      <a:pt x="19050" y="83058"/>
                    </a:moveTo>
                    <a:cubicBezTo>
                      <a:pt x="19050" y="88265"/>
                      <a:pt x="14732" y="92583"/>
                      <a:pt x="9525" y="92583"/>
                    </a:cubicBezTo>
                    <a:cubicBezTo>
                      <a:pt x="4318" y="92583"/>
                      <a:pt x="0" y="88392"/>
                      <a:pt x="0" y="83058"/>
                    </a:cubicBezTo>
                    <a:cubicBezTo>
                      <a:pt x="0" y="77724"/>
                      <a:pt x="4318" y="73533"/>
                      <a:pt x="9525" y="73533"/>
                    </a:cubicBezTo>
                    <a:cubicBezTo>
                      <a:pt x="14732" y="73533"/>
                      <a:pt x="19050" y="77851"/>
                      <a:pt x="19050" y="83058"/>
                    </a:cubicBezTo>
                    <a:cubicBezTo>
                      <a:pt x="19050" y="118491"/>
                      <a:pt x="47752" y="147066"/>
                      <a:pt x="83058" y="147066"/>
                    </a:cubicBezTo>
                    <a:cubicBezTo>
                      <a:pt x="118364" y="147066"/>
                      <a:pt x="147066" y="118364"/>
                      <a:pt x="147066" y="83058"/>
                    </a:cubicBezTo>
                    <a:cubicBezTo>
                      <a:pt x="147066" y="47752"/>
                      <a:pt x="118491" y="19050"/>
                      <a:pt x="83058" y="19050"/>
                    </a:cubicBezTo>
                    <a:lnTo>
                      <a:pt x="83058" y="9525"/>
                    </a:lnTo>
                    <a:lnTo>
                      <a:pt x="83058" y="19050"/>
                    </a:lnTo>
                    <a:cubicBezTo>
                      <a:pt x="47752" y="19050"/>
                      <a:pt x="19050" y="47752"/>
                      <a:pt x="19050" y="83058"/>
                    </a:cubicBezTo>
                    <a:close/>
                  </a:path>
                </a:pathLst>
              </a:custGeom>
              <a:solidFill>
                <a:srgbClr val="FFFFFF"/>
              </a:solidFill>
              <a:ln>
                <a:solidFill>
                  <a:schemeClr val="bg1">
                    <a:lumMod val="65000"/>
                  </a:schemeClr>
                </a:solidFill>
              </a:ln>
            </p:spPr>
          </p:sp>
        </p:grpSp>
      </p:grpSp>
      <p:sp>
        <p:nvSpPr>
          <p:cNvPr id="4" name="文本框 3"/>
          <p:cNvSpPr txBox="1"/>
          <p:nvPr/>
        </p:nvSpPr>
        <p:spPr>
          <a:xfrm>
            <a:off x="1064895" y="1943100"/>
            <a:ext cx="9144000" cy="829945"/>
          </a:xfrm>
          <a:prstGeom prst="rect">
            <a:avLst/>
          </a:prstGeom>
          <a:noFill/>
        </p:spPr>
        <p:txBody>
          <a:bodyPr wrap="square" rtlCol="0" anchor="t">
            <a:spAutoFit/>
          </a:bodyPr>
          <a:lstStyle/>
          <a:p>
            <a:pPr algn="l">
              <a:lnSpc>
                <a:spcPct val="100000"/>
              </a:lnSpc>
              <a:buClrTx/>
              <a:buSzTx/>
              <a:buFontTx/>
            </a:pPr>
            <a:r>
              <a:rPr lang="en-US" altLang="zh-CN" sz="4800" b="1" dirty="0">
                <a:solidFill>
                  <a:schemeClr val="tx1"/>
                </a:solidFill>
                <a:latin typeface="Times New Roman" panose="02020603050405020304" pitchFamily="18" charset="0"/>
                <a:cs typeface="Times New Roman" panose="02020603050405020304" pitchFamily="18" charset="0"/>
                <a:sym typeface="Arimo" panose="020B0604020202020204"/>
              </a:rPr>
              <a:t>The Profound Lessons of history</a:t>
            </a:r>
          </a:p>
        </p:txBody>
      </p:sp>
      <p:sp>
        <p:nvSpPr>
          <p:cNvPr id="8" name="TextBox 22"/>
          <p:cNvSpPr txBox="1"/>
          <p:nvPr/>
        </p:nvSpPr>
        <p:spPr>
          <a:xfrm>
            <a:off x="6424295" y="6819900"/>
            <a:ext cx="10401300" cy="1477010"/>
          </a:xfrm>
          <a:prstGeom prst="rect">
            <a:avLst/>
          </a:prstGeom>
        </p:spPr>
        <p:txBody>
          <a:bodyPr wrap="square" lIns="0" tIns="0" rIns="0" bIns="0" rtlCol="0" anchor="t">
            <a:spAutoFit/>
          </a:bodyPr>
          <a:lstStyle/>
          <a:p>
            <a:pPr>
              <a:lnSpc>
                <a:spcPts val="2880"/>
              </a:lnSpc>
            </a:pPr>
            <a:r>
              <a:rPr lang="en-US" sz="24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Behind the short-term economic benefits lies the disruption of the ecological and cultural system in the colonial areas, as well as the breakdown of the global ecological chain. Eventually, this will have a negative impact on the sustainable development of industrial civillization itselt.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4E2"/>
        </a:solidFill>
        <a:effectLst/>
      </p:bgPr>
    </p:bg>
    <p:spTree>
      <p:nvGrpSpPr>
        <p:cNvPr id="1" name=""/>
        <p:cNvGrpSpPr/>
        <p:nvPr/>
      </p:nvGrpSpPr>
      <p:grpSpPr>
        <a:xfrm>
          <a:off x="0" y="0"/>
          <a:ext cx="0" cy="0"/>
          <a:chOff x="0" y="0"/>
          <a:chExt cx="0" cy="0"/>
        </a:xfrm>
      </p:grpSpPr>
      <p:grpSp>
        <p:nvGrpSpPr>
          <p:cNvPr id="2" name="Group 2"/>
          <p:cNvGrpSpPr/>
          <p:nvPr/>
        </p:nvGrpSpPr>
        <p:grpSpPr>
          <a:xfrm>
            <a:off x="29" y="3886219"/>
            <a:ext cx="18287971" cy="10286981"/>
            <a:chOff x="0" y="0"/>
            <a:chExt cx="24383962" cy="13715975"/>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55000"/>
              </a:blip>
              <a:stretch>
                <a:fillRect r="-75"/>
              </a:stretch>
            </a:blipFill>
            <a:effectLst>
              <a:softEdge rad="31750"/>
            </a:effectLst>
          </p:spPr>
        </p:sp>
      </p:grpSp>
      <p:grpSp>
        <p:nvGrpSpPr>
          <p:cNvPr id="12" name="Group 12"/>
          <p:cNvGrpSpPr/>
          <p:nvPr/>
        </p:nvGrpSpPr>
        <p:grpSpPr>
          <a:xfrm>
            <a:off x="14401796" y="1486171"/>
            <a:ext cx="1494223" cy="582671"/>
            <a:chOff x="10357163" y="-620415"/>
            <a:chExt cx="1992297" cy="776894"/>
          </a:xfrm>
        </p:grpSpPr>
        <p:sp>
          <p:nvSpPr>
            <p:cNvPr id="13" name="Freeform 13"/>
            <p:cNvSpPr/>
            <p:nvPr/>
          </p:nvSpPr>
          <p:spPr>
            <a:xfrm>
              <a:off x="10357163" y="-620415"/>
              <a:ext cx="1992297" cy="776894"/>
            </a:xfrm>
            <a:custGeom>
              <a:avLst/>
              <a:gdLst/>
              <a:ahLst/>
              <a:cxnLst/>
              <a:rect l="l" t="t" r="r" b="b"/>
              <a:pathLst>
                <a:path w="1992297" h="776894">
                  <a:moveTo>
                    <a:pt x="477800" y="590994"/>
                  </a:moveTo>
                  <a:cubicBezTo>
                    <a:pt x="469037" y="590994"/>
                    <a:pt x="349149" y="544258"/>
                    <a:pt x="349149" y="443547"/>
                  </a:cubicBezTo>
                  <a:cubicBezTo>
                    <a:pt x="349149" y="342328"/>
                    <a:pt x="489865" y="318579"/>
                    <a:pt x="523901" y="389064"/>
                  </a:cubicBezTo>
                  <a:cubicBezTo>
                    <a:pt x="547015" y="464502"/>
                    <a:pt x="470053" y="486473"/>
                    <a:pt x="451892" y="466661"/>
                  </a:cubicBezTo>
                  <a:cubicBezTo>
                    <a:pt x="434874" y="447357"/>
                    <a:pt x="428778" y="404431"/>
                    <a:pt x="434874" y="396811"/>
                  </a:cubicBezTo>
                  <a:cubicBezTo>
                    <a:pt x="434874" y="396811"/>
                    <a:pt x="378232" y="434784"/>
                    <a:pt x="399695" y="495871"/>
                  </a:cubicBezTo>
                  <a:cubicBezTo>
                    <a:pt x="428778" y="570674"/>
                    <a:pt x="485420" y="591121"/>
                    <a:pt x="477800" y="591121"/>
                  </a:cubicBezTo>
                  <a:close/>
                  <a:moveTo>
                    <a:pt x="6757" y="375348"/>
                  </a:moveTo>
                  <a:cubicBezTo>
                    <a:pt x="16155" y="390715"/>
                    <a:pt x="16155" y="390715"/>
                    <a:pt x="16155" y="390715"/>
                  </a:cubicBezTo>
                  <a:cubicBezTo>
                    <a:pt x="16155" y="390715"/>
                    <a:pt x="-18008" y="534352"/>
                    <a:pt x="89688" y="542607"/>
                  </a:cubicBezTo>
                  <a:cubicBezTo>
                    <a:pt x="189129" y="549719"/>
                    <a:pt x="184811" y="462216"/>
                    <a:pt x="180366" y="423735"/>
                  </a:cubicBezTo>
                  <a:cubicBezTo>
                    <a:pt x="164999" y="382968"/>
                    <a:pt x="114453" y="408368"/>
                    <a:pt x="114453" y="408368"/>
                  </a:cubicBezTo>
                  <a:cubicBezTo>
                    <a:pt x="114453" y="408368"/>
                    <a:pt x="143536" y="414464"/>
                    <a:pt x="138583" y="460692"/>
                  </a:cubicBezTo>
                  <a:cubicBezTo>
                    <a:pt x="130836" y="507428"/>
                    <a:pt x="51207" y="492061"/>
                    <a:pt x="60478" y="416623"/>
                  </a:cubicBezTo>
                  <a:cubicBezTo>
                    <a:pt x="69876" y="340677"/>
                    <a:pt x="180366" y="355536"/>
                    <a:pt x="207798" y="384746"/>
                  </a:cubicBezTo>
                  <a:cubicBezTo>
                    <a:pt x="255677" y="435419"/>
                    <a:pt x="332004" y="588962"/>
                    <a:pt x="332004" y="588962"/>
                  </a:cubicBezTo>
                  <a:cubicBezTo>
                    <a:pt x="332004" y="588962"/>
                    <a:pt x="476149" y="835469"/>
                    <a:pt x="716941" y="763841"/>
                  </a:cubicBezTo>
                  <a:cubicBezTo>
                    <a:pt x="716941" y="763841"/>
                    <a:pt x="869214" y="739584"/>
                    <a:pt x="1042315" y="549719"/>
                  </a:cubicBezTo>
                  <a:cubicBezTo>
                    <a:pt x="1042315" y="549719"/>
                    <a:pt x="1245134" y="268414"/>
                    <a:pt x="1554633" y="307022"/>
                  </a:cubicBezTo>
                  <a:cubicBezTo>
                    <a:pt x="1706906" y="338899"/>
                    <a:pt x="1826794" y="421449"/>
                    <a:pt x="1992148" y="557974"/>
                  </a:cubicBezTo>
                  <a:cubicBezTo>
                    <a:pt x="1999895" y="567372"/>
                    <a:pt x="1704112" y="264604"/>
                    <a:pt x="1510056" y="264604"/>
                  </a:cubicBezTo>
                  <a:cubicBezTo>
                    <a:pt x="1235736" y="245300"/>
                    <a:pt x="931698" y="534352"/>
                    <a:pt x="931698" y="534352"/>
                  </a:cubicBezTo>
                  <a:cubicBezTo>
                    <a:pt x="931698" y="534352"/>
                    <a:pt x="757073" y="709358"/>
                    <a:pt x="631216" y="585025"/>
                  </a:cubicBezTo>
                  <a:cubicBezTo>
                    <a:pt x="542189" y="459041"/>
                    <a:pt x="638963" y="381444"/>
                    <a:pt x="638963" y="381444"/>
                  </a:cubicBezTo>
                  <a:cubicBezTo>
                    <a:pt x="638963" y="381444"/>
                    <a:pt x="703860" y="339026"/>
                    <a:pt x="757200" y="363791"/>
                  </a:cubicBezTo>
                  <a:cubicBezTo>
                    <a:pt x="798983" y="402907"/>
                    <a:pt x="771551" y="466661"/>
                    <a:pt x="728117" y="460692"/>
                  </a:cubicBezTo>
                  <a:cubicBezTo>
                    <a:pt x="688493" y="456882"/>
                    <a:pt x="679222" y="412305"/>
                    <a:pt x="679222" y="412305"/>
                  </a:cubicBezTo>
                  <a:cubicBezTo>
                    <a:pt x="679222" y="412305"/>
                    <a:pt x="654457" y="531177"/>
                    <a:pt x="754533" y="542734"/>
                  </a:cubicBezTo>
                  <a:cubicBezTo>
                    <a:pt x="848005" y="554291"/>
                    <a:pt x="894106" y="460692"/>
                    <a:pt x="886486" y="392493"/>
                  </a:cubicBezTo>
                  <a:cubicBezTo>
                    <a:pt x="886486" y="392493"/>
                    <a:pt x="1018439" y="399097"/>
                    <a:pt x="1087146" y="326961"/>
                  </a:cubicBezTo>
                  <a:cubicBezTo>
                    <a:pt x="1213003" y="227901"/>
                    <a:pt x="1360323" y="231711"/>
                    <a:pt x="1360323" y="231711"/>
                  </a:cubicBezTo>
                  <a:cubicBezTo>
                    <a:pt x="1360323" y="231711"/>
                    <a:pt x="1237514" y="211899"/>
                    <a:pt x="1113308" y="274002"/>
                  </a:cubicBezTo>
                  <a:cubicBezTo>
                    <a:pt x="989102" y="336740"/>
                    <a:pt x="910997" y="363664"/>
                    <a:pt x="847751" y="301561"/>
                  </a:cubicBezTo>
                  <a:cubicBezTo>
                    <a:pt x="810921" y="264731"/>
                    <a:pt x="827431" y="194754"/>
                    <a:pt x="827431" y="194754"/>
                  </a:cubicBezTo>
                  <a:cubicBezTo>
                    <a:pt x="827431" y="194754"/>
                    <a:pt x="858800" y="292163"/>
                    <a:pt x="924205" y="258635"/>
                  </a:cubicBezTo>
                  <a:cubicBezTo>
                    <a:pt x="990118" y="226123"/>
                    <a:pt x="978053" y="148018"/>
                    <a:pt x="947319" y="121094"/>
                  </a:cubicBezTo>
                  <a:cubicBezTo>
                    <a:pt x="919887" y="93535"/>
                    <a:pt x="798856" y="80327"/>
                    <a:pt x="766471" y="183324"/>
                  </a:cubicBezTo>
                  <a:cubicBezTo>
                    <a:pt x="766471" y="183324"/>
                    <a:pt x="749453" y="232854"/>
                    <a:pt x="754406" y="264731"/>
                  </a:cubicBezTo>
                  <a:cubicBezTo>
                    <a:pt x="754406" y="264731"/>
                    <a:pt x="634518" y="281749"/>
                    <a:pt x="597688" y="342328"/>
                  </a:cubicBezTo>
                  <a:cubicBezTo>
                    <a:pt x="597688" y="342328"/>
                    <a:pt x="526822" y="357695"/>
                    <a:pt x="526822" y="306006"/>
                  </a:cubicBezTo>
                  <a:cubicBezTo>
                    <a:pt x="526822" y="253174"/>
                    <a:pt x="565303" y="247078"/>
                    <a:pt x="590068" y="247078"/>
                  </a:cubicBezTo>
                  <a:cubicBezTo>
                    <a:pt x="617500" y="247078"/>
                    <a:pt x="729641" y="264731"/>
                    <a:pt x="729641" y="171640"/>
                  </a:cubicBezTo>
                  <a:cubicBezTo>
                    <a:pt x="729641" y="77533"/>
                    <a:pt x="613055" y="85788"/>
                    <a:pt x="588417" y="103441"/>
                  </a:cubicBezTo>
                  <a:cubicBezTo>
                    <a:pt x="588417" y="93535"/>
                    <a:pt x="556540" y="-28131"/>
                    <a:pt x="435001" y="6032"/>
                  </a:cubicBezTo>
                  <a:cubicBezTo>
                    <a:pt x="373406" y="28003"/>
                    <a:pt x="362992" y="68262"/>
                    <a:pt x="362992" y="68262"/>
                  </a:cubicBezTo>
                  <a:cubicBezTo>
                    <a:pt x="362992" y="68262"/>
                    <a:pt x="249200" y="54419"/>
                    <a:pt x="271171" y="207962"/>
                  </a:cubicBezTo>
                  <a:cubicBezTo>
                    <a:pt x="303048" y="326834"/>
                    <a:pt x="431699" y="270700"/>
                    <a:pt x="431699" y="270700"/>
                  </a:cubicBezTo>
                  <a:cubicBezTo>
                    <a:pt x="431699" y="270700"/>
                    <a:pt x="464084" y="237172"/>
                    <a:pt x="446050" y="190944"/>
                  </a:cubicBezTo>
                  <a:cubicBezTo>
                    <a:pt x="422936" y="157924"/>
                    <a:pt x="387249" y="184340"/>
                    <a:pt x="392202" y="200342"/>
                  </a:cubicBezTo>
                  <a:cubicBezTo>
                    <a:pt x="394996" y="216344"/>
                    <a:pt x="410871" y="237172"/>
                    <a:pt x="431826" y="214058"/>
                  </a:cubicBezTo>
                  <a:cubicBezTo>
                    <a:pt x="431826" y="214058"/>
                    <a:pt x="441224" y="266382"/>
                    <a:pt x="381280" y="247078"/>
                  </a:cubicBezTo>
                  <a:cubicBezTo>
                    <a:pt x="320320" y="227774"/>
                    <a:pt x="332385" y="149669"/>
                    <a:pt x="390678" y="124396"/>
                  </a:cubicBezTo>
                  <a:cubicBezTo>
                    <a:pt x="448971" y="99631"/>
                    <a:pt x="522631" y="169481"/>
                    <a:pt x="493421" y="258635"/>
                  </a:cubicBezTo>
                  <a:cubicBezTo>
                    <a:pt x="464338" y="348297"/>
                    <a:pt x="327432" y="332422"/>
                    <a:pt x="292253" y="297751"/>
                  </a:cubicBezTo>
                  <a:cubicBezTo>
                    <a:pt x="262027" y="263080"/>
                    <a:pt x="160808" y="148018"/>
                    <a:pt x="97689" y="263080"/>
                  </a:cubicBezTo>
                  <a:cubicBezTo>
                    <a:pt x="97689" y="263080"/>
                    <a:pt x="-30962" y="251015"/>
                    <a:pt x="7011" y="375348"/>
                  </a:cubicBezTo>
                  <a:close/>
                  <a:cubicBezTo>
                    <a:pt x="16409" y="390715"/>
                    <a:pt x="16409" y="390715"/>
                    <a:pt x="16409" y="390715"/>
                  </a:cubicBezTo>
                  <a:lnTo>
                    <a:pt x="7011" y="375348"/>
                  </a:lnTo>
                  <a:close/>
                </a:path>
              </a:pathLst>
            </a:custGeom>
            <a:blipFill>
              <a:blip r:embed="rId4">
                <a:alphaModFix amt="50000"/>
              </a:blip>
              <a:stretch>
                <a:fillRect l="-6125" t="-3621" r="-4944" b="-7533"/>
              </a:stretch>
            </a:blipFill>
          </p:spPr>
        </p:sp>
      </p:grpSp>
      <p:sp>
        <p:nvSpPr>
          <p:cNvPr id="17" name="文本框 16"/>
          <p:cNvSpPr txBox="1"/>
          <p:nvPr/>
        </p:nvSpPr>
        <p:spPr>
          <a:xfrm>
            <a:off x="609600" y="342900"/>
            <a:ext cx="17443450" cy="836295"/>
          </a:xfrm>
          <a:prstGeom prst="rect">
            <a:avLst/>
          </a:prstGeom>
          <a:noFill/>
        </p:spPr>
        <p:txBody>
          <a:bodyPr wrap="square" rtlCol="0">
            <a:noAutofit/>
          </a:bodyPr>
          <a:lstStyle/>
          <a:p>
            <a:r>
              <a:rPr lang="en-US" altLang="zh-CN" sz="4000" b="1" dirty="0">
                <a:solidFill>
                  <a:srgbClr val="540E04"/>
                </a:solidFill>
                <a:latin typeface="Times New Roman" panose="02020603050405020304" pitchFamily="18" charset="0"/>
                <a:cs typeface="Times New Roman" panose="02020603050405020304" pitchFamily="18" charset="0"/>
              </a:rPr>
              <a:t>Why Contemporary Globalization</a:t>
            </a:r>
            <a:endParaRPr lang="zh-CN" altLang="en-US" sz="3600" b="1" dirty="0">
              <a:solidFill>
                <a:srgbClr val="540E04"/>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1676400" y="3009900"/>
            <a:ext cx="14611350" cy="5203190"/>
          </a:xfrm>
          <a:prstGeom prst="rect">
            <a:avLst/>
          </a:prstGeom>
          <a:noFill/>
        </p:spPr>
        <p:txBody>
          <a:bodyPr wrap="square" rtlCol="0" anchor="t">
            <a:spAutoFit/>
          </a:bodyPr>
          <a:lstStyle/>
          <a:p>
            <a:pPr marL="342900" indent="-342900">
              <a:lnSpc>
                <a:spcPts val="4320"/>
              </a:lnSpc>
              <a:buFont typeface="Arial" panose="020B0604020202020204" pitchFamily="34" charset="0"/>
              <a:buChar char="•"/>
            </a:pPr>
            <a:r>
              <a:rPr lang="en-US" sz="32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Global Consciousness Awakening </a:t>
            </a:r>
          </a:p>
          <a:p>
            <a:pPr indent="0" fontAlgn="auto">
              <a:lnSpc>
                <a:spcPts val="3500"/>
              </a:lnSpc>
            </a:pP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In the contemporary era of globalization, the global environmental movement has emerged.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Taking history as a mirror</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 humanity has begun to develop an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overall ecological awareness </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and recognize that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humans and nature form a community with a shared future</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 </a:t>
            </a:r>
          </a:p>
          <a:p>
            <a:pPr marL="342900" indent="-342900" fontAlgn="auto">
              <a:lnSpc>
                <a:spcPts val="4320"/>
              </a:lnSpc>
              <a:spcBef>
                <a:spcPts val="2400"/>
              </a:spcBef>
              <a:buFont typeface="Arial" panose="020B0604020202020204" pitchFamily="34" charset="0"/>
              <a:buChar char="•"/>
            </a:pPr>
            <a:r>
              <a:rPr lang="en-US" sz="3200" b="1"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Sustainable Development Concept</a:t>
            </a:r>
          </a:p>
          <a:p>
            <a:pPr indent="0" fontAlgn="auto">
              <a:lnSpc>
                <a:spcPts val="3500"/>
              </a:lnSpc>
            </a:pP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As the ecological crisis has become a common challenge for humanity, the international community has started to advocate the concept of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sustainable development</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 which emphasizes the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harmonious coexistence of humans and nature</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 This social demand has propelled the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ecological historical view </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from the academic periphery to the </a:t>
            </a:r>
            <a:r>
              <a:rPr lang="en-US" sz="2400" b="1"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center</a:t>
            </a:r>
            <a:r>
              <a:rPr lang="en-US" sz="2400" dirty="0">
                <a:solidFill>
                  <a:schemeClr val="tx1">
                    <a:lumMod val="75000"/>
                    <a:lumOff val="25000"/>
                  </a:schemeClr>
                </a:solidFill>
                <a:latin typeface="Times New Roman" panose="02020603050405020304" pitchFamily="18" charset="0"/>
                <a:ea typeface="Arimo" panose="020B0604020202020204"/>
                <a:cs typeface="Times New Roman" panose="02020603050405020304" pitchFamily="18" charset="0"/>
                <a:sym typeface="Arimo" panose="020B0604020202020204"/>
              </a:rPr>
              <a:t>, making it an important theoretical tool to address contemporary issues.</a:t>
            </a:r>
          </a:p>
          <a:p>
            <a:pPr>
              <a:lnSpc>
                <a:spcPts val="4320"/>
              </a:lnSpc>
            </a:pPr>
            <a:r>
              <a:rPr lang="en-US" sz="24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a:t>
            </a:r>
            <a:endParaRPr lang="en-US" altLang="en-US" sz="24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p:txBody>
      </p:sp>
      <p:grpSp>
        <p:nvGrpSpPr>
          <p:cNvPr id="10" name="Group 10"/>
          <p:cNvGrpSpPr/>
          <p:nvPr/>
        </p:nvGrpSpPr>
        <p:grpSpPr>
          <a:xfrm>
            <a:off x="-388490" y="4048947"/>
            <a:ext cx="2005508" cy="852630"/>
            <a:chOff x="0" y="0"/>
            <a:chExt cx="2674010" cy="1136840"/>
          </a:xfrm>
        </p:grpSpPr>
        <p:sp>
          <p:nvSpPr>
            <p:cNvPr id="11" name="Freeform 11"/>
            <p:cNvSpPr/>
            <p:nvPr/>
          </p:nvSpPr>
          <p:spPr>
            <a:xfrm flipH="1">
              <a:off x="9965" y="36768"/>
              <a:ext cx="2623188" cy="1023025"/>
            </a:xfrm>
            <a:custGeom>
              <a:avLst/>
              <a:gdLst/>
              <a:ahLst/>
              <a:cxnLst/>
              <a:rect l="l" t="t" r="r" b="b"/>
              <a:pathLst>
                <a:path w="2623188" h="1023025">
                  <a:moveTo>
                    <a:pt x="629221" y="778318"/>
                  </a:moveTo>
                  <a:cubicBezTo>
                    <a:pt x="617664" y="778318"/>
                    <a:pt x="459930" y="716723"/>
                    <a:pt x="459930" y="584135"/>
                  </a:cubicBezTo>
                  <a:cubicBezTo>
                    <a:pt x="459930" y="450785"/>
                    <a:pt x="645223" y="419670"/>
                    <a:pt x="690054" y="512380"/>
                  </a:cubicBezTo>
                  <a:cubicBezTo>
                    <a:pt x="720407" y="611694"/>
                    <a:pt x="619188" y="640650"/>
                    <a:pt x="595312" y="614488"/>
                  </a:cubicBezTo>
                  <a:cubicBezTo>
                    <a:pt x="572833" y="589088"/>
                    <a:pt x="564959" y="532573"/>
                    <a:pt x="572833" y="522413"/>
                  </a:cubicBezTo>
                  <a:cubicBezTo>
                    <a:pt x="572833" y="522413"/>
                    <a:pt x="498284" y="572451"/>
                    <a:pt x="526478" y="652842"/>
                  </a:cubicBezTo>
                  <a:cubicBezTo>
                    <a:pt x="564832" y="751394"/>
                    <a:pt x="639381" y="778191"/>
                    <a:pt x="629221" y="778191"/>
                  </a:cubicBezTo>
                  <a:close/>
                  <a:moveTo>
                    <a:pt x="9080" y="494219"/>
                  </a:moveTo>
                  <a:cubicBezTo>
                    <a:pt x="21399" y="514539"/>
                    <a:pt x="21399" y="514539"/>
                    <a:pt x="21399" y="514539"/>
                  </a:cubicBezTo>
                  <a:cubicBezTo>
                    <a:pt x="21399" y="514539"/>
                    <a:pt x="-23432" y="703642"/>
                    <a:pt x="118427" y="714564"/>
                  </a:cubicBezTo>
                  <a:cubicBezTo>
                    <a:pt x="249364" y="723962"/>
                    <a:pt x="243649" y="608773"/>
                    <a:pt x="237807" y="558100"/>
                  </a:cubicBezTo>
                  <a:cubicBezTo>
                    <a:pt x="217487" y="504506"/>
                    <a:pt x="150939" y="537780"/>
                    <a:pt x="150939" y="537780"/>
                  </a:cubicBezTo>
                  <a:cubicBezTo>
                    <a:pt x="150939" y="537780"/>
                    <a:pt x="189293" y="545781"/>
                    <a:pt x="182816" y="606614"/>
                  </a:cubicBezTo>
                  <a:cubicBezTo>
                    <a:pt x="172656" y="668209"/>
                    <a:pt x="67754" y="647889"/>
                    <a:pt x="80073" y="548702"/>
                  </a:cubicBezTo>
                  <a:cubicBezTo>
                    <a:pt x="92392" y="448753"/>
                    <a:pt x="237807" y="468311"/>
                    <a:pt x="274002" y="506665"/>
                  </a:cubicBezTo>
                  <a:cubicBezTo>
                    <a:pt x="336994" y="573340"/>
                    <a:pt x="437578" y="775524"/>
                    <a:pt x="437578" y="775524"/>
                  </a:cubicBezTo>
                  <a:cubicBezTo>
                    <a:pt x="437578" y="775524"/>
                    <a:pt x="627062" y="1100009"/>
                    <a:pt x="944054" y="1005902"/>
                  </a:cubicBezTo>
                  <a:cubicBezTo>
                    <a:pt x="944054" y="1005902"/>
                    <a:pt x="1144460" y="974025"/>
                    <a:pt x="1372425" y="724089"/>
                  </a:cubicBezTo>
                  <a:cubicBezTo>
                    <a:pt x="1372425" y="724089"/>
                    <a:pt x="1639506" y="353884"/>
                    <a:pt x="2046922" y="404557"/>
                  </a:cubicBezTo>
                  <a:cubicBezTo>
                    <a:pt x="2247455" y="446467"/>
                    <a:pt x="2405189" y="555179"/>
                    <a:pt x="2622994" y="734884"/>
                  </a:cubicBezTo>
                  <a:cubicBezTo>
                    <a:pt x="2633154" y="747203"/>
                    <a:pt x="2243772" y="348677"/>
                    <a:pt x="1988375" y="348677"/>
                  </a:cubicBezTo>
                  <a:cubicBezTo>
                    <a:pt x="1627314" y="323277"/>
                    <a:pt x="1227010" y="703769"/>
                    <a:pt x="1227010" y="703769"/>
                  </a:cubicBezTo>
                  <a:cubicBezTo>
                    <a:pt x="1227010" y="703769"/>
                    <a:pt x="996886" y="934147"/>
                    <a:pt x="831151" y="770444"/>
                  </a:cubicBezTo>
                  <a:cubicBezTo>
                    <a:pt x="713930" y="604582"/>
                    <a:pt x="841311" y="502347"/>
                    <a:pt x="841311" y="502347"/>
                  </a:cubicBezTo>
                  <a:cubicBezTo>
                    <a:pt x="841311" y="502347"/>
                    <a:pt x="926654" y="446594"/>
                    <a:pt x="996886" y="479106"/>
                  </a:cubicBezTo>
                  <a:cubicBezTo>
                    <a:pt x="1051877" y="530541"/>
                    <a:pt x="1015682" y="614615"/>
                    <a:pt x="958532" y="606614"/>
                  </a:cubicBezTo>
                  <a:cubicBezTo>
                    <a:pt x="906462" y="601534"/>
                    <a:pt x="894143" y="542860"/>
                    <a:pt x="894143" y="542860"/>
                  </a:cubicBezTo>
                  <a:cubicBezTo>
                    <a:pt x="894143" y="542860"/>
                    <a:pt x="861631" y="699324"/>
                    <a:pt x="993329" y="714564"/>
                  </a:cubicBezTo>
                  <a:cubicBezTo>
                    <a:pt x="1116393" y="729804"/>
                    <a:pt x="1177099" y="606614"/>
                    <a:pt x="1167066" y="516698"/>
                  </a:cubicBezTo>
                  <a:cubicBezTo>
                    <a:pt x="1167066" y="516698"/>
                    <a:pt x="1340802" y="525334"/>
                    <a:pt x="1431226" y="430465"/>
                  </a:cubicBezTo>
                  <a:cubicBezTo>
                    <a:pt x="1596961" y="300036"/>
                    <a:pt x="1790890" y="305116"/>
                    <a:pt x="1790890" y="305116"/>
                  </a:cubicBezTo>
                  <a:cubicBezTo>
                    <a:pt x="1790890" y="305116"/>
                    <a:pt x="1629473" y="279081"/>
                    <a:pt x="1465897" y="360869"/>
                  </a:cubicBezTo>
                  <a:cubicBezTo>
                    <a:pt x="1302321" y="443419"/>
                    <a:pt x="1199578" y="478979"/>
                    <a:pt x="1116393" y="397064"/>
                  </a:cubicBezTo>
                  <a:cubicBezTo>
                    <a:pt x="1067879" y="348550"/>
                    <a:pt x="1089596" y="256475"/>
                    <a:pt x="1089596" y="256475"/>
                  </a:cubicBezTo>
                  <a:cubicBezTo>
                    <a:pt x="1089596" y="256475"/>
                    <a:pt x="1130871" y="384745"/>
                    <a:pt x="1216977" y="340549"/>
                  </a:cubicBezTo>
                  <a:cubicBezTo>
                    <a:pt x="1303845" y="297750"/>
                    <a:pt x="1287843" y="194880"/>
                    <a:pt x="1247330" y="159447"/>
                  </a:cubicBezTo>
                  <a:cubicBezTo>
                    <a:pt x="1211135" y="123252"/>
                    <a:pt x="1051877" y="105853"/>
                    <a:pt x="1009205" y="241362"/>
                  </a:cubicBezTo>
                  <a:cubicBezTo>
                    <a:pt x="1009205" y="241362"/>
                    <a:pt x="986726" y="306513"/>
                    <a:pt x="993329" y="348550"/>
                  </a:cubicBezTo>
                  <a:cubicBezTo>
                    <a:pt x="993329" y="348550"/>
                    <a:pt x="835596" y="371029"/>
                    <a:pt x="787082" y="450658"/>
                  </a:cubicBezTo>
                  <a:cubicBezTo>
                    <a:pt x="787082" y="450658"/>
                    <a:pt x="693737" y="470978"/>
                    <a:pt x="693737" y="402779"/>
                  </a:cubicBezTo>
                  <a:cubicBezTo>
                    <a:pt x="693737" y="333183"/>
                    <a:pt x="744410" y="325309"/>
                    <a:pt x="776922" y="325309"/>
                  </a:cubicBezTo>
                  <a:cubicBezTo>
                    <a:pt x="813117" y="325309"/>
                    <a:pt x="960691" y="348550"/>
                    <a:pt x="960691" y="225995"/>
                  </a:cubicBezTo>
                  <a:cubicBezTo>
                    <a:pt x="960691" y="102043"/>
                    <a:pt x="807275" y="112965"/>
                    <a:pt x="774763" y="136206"/>
                  </a:cubicBezTo>
                  <a:cubicBezTo>
                    <a:pt x="774763" y="123125"/>
                    <a:pt x="732726" y="-37022"/>
                    <a:pt x="572833" y="7936"/>
                  </a:cubicBezTo>
                  <a:cubicBezTo>
                    <a:pt x="491807" y="36892"/>
                    <a:pt x="478091" y="89851"/>
                    <a:pt x="478091" y="89851"/>
                  </a:cubicBezTo>
                  <a:cubicBezTo>
                    <a:pt x="478091" y="89851"/>
                    <a:pt x="328231" y="71690"/>
                    <a:pt x="357187" y="273874"/>
                  </a:cubicBezTo>
                  <a:cubicBezTo>
                    <a:pt x="399223" y="430338"/>
                    <a:pt x="568515" y="356424"/>
                    <a:pt x="568515" y="356424"/>
                  </a:cubicBezTo>
                  <a:cubicBezTo>
                    <a:pt x="568515" y="356424"/>
                    <a:pt x="611187" y="312228"/>
                    <a:pt x="587310" y="251395"/>
                  </a:cubicBezTo>
                  <a:cubicBezTo>
                    <a:pt x="556957" y="207961"/>
                    <a:pt x="509841" y="242759"/>
                    <a:pt x="516445" y="263714"/>
                  </a:cubicBezTo>
                  <a:cubicBezTo>
                    <a:pt x="520001" y="284669"/>
                    <a:pt x="541082" y="312228"/>
                    <a:pt x="568515" y="281875"/>
                  </a:cubicBezTo>
                  <a:cubicBezTo>
                    <a:pt x="568515" y="281875"/>
                    <a:pt x="580834" y="350709"/>
                    <a:pt x="501967" y="325309"/>
                  </a:cubicBezTo>
                  <a:cubicBezTo>
                    <a:pt x="421576" y="299909"/>
                    <a:pt x="437578" y="197039"/>
                    <a:pt x="514285" y="163765"/>
                  </a:cubicBezTo>
                  <a:cubicBezTo>
                    <a:pt x="590994" y="131126"/>
                    <a:pt x="688022" y="223201"/>
                    <a:pt x="649668" y="340549"/>
                  </a:cubicBezTo>
                  <a:cubicBezTo>
                    <a:pt x="611314" y="458659"/>
                    <a:pt x="431101" y="437577"/>
                    <a:pt x="384746" y="391984"/>
                  </a:cubicBezTo>
                  <a:cubicBezTo>
                    <a:pt x="344995" y="346391"/>
                    <a:pt x="211772" y="194880"/>
                    <a:pt x="128587" y="346391"/>
                  </a:cubicBezTo>
                  <a:cubicBezTo>
                    <a:pt x="128587" y="346391"/>
                    <a:pt x="-40704" y="330389"/>
                    <a:pt x="9207" y="494219"/>
                  </a:cubicBezTo>
                  <a:close/>
                  <a:cubicBezTo>
                    <a:pt x="21526" y="514539"/>
                    <a:pt x="21526" y="514539"/>
                    <a:pt x="21526" y="514539"/>
                  </a:cubicBezTo>
                  <a:lnTo>
                    <a:pt x="9207" y="494219"/>
                  </a:lnTo>
                  <a:close/>
                </a:path>
              </a:pathLst>
            </a:custGeom>
            <a:blipFill>
              <a:blip r:embed="rId5">
                <a:alphaModFix amt="55000"/>
              </a:blip>
              <a:stretch>
                <a:fillRect l="-4873" t="-3594" r="-6051" b="-7531"/>
              </a:stretch>
            </a:blipFill>
          </p:spPr>
        </p:sp>
      </p:grpSp>
      <p:sp>
        <p:nvSpPr>
          <p:cNvPr id="5" name="文本框 4"/>
          <p:cNvSpPr txBox="1"/>
          <p:nvPr/>
        </p:nvSpPr>
        <p:spPr>
          <a:xfrm>
            <a:off x="1447800" y="1714500"/>
            <a:ext cx="16214725" cy="583565"/>
          </a:xfrm>
          <a:prstGeom prst="rect">
            <a:avLst/>
          </a:prstGeom>
          <a:noFill/>
        </p:spPr>
        <p:txBody>
          <a:bodyPr wrap="square" rtlCol="0" anchor="t">
            <a:spAutoFit/>
          </a:bodyPr>
          <a:lstStyle/>
          <a:p>
            <a:r>
              <a:rPr lang="en-US" altLang="zh-CN" sz="3200" b="1" dirty="0">
                <a:solidFill>
                  <a:srgbClr val="540E04"/>
                </a:solidFill>
                <a:latin typeface="Times New Roman" panose="02020603050405020304" pitchFamily="18" charset="0"/>
                <a:cs typeface="Times New Roman" panose="02020603050405020304" pitchFamily="18" charset="0"/>
                <a:sym typeface="+mn-ea"/>
              </a:rPr>
              <a:t>The cognitive upgrade from authropocentrism to ecological community consciousness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1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txBody>
          <a:bodyPr/>
          <a:lstStyle/>
          <a:p>
            <a:endParaRPr lang="zh-CN" altLang="en-US" dirty="0"/>
          </a:p>
        </p:txBody>
      </p:sp>
      <p:grpSp>
        <p:nvGrpSpPr>
          <p:cNvPr id="3" name="Group 3"/>
          <p:cNvGrpSpPr/>
          <p:nvPr/>
        </p:nvGrpSpPr>
        <p:grpSpPr>
          <a:xfrm>
            <a:off x="497657" y="593215"/>
            <a:ext cx="2093143" cy="3934608"/>
            <a:chOff x="0" y="0"/>
            <a:chExt cx="3973284" cy="9110891"/>
          </a:xfrm>
        </p:grpSpPr>
        <p:sp>
          <p:nvSpPr>
            <p:cNvPr id="4" name="Freeform 4"/>
            <p:cNvSpPr/>
            <p:nvPr/>
          </p:nvSpPr>
          <p:spPr>
            <a:xfrm>
              <a:off x="0" y="12700"/>
              <a:ext cx="3973322" cy="9098153"/>
            </a:xfrm>
            <a:custGeom>
              <a:avLst/>
              <a:gdLst/>
              <a:ahLst/>
              <a:cxnLst/>
              <a:rect l="l" t="t" r="r" b="b"/>
              <a:pathLst>
                <a:path w="3973322" h="9098153">
                  <a:moveTo>
                    <a:pt x="3973322" y="0"/>
                  </a:moveTo>
                  <a:lnTo>
                    <a:pt x="3973322" y="9085453"/>
                  </a:lnTo>
                  <a:cubicBezTo>
                    <a:pt x="3973322" y="9092438"/>
                    <a:pt x="3967607" y="9098153"/>
                    <a:pt x="3960622" y="9098153"/>
                  </a:cubicBezTo>
                  <a:lnTo>
                    <a:pt x="12700" y="9098153"/>
                  </a:lnTo>
                  <a:cubicBezTo>
                    <a:pt x="5715" y="9098153"/>
                    <a:pt x="0" y="9092438"/>
                    <a:pt x="0" y="9085453"/>
                  </a:cubicBezTo>
                  <a:lnTo>
                    <a:pt x="0" y="0"/>
                  </a:lnTo>
                  <a:lnTo>
                    <a:pt x="25400" y="0"/>
                  </a:lnTo>
                  <a:lnTo>
                    <a:pt x="25400" y="9085453"/>
                  </a:lnTo>
                  <a:lnTo>
                    <a:pt x="12700" y="9085453"/>
                  </a:lnTo>
                  <a:lnTo>
                    <a:pt x="12700" y="9072753"/>
                  </a:lnTo>
                  <a:lnTo>
                    <a:pt x="3960622" y="9072753"/>
                  </a:lnTo>
                  <a:lnTo>
                    <a:pt x="3960622" y="9085453"/>
                  </a:lnTo>
                  <a:lnTo>
                    <a:pt x="3947922" y="9085453"/>
                  </a:lnTo>
                  <a:lnTo>
                    <a:pt x="3947922" y="0"/>
                  </a:lnTo>
                  <a:close/>
                </a:path>
              </a:pathLst>
            </a:custGeom>
            <a:solidFill>
              <a:srgbClr val="808080"/>
            </a:solidFill>
          </p:spPr>
        </p:sp>
      </p:grpSp>
      <p:sp>
        <p:nvSpPr>
          <p:cNvPr id="5" name="AutoShape 5"/>
          <p:cNvSpPr/>
          <p:nvPr/>
        </p:nvSpPr>
        <p:spPr>
          <a:xfrm rot="64920">
            <a:off x="2086631" y="593940"/>
            <a:ext cx="504234" cy="0"/>
          </a:xfrm>
          <a:prstGeom prst="line">
            <a:avLst/>
          </a:prstGeom>
          <a:ln w="9525" cap="rnd">
            <a:solidFill>
              <a:srgbClr val="000000"/>
            </a:solidFill>
            <a:prstDash val="solid"/>
            <a:headEnd type="none" w="sm" len="sm"/>
            <a:tailEnd type="none" w="sm" len="sm"/>
          </a:ln>
        </p:spPr>
        <p:txBody>
          <a:bodyPr/>
          <a:lstStyle/>
          <a:p>
            <a:endParaRPr lang="zh-CN" altLang="en-US" dirty="0"/>
          </a:p>
        </p:txBody>
      </p:sp>
      <p:sp>
        <p:nvSpPr>
          <p:cNvPr id="6" name="AutoShape 6"/>
          <p:cNvSpPr/>
          <p:nvPr/>
        </p:nvSpPr>
        <p:spPr>
          <a:xfrm rot="64920">
            <a:off x="495821" y="603461"/>
            <a:ext cx="504234" cy="0"/>
          </a:xfrm>
          <a:prstGeom prst="line">
            <a:avLst/>
          </a:prstGeom>
          <a:ln w="9525" cap="rnd">
            <a:solidFill>
              <a:srgbClr val="000000"/>
            </a:solidFill>
            <a:prstDash val="solid"/>
            <a:headEnd type="none" w="sm" len="sm"/>
            <a:tailEnd type="none" w="sm" len="sm"/>
          </a:ln>
        </p:spPr>
      </p:sp>
      <p:grpSp>
        <p:nvGrpSpPr>
          <p:cNvPr id="9" name="Group 9"/>
          <p:cNvGrpSpPr/>
          <p:nvPr/>
        </p:nvGrpSpPr>
        <p:grpSpPr>
          <a:xfrm>
            <a:off x="783887" y="1199249"/>
            <a:ext cx="102699" cy="723376"/>
            <a:chOff x="0" y="0"/>
            <a:chExt cx="136931" cy="964501"/>
          </a:xfrm>
        </p:grpSpPr>
        <p:sp>
          <p:nvSpPr>
            <p:cNvPr id="10" name="Freeform 10"/>
            <p:cNvSpPr/>
            <p:nvPr/>
          </p:nvSpPr>
          <p:spPr>
            <a:xfrm>
              <a:off x="0" y="0"/>
              <a:ext cx="136906" cy="964438"/>
            </a:xfrm>
            <a:custGeom>
              <a:avLst/>
              <a:gdLst/>
              <a:ahLst/>
              <a:cxnLst/>
              <a:rect l="l" t="t" r="r" b="b"/>
              <a:pathLst>
                <a:path w="136906" h="964438">
                  <a:moveTo>
                    <a:pt x="0" y="0"/>
                  </a:moveTo>
                  <a:lnTo>
                    <a:pt x="136906" y="0"/>
                  </a:lnTo>
                  <a:lnTo>
                    <a:pt x="136906" y="964438"/>
                  </a:lnTo>
                  <a:lnTo>
                    <a:pt x="0" y="964438"/>
                  </a:lnTo>
                  <a:close/>
                </a:path>
              </a:pathLst>
            </a:custGeom>
            <a:solidFill>
              <a:srgbClr val="000000"/>
            </a:solidFill>
          </p:spPr>
        </p:sp>
      </p:grpSp>
      <p:sp>
        <p:nvSpPr>
          <p:cNvPr id="11" name="Freeform 11"/>
          <p:cNvSpPr/>
          <p:nvPr/>
        </p:nvSpPr>
        <p:spPr>
          <a:xfrm>
            <a:off x="15228227" y="5005368"/>
            <a:ext cx="1834010" cy="382810"/>
          </a:xfrm>
          <a:custGeom>
            <a:avLst/>
            <a:gdLst/>
            <a:ahLst/>
            <a:cxnLst/>
            <a:rect l="l" t="t" r="r" b="b"/>
            <a:pathLst>
              <a:path w="1834010" h="382810">
                <a:moveTo>
                  <a:pt x="0" y="0"/>
                </a:moveTo>
                <a:lnTo>
                  <a:pt x="1834010" y="0"/>
                </a:lnTo>
                <a:lnTo>
                  <a:pt x="1834010" y="382810"/>
                </a:lnTo>
                <a:lnTo>
                  <a:pt x="0" y="38281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1465671" y="3788807"/>
            <a:ext cx="2515457" cy="739016"/>
          </a:xfrm>
          <a:custGeom>
            <a:avLst/>
            <a:gdLst/>
            <a:ahLst/>
            <a:cxnLst/>
            <a:rect l="l" t="t" r="r" b="b"/>
            <a:pathLst>
              <a:path w="2515457" h="739016">
                <a:moveTo>
                  <a:pt x="0" y="0"/>
                </a:moveTo>
                <a:lnTo>
                  <a:pt x="2515457" y="0"/>
                </a:lnTo>
                <a:lnTo>
                  <a:pt x="2515457" y="739016"/>
                </a:lnTo>
                <a:lnTo>
                  <a:pt x="0" y="7390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210452" y="1809609"/>
            <a:ext cx="788677" cy="2185535"/>
          </a:xfrm>
          <a:prstGeom prst="rect">
            <a:avLst/>
          </a:prstGeom>
        </p:spPr>
        <p:txBody>
          <a:bodyPr vert="eaVert" lIns="0" tIns="0" rIns="0" bIns="0" rtlCol="0" anchor="t">
            <a:spAutoFit/>
          </a:bodyPr>
          <a:lstStyle/>
          <a:p>
            <a:pPr algn="l">
              <a:lnSpc>
                <a:spcPts val="5760"/>
              </a:lnSpc>
            </a:pPr>
            <a:r>
              <a:rPr lang="en-US" sz="6000" dirty="0">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rPr>
              <a:t>Cases</a:t>
            </a:r>
          </a:p>
        </p:txBody>
      </p:sp>
      <p:sp>
        <p:nvSpPr>
          <p:cNvPr id="14" name="TextBox 14"/>
          <p:cNvSpPr txBox="1"/>
          <p:nvPr/>
        </p:nvSpPr>
        <p:spPr>
          <a:xfrm>
            <a:off x="3719297" y="1216428"/>
            <a:ext cx="13500954" cy="2015490"/>
          </a:xfrm>
          <a:prstGeom prst="rect">
            <a:avLst/>
          </a:prstGeom>
        </p:spPr>
        <p:txBody>
          <a:bodyPr wrap="square" lIns="0" tIns="0" rIns="0" bIns="0" rtlCol="0" anchor="t">
            <a:spAutoFit/>
          </a:bodyPr>
          <a:lstStyle/>
          <a:p>
            <a:pPr indent="0" algn="ctr" fontAlgn="auto">
              <a:lnSpc>
                <a:spcPct val="100000"/>
              </a:lnSpc>
            </a:pPr>
            <a:r>
              <a:rPr lang="en-US" altLang="zh-CN" sz="2800" b="1" dirty="0">
                <a:solidFill>
                  <a:srgbClr val="540E04"/>
                </a:solidFill>
                <a:latin typeface="Times New Roman" panose="02020603050405020304" pitchFamily="18" charset="0"/>
                <a:ea typeface="Arimo" panose="020B0604020202020204"/>
                <a:cs typeface="Times New Roman" panose="02020603050405020304" pitchFamily="18" charset="0"/>
                <a:sym typeface="Arimo" panose="020B0604020202020204"/>
              </a:rPr>
              <a:t>the Xingu indigenous peoples</a:t>
            </a:r>
            <a:r>
              <a:rPr lang="en-US" altLang="zh-CN"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the “Forest Health Index”</a:t>
            </a:r>
          </a:p>
          <a:p>
            <a:pPr indent="0" algn="ctr" fontAlgn="auto">
              <a:lnSpc>
                <a:spcPct val="100000"/>
              </a:lnSpc>
            </a:pPr>
            <a:r>
              <a:rPr lang="en-US" altLang="zh-CN"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(the indigenous people's keen perception of nature)</a:t>
            </a:r>
            <a:endParaRPr lang="en-US"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a:p>
            <a:pPr algn="ctr">
              <a:lnSpc>
                <a:spcPts val="4500"/>
              </a:lnSpc>
            </a:pPr>
            <a:endParaRPr lang="en-US" sz="24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a:p>
            <a:pPr algn="ctr">
              <a:lnSpc>
                <a:spcPts val="4500"/>
              </a:lnSpc>
            </a:pPr>
            <a:r>
              <a:rPr lang="en-US" altLang="zh-CN" sz="2800" b="1" dirty="0">
                <a:solidFill>
                  <a:srgbClr val="540E04"/>
                </a:solidFill>
                <a:latin typeface="Times New Roman" panose="02020603050405020304" pitchFamily="18" charset="0"/>
                <a:ea typeface="Arimo" panose="020B0604020202020204"/>
                <a:cs typeface="Times New Roman" panose="02020603050405020304" pitchFamily="18" charset="0"/>
                <a:sym typeface="Arimo" panose="020B0604020202020204"/>
              </a:rPr>
              <a:t>Yale University</a:t>
            </a:r>
            <a:r>
              <a:rPr lang="en-US" altLang="zh-CN"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 satellite and acoustic monitoring (modern technology). </a:t>
            </a:r>
            <a:endParaRPr lang="en-US" sz="28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p:txBody>
      </p:sp>
      <p:sp>
        <p:nvSpPr>
          <p:cNvPr id="19" name="箭头: 上下 18"/>
          <p:cNvSpPr/>
          <p:nvPr/>
        </p:nvSpPr>
        <p:spPr>
          <a:xfrm>
            <a:off x="10271300" y="2097901"/>
            <a:ext cx="76200" cy="657234"/>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21" name="Group 3"/>
          <p:cNvGrpSpPr/>
          <p:nvPr/>
        </p:nvGrpSpPr>
        <p:grpSpPr>
          <a:xfrm>
            <a:off x="3593465" y="1076325"/>
            <a:ext cx="13302615" cy="2160270"/>
            <a:chOff x="0" y="-238465"/>
            <a:chExt cx="16314293" cy="6759575"/>
          </a:xfrm>
        </p:grpSpPr>
        <p:sp>
          <p:nvSpPr>
            <p:cNvPr id="22" name="Freeform 4"/>
            <p:cNvSpPr/>
            <p:nvPr/>
          </p:nvSpPr>
          <p:spPr>
            <a:xfrm>
              <a:off x="0" y="-238465"/>
              <a:ext cx="16314293" cy="6759575"/>
            </a:xfrm>
            <a:custGeom>
              <a:avLst/>
              <a:gdLst/>
              <a:ahLst/>
              <a:cxnLst/>
              <a:rect l="l" t="t" r="r" b="b"/>
              <a:pathLst>
                <a:path w="16314293" h="6759575">
                  <a:moveTo>
                    <a:pt x="57150" y="0"/>
                  </a:moveTo>
                  <a:lnTo>
                    <a:pt x="16257143" y="0"/>
                  </a:lnTo>
                  <a:cubicBezTo>
                    <a:pt x="16288765" y="0"/>
                    <a:pt x="16314293" y="25527"/>
                    <a:pt x="16314293" y="57150"/>
                  </a:cubicBezTo>
                  <a:lnTo>
                    <a:pt x="16314293" y="6702425"/>
                  </a:lnTo>
                  <a:cubicBezTo>
                    <a:pt x="16314293" y="6734048"/>
                    <a:pt x="16288765" y="6759575"/>
                    <a:pt x="16257143" y="6759575"/>
                  </a:cubicBezTo>
                  <a:lnTo>
                    <a:pt x="57150" y="6759575"/>
                  </a:lnTo>
                  <a:cubicBezTo>
                    <a:pt x="25527" y="6759575"/>
                    <a:pt x="0" y="6734048"/>
                    <a:pt x="0" y="6702425"/>
                  </a:cubicBezTo>
                  <a:lnTo>
                    <a:pt x="0" y="57150"/>
                  </a:lnTo>
                  <a:cubicBezTo>
                    <a:pt x="0" y="25527"/>
                    <a:pt x="25527" y="0"/>
                    <a:pt x="57150" y="0"/>
                  </a:cubicBezTo>
                  <a:moveTo>
                    <a:pt x="57150" y="114300"/>
                  </a:moveTo>
                  <a:lnTo>
                    <a:pt x="57150" y="57150"/>
                  </a:lnTo>
                  <a:lnTo>
                    <a:pt x="114300" y="57150"/>
                  </a:lnTo>
                  <a:lnTo>
                    <a:pt x="114300" y="6702425"/>
                  </a:lnTo>
                  <a:lnTo>
                    <a:pt x="57150" y="6702425"/>
                  </a:lnTo>
                  <a:lnTo>
                    <a:pt x="57150" y="6645275"/>
                  </a:lnTo>
                  <a:lnTo>
                    <a:pt x="16257143" y="6645275"/>
                  </a:lnTo>
                  <a:lnTo>
                    <a:pt x="16257143" y="6702425"/>
                  </a:lnTo>
                  <a:lnTo>
                    <a:pt x="16199993" y="6702425"/>
                  </a:lnTo>
                  <a:lnTo>
                    <a:pt x="16199993" y="57150"/>
                  </a:lnTo>
                  <a:lnTo>
                    <a:pt x="16257143" y="57150"/>
                  </a:lnTo>
                  <a:lnTo>
                    <a:pt x="16257143" y="114300"/>
                  </a:lnTo>
                  <a:lnTo>
                    <a:pt x="57150" y="114300"/>
                  </a:lnTo>
                  <a:close/>
                </a:path>
              </a:pathLst>
            </a:custGeom>
            <a:solidFill>
              <a:srgbClr val="000000"/>
            </a:solidFill>
          </p:spPr>
        </p:sp>
      </p:grpSp>
      <p:grpSp>
        <p:nvGrpSpPr>
          <p:cNvPr id="27" name="Group 3"/>
          <p:cNvGrpSpPr/>
          <p:nvPr/>
        </p:nvGrpSpPr>
        <p:grpSpPr>
          <a:xfrm>
            <a:off x="3593465" y="3554730"/>
            <a:ext cx="13302615" cy="2160270"/>
            <a:chOff x="0" y="0"/>
            <a:chExt cx="16314306" cy="6759626"/>
          </a:xfrm>
        </p:grpSpPr>
        <p:sp>
          <p:nvSpPr>
            <p:cNvPr id="28" name="Freeform 4"/>
            <p:cNvSpPr/>
            <p:nvPr/>
          </p:nvSpPr>
          <p:spPr>
            <a:xfrm>
              <a:off x="0" y="0"/>
              <a:ext cx="16314293" cy="6759575"/>
            </a:xfrm>
            <a:custGeom>
              <a:avLst/>
              <a:gdLst/>
              <a:ahLst/>
              <a:cxnLst/>
              <a:rect l="l" t="t" r="r" b="b"/>
              <a:pathLst>
                <a:path w="16314293" h="6759575">
                  <a:moveTo>
                    <a:pt x="57150" y="0"/>
                  </a:moveTo>
                  <a:lnTo>
                    <a:pt x="16257143" y="0"/>
                  </a:lnTo>
                  <a:cubicBezTo>
                    <a:pt x="16288765" y="0"/>
                    <a:pt x="16314293" y="25527"/>
                    <a:pt x="16314293" y="57150"/>
                  </a:cubicBezTo>
                  <a:lnTo>
                    <a:pt x="16314293" y="6702425"/>
                  </a:lnTo>
                  <a:cubicBezTo>
                    <a:pt x="16314293" y="6734048"/>
                    <a:pt x="16288765" y="6759575"/>
                    <a:pt x="16257143" y="6759575"/>
                  </a:cubicBezTo>
                  <a:lnTo>
                    <a:pt x="57150" y="6759575"/>
                  </a:lnTo>
                  <a:cubicBezTo>
                    <a:pt x="25527" y="6759575"/>
                    <a:pt x="0" y="6734048"/>
                    <a:pt x="0" y="6702425"/>
                  </a:cubicBezTo>
                  <a:lnTo>
                    <a:pt x="0" y="57150"/>
                  </a:lnTo>
                  <a:cubicBezTo>
                    <a:pt x="0" y="25527"/>
                    <a:pt x="25527" y="0"/>
                    <a:pt x="57150" y="0"/>
                  </a:cubicBezTo>
                  <a:moveTo>
                    <a:pt x="57150" y="114300"/>
                  </a:moveTo>
                  <a:lnTo>
                    <a:pt x="57150" y="57150"/>
                  </a:lnTo>
                  <a:lnTo>
                    <a:pt x="114300" y="57150"/>
                  </a:lnTo>
                  <a:lnTo>
                    <a:pt x="114300" y="6702425"/>
                  </a:lnTo>
                  <a:lnTo>
                    <a:pt x="57150" y="6702425"/>
                  </a:lnTo>
                  <a:lnTo>
                    <a:pt x="57150" y="6645275"/>
                  </a:lnTo>
                  <a:lnTo>
                    <a:pt x="16257143" y="6645275"/>
                  </a:lnTo>
                  <a:lnTo>
                    <a:pt x="16257143" y="6702425"/>
                  </a:lnTo>
                  <a:lnTo>
                    <a:pt x="16199993" y="6702425"/>
                  </a:lnTo>
                  <a:lnTo>
                    <a:pt x="16199993" y="57150"/>
                  </a:lnTo>
                  <a:lnTo>
                    <a:pt x="16257143" y="57150"/>
                  </a:lnTo>
                  <a:lnTo>
                    <a:pt x="16257143" y="114300"/>
                  </a:lnTo>
                  <a:lnTo>
                    <a:pt x="57150" y="114300"/>
                  </a:lnTo>
                  <a:close/>
                </a:path>
              </a:pathLst>
            </a:custGeom>
            <a:solidFill>
              <a:srgbClr val="000000"/>
            </a:solidFill>
          </p:spPr>
        </p:sp>
      </p:grpSp>
      <p:sp>
        <p:nvSpPr>
          <p:cNvPr id="31" name="文本框 30"/>
          <p:cNvSpPr txBox="1"/>
          <p:nvPr/>
        </p:nvSpPr>
        <p:spPr>
          <a:xfrm>
            <a:off x="3533241" y="3710779"/>
            <a:ext cx="13404637" cy="1800000"/>
          </a:xfrm>
          <a:prstGeom prst="rect">
            <a:avLst/>
          </a:prstGeom>
          <a:noFill/>
        </p:spPr>
        <p:txBody>
          <a:bodyPr wrap="square" rtlCol="0">
            <a:noAutofit/>
          </a:bodyPr>
          <a:lstStyle/>
          <a:p>
            <a:pPr algn="ctr"/>
            <a:r>
              <a:rPr lang="en-US" altLang="zh-CN" sz="2800" b="1" dirty="0">
                <a:solidFill>
                  <a:srgbClr val="540E04"/>
                </a:solidFill>
                <a:latin typeface="Times New Roman" panose="02020603050405020304" pitchFamily="18" charset="0"/>
                <a:cs typeface="Times New Roman" panose="02020603050405020304" pitchFamily="18" charset="0"/>
              </a:rPr>
              <a:t>Laos</a:t>
            </a:r>
            <a:r>
              <a:rPr lang="en-US" altLang="zh-CN" sz="2800" dirty="0">
                <a:latin typeface="Times New Roman" panose="02020603050405020304" pitchFamily="18" charset="0"/>
                <a:cs typeface="Times New Roman" panose="02020603050405020304" pitchFamily="18" charset="0"/>
              </a:rPr>
              <a:t>: “agroforestry system.”</a:t>
            </a:r>
            <a:endParaRPr lang="en-US" altLang="zh-CN" sz="2800" b="1" dirty="0">
              <a:solidFill>
                <a:srgbClr val="540E04"/>
              </a:solidFill>
              <a:latin typeface="Times New Roman" panose="02020603050405020304" pitchFamily="18" charset="0"/>
              <a:cs typeface="Times New Roman" panose="02020603050405020304" pitchFamily="18" charset="0"/>
            </a:endParaRPr>
          </a:p>
          <a:p>
            <a:pPr algn="ctr"/>
            <a:endParaRPr lang="en-US" altLang="zh-CN" sz="2800" b="1" dirty="0">
              <a:solidFill>
                <a:srgbClr val="540E04"/>
              </a:solidFill>
              <a:latin typeface="Times New Roman" panose="02020603050405020304" pitchFamily="18" charset="0"/>
              <a:cs typeface="Times New Roman" panose="02020603050405020304" pitchFamily="18" charset="0"/>
            </a:endParaRPr>
          </a:p>
          <a:p>
            <a:pPr algn="ctr"/>
            <a:endParaRPr lang="en-US" altLang="zh-CN" sz="2800" b="1" dirty="0">
              <a:solidFill>
                <a:srgbClr val="540E04"/>
              </a:solidFill>
              <a:latin typeface="Times New Roman" panose="02020603050405020304" pitchFamily="18" charset="0"/>
              <a:cs typeface="Times New Roman" panose="02020603050405020304" pitchFamily="18" charset="0"/>
            </a:endParaRPr>
          </a:p>
          <a:p>
            <a:pPr algn="ctr"/>
            <a:r>
              <a:rPr lang="en-US" altLang="zh-CN" sz="2800" b="1" dirty="0">
                <a:solidFill>
                  <a:srgbClr val="540E04"/>
                </a:solidFill>
                <a:latin typeface="Times New Roman" panose="02020603050405020304" pitchFamily="18" charset="0"/>
                <a:cs typeface="Times New Roman" panose="02020603050405020304" pitchFamily="18" charset="0"/>
              </a:rPr>
              <a:t>China</a:t>
            </a:r>
            <a:r>
              <a:rPr lang="en-US" altLang="zh-CN" sz="2800" dirty="0">
                <a:latin typeface="Times New Roman" panose="02020603050405020304" pitchFamily="18" charset="0"/>
                <a:cs typeface="Times New Roman" panose="02020603050405020304" pitchFamily="18" charset="0"/>
              </a:rPr>
              <a:t>: “dwarfing technology” </a:t>
            </a:r>
          </a:p>
        </p:txBody>
      </p:sp>
      <p:sp>
        <p:nvSpPr>
          <p:cNvPr id="32" name="箭头: 上下 31"/>
          <p:cNvSpPr/>
          <p:nvPr/>
        </p:nvSpPr>
        <p:spPr>
          <a:xfrm>
            <a:off x="10188087" y="4310715"/>
            <a:ext cx="76200" cy="657234"/>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7" name="组合 6"/>
          <p:cNvGrpSpPr/>
          <p:nvPr/>
        </p:nvGrpSpPr>
        <p:grpSpPr>
          <a:xfrm>
            <a:off x="9982200" y="6438265"/>
            <a:ext cx="8229600" cy="2836534"/>
            <a:chOff x="476" y="9560"/>
            <a:chExt cx="12960" cy="4467"/>
          </a:xfrm>
        </p:grpSpPr>
        <p:grpSp>
          <p:nvGrpSpPr>
            <p:cNvPr id="39" name="Group 16"/>
            <p:cNvGrpSpPr/>
            <p:nvPr/>
          </p:nvGrpSpPr>
          <p:grpSpPr>
            <a:xfrm rot="16200000">
              <a:off x="5639" y="7150"/>
              <a:ext cx="2137" cy="6957"/>
              <a:chOff x="-38100" y="-1047327"/>
              <a:chExt cx="1809327" cy="5890260"/>
            </a:xfrm>
          </p:grpSpPr>
          <p:sp>
            <p:nvSpPr>
              <p:cNvPr id="40" name="Freeform 17"/>
              <p:cNvSpPr/>
              <p:nvPr/>
            </p:nvSpPr>
            <p:spPr>
              <a:xfrm>
                <a:off x="-38100" y="-1047327"/>
                <a:ext cx="1809327" cy="5890260"/>
              </a:xfrm>
              <a:custGeom>
                <a:avLst/>
                <a:gdLst/>
                <a:ahLst/>
                <a:cxnLst/>
                <a:rect l="l" t="t" r="r" b="b"/>
                <a:pathLst>
                  <a:path w="1809750" h="4013200">
                    <a:moveTo>
                      <a:pt x="0" y="0"/>
                    </a:moveTo>
                    <a:lnTo>
                      <a:pt x="1809750" y="0"/>
                    </a:lnTo>
                    <a:lnTo>
                      <a:pt x="1809750" y="4013200"/>
                    </a:lnTo>
                    <a:lnTo>
                      <a:pt x="0" y="4013200"/>
                    </a:lnTo>
                    <a:lnTo>
                      <a:pt x="0" y="0"/>
                    </a:lnTo>
                    <a:close/>
                  </a:path>
                </a:pathLst>
              </a:custGeom>
              <a:blipFill>
                <a:blip r:embed="rId6"/>
                <a:stretch>
                  <a:fillRect r="-13639"/>
                </a:stretch>
              </a:blipFill>
            </p:spPr>
          </p:sp>
        </p:grpSp>
        <p:sp>
          <p:nvSpPr>
            <p:cNvPr id="44" name="文本框 43"/>
            <p:cNvSpPr txBox="1"/>
            <p:nvPr/>
          </p:nvSpPr>
          <p:spPr>
            <a:xfrm>
              <a:off x="3956" y="9801"/>
              <a:ext cx="5578" cy="1016"/>
            </a:xfrm>
            <a:prstGeom prst="rect">
              <a:avLst/>
            </a:prstGeom>
            <a:noFill/>
          </p:spPr>
          <p:txBody>
            <a:bodyPr wrap="square">
              <a:spAutoFit/>
            </a:bodyPr>
            <a:lstStyle/>
            <a:p>
              <a:pPr algn="ctr">
                <a:lnSpc>
                  <a:spcPts val="4320"/>
                </a:lnSpc>
              </a:pPr>
              <a:r>
                <a:rPr lang="en-US" altLang="zh-CN" sz="32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Knowledge system</a:t>
              </a:r>
            </a:p>
          </p:txBody>
        </p:sp>
        <p:sp>
          <p:nvSpPr>
            <p:cNvPr id="46" name="文本框 45"/>
            <p:cNvSpPr txBox="1"/>
            <p:nvPr/>
          </p:nvSpPr>
          <p:spPr>
            <a:xfrm>
              <a:off x="476" y="11361"/>
              <a:ext cx="12960" cy="2666"/>
            </a:xfrm>
            <a:prstGeom prst="rect">
              <a:avLst/>
            </a:prstGeom>
            <a:noFill/>
          </p:spPr>
          <p:txBody>
            <a:bodyPr wrap="square">
              <a:spAutoFit/>
            </a:bodyPr>
            <a:lstStyle/>
            <a:p>
              <a:pPr algn="ctr">
                <a:lnSpc>
                  <a:spcPts val="4320"/>
                </a:lnSpc>
              </a:pPr>
              <a:r>
                <a:rPr lang="en-US" altLang="zh-CN" sz="28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rPr>
                <a:t>technology crushing</a:t>
              </a:r>
            </a:p>
            <a:p>
              <a:pPr algn="ctr">
                <a:lnSpc>
                  <a:spcPts val="4320"/>
                </a:lnSpc>
              </a:pPr>
              <a:endParaRPr lang="en-US" altLang="zh-CN" sz="28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a:p>
              <a:pPr algn="ctr">
                <a:lnSpc>
                  <a:spcPts val="4320"/>
                </a:lnSpc>
              </a:pPr>
              <a:r>
                <a:rPr lang="en-US" altLang="zh-CN" sz="28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rPr>
                <a:t>ecological wisdom complementarity</a:t>
              </a:r>
            </a:p>
          </p:txBody>
        </p:sp>
        <p:cxnSp>
          <p:nvCxnSpPr>
            <p:cNvPr id="47" name="直接箭头连接符 46"/>
            <p:cNvCxnSpPr/>
            <p:nvPr/>
          </p:nvCxnSpPr>
          <p:spPr>
            <a:xfrm>
              <a:off x="6629" y="12388"/>
              <a:ext cx="0" cy="8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48" name="文本框 47"/>
          <p:cNvSpPr txBox="1"/>
          <p:nvPr/>
        </p:nvSpPr>
        <p:spPr>
          <a:xfrm>
            <a:off x="3533140" y="6279515"/>
            <a:ext cx="7384415" cy="3415030"/>
          </a:xfrm>
          <a:prstGeom prst="rect">
            <a:avLst/>
          </a:prstGeom>
          <a:noFill/>
        </p:spPr>
        <p:txBody>
          <a:bodyPr wrap="square" rtlCol="0">
            <a:spAutoFit/>
          </a:bodyPr>
          <a:lstStyle/>
          <a:p>
            <a:pPr algn="ctr"/>
            <a:r>
              <a:rPr lang="en-US" altLang="zh-CN" sz="3600" dirty="0">
                <a:latin typeface="Times New Roman" panose="02020603050405020304" pitchFamily="18" charset="0"/>
                <a:cs typeface="Times New Roman" panose="02020603050405020304" pitchFamily="18" charset="0"/>
              </a:rPr>
              <a:t>human society and civilization </a:t>
            </a:r>
            <a:r>
              <a:rPr lang="en-US" altLang="zh-CN" sz="3600" b="1" dirty="0">
                <a:latin typeface="Times New Roman" panose="02020603050405020304" pitchFamily="18" charset="0"/>
                <a:cs typeface="Times New Roman" panose="02020603050405020304" pitchFamily="18" charset="0"/>
              </a:rPr>
              <a:t>are shaped by the environment</a:t>
            </a:r>
            <a:r>
              <a:rPr lang="en-US" altLang="zh-CN" sz="3600" dirty="0">
                <a:latin typeface="Times New Roman" panose="02020603050405020304" pitchFamily="18" charset="0"/>
                <a:cs typeface="Times New Roman" panose="02020603050405020304" pitchFamily="18" charset="0"/>
              </a:rPr>
              <a:t>, and humans are also </a:t>
            </a:r>
            <a:r>
              <a:rPr lang="en-US" altLang="zh-CN" sz="3600" b="1" dirty="0">
                <a:latin typeface="Times New Roman" panose="02020603050405020304" pitchFamily="18" charset="0"/>
                <a:cs typeface="Times New Roman" panose="02020603050405020304" pitchFamily="18" charset="0"/>
              </a:rPr>
              <a:t>remaking and protecting</a:t>
            </a:r>
            <a:r>
              <a:rPr lang="en-US" altLang="zh-CN" sz="3600" dirty="0">
                <a:latin typeface="Times New Roman" panose="02020603050405020304" pitchFamily="18" charset="0"/>
                <a:cs typeface="Times New Roman" panose="02020603050405020304" pitchFamily="18" charset="0"/>
              </a:rPr>
              <a:t> the environment by </a:t>
            </a:r>
            <a:r>
              <a:rPr lang="en-US" altLang="zh-CN" sz="3600" b="1" dirty="0">
                <a:latin typeface="Times New Roman" panose="02020603050405020304" pitchFamily="18" charset="0"/>
                <a:cs typeface="Times New Roman" panose="02020603050405020304" pitchFamily="18" charset="0"/>
              </a:rPr>
              <a:t>integrating old and new knowledge</a:t>
            </a:r>
            <a:r>
              <a:rPr lang="en-US" altLang="zh-CN" sz="3600" dirty="0">
                <a:latin typeface="Times New Roman" panose="02020603050405020304" pitchFamily="18" charset="0"/>
                <a:cs typeface="Times New Roman" panose="02020603050405020304" pitchFamily="18" charset="0"/>
              </a:rPr>
              <a:t>.</a:t>
            </a:r>
          </a:p>
          <a:p>
            <a:pPr algn="ctr"/>
            <a:endParaRPr lang="zh-CN" altLang="en-US" sz="3600" dirty="0">
              <a:latin typeface="Times New Roman" panose="02020603050405020304" pitchFamily="18" charset="0"/>
              <a:cs typeface="Times New Roman" panose="02020603050405020304" pitchFamily="18" charset="0"/>
            </a:endParaRPr>
          </a:p>
        </p:txBody>
      </p:sp>
      <p:sp>
        <p:nvSpPr>
          <p:cNvPr id="49" name="文本框 48"/>
          <p:cNvSpPr txBox="1"/>
          <p:nvPr/>
        </p:nvSpPr>
        <p:spPr>
          <a:xfrm>
            <a:off x="4070133" y="1827689"/>
            <a:ext cx="1447800" cy="1107996"/>
          </a:xfrm>
          <a:prstGeom prst="rect">
            <a:avLst/>
          </a:prstGeom>
          <a:noFill/>
        </p:spPr>
        <p:txBody>
          <a:bodyPr wrap="square" rtlCol="0">
            <a:spAutoFit/>
          </a:bodyPr>
          <a:lstStyle/>
          <a:p>
            <a:r>
              <a:rPr lang="zh-CN" altLang="en-US" sz="6600" dirty="0"/>
              <a:t>①</a:t>
            </a:r>
          </a:p>
        </p:txBody>
      </p:sp>
      <p:sp>
        <p:nvSpPr>
          <p:cNvPr id="50" name="文本框 49"/>
          <p:cNvSpPr txBox="1"/>
          <p:nvPr/>
        </p:nvSpPr>
        <p:spPr>
          <a:xfrm>
            <a:off x="4070133" y="3999104"/>
            <a:ext cx="1447800" cy="1107996"/>
          </a:xfrm>
          <a:prstGeom prst="rect">
            <a:avLst/>
          </a:prstGeom>
          <a:noFill/>
        </p:spPr>
        <p:txBody>
          <a:bodyPr wrap="square" rtlCol="0">
            <a:spAutoFit/>
          </a:bodyPr>
          <a:lstStyle/>
          <a:p>
            <a:r>
              <a:rPr lang="zh-CN" altLang="en-US" sz="6600" dirty="0"/>
              <a:t>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txBody>
          <a:bodyPr/>
          <a:lstStyle/>
          <a:p>
            <a:endParaRPr lang="zh-CN" altLang="en-US" dirty="0"/>
          </a:p>
        </p:txBody>
      </p:sp>
      <p:grpSp>
        <p:nvGrpSpPr>
          <p:cNvPr id="3" name="Group 3"/>
          <p:cNvGrpSpPr/>
          <p:nvPr/>
        </p:nvGrpSpPr>
        <p:grpSpPr>
          <a:xfrm>
            <a:off x="497657" y="593215"/>
            <a:ext cx="2093143" cy="3934608"/>
            <a:chOff x="0" y="0"/>
            <a:chExt cx="3973284" cy="9110891"/>
          </a:xfrm>
        </p:grpSpPr>
        <p:sp>
          <p:nvSpPr>
            <p:cNvPr id="4" name="Freeform 4"/>
            <p:cNvSpPr/>
            <p:nvPr/>
          </p:nvSpPr>
          <p:spPr>
            <a:xfrm>
              <a:off x="0" y="12700"/>
              <a:ext cx="3973322" cy="9098153"/>
            </a:xfrm>
            <a:custGeom>
              <a:avLst/>
              <a:gdLst/>
              <a:ahLst/>
              <a:cxnLst/>
              <a:rect l="l" t="t" r="r" b="b"/>
              <a:pathLst>
                <a:path w="3973322" h="9098153">
                  <a:moveTo>
                    <a:pt x="3973322" y="0"/>
                  </a:moveTo>
                  <a:lnTo>
                    <a:pt x="3973322" y="9085453"/>
                  </a:lnTo>
                  <a:cubicBezTo>
                    <a:pt x="3973322" y="9092438"/>
                    <a:pt x="3967607" y="9098153"/>
                    <a:pt x="3960622" y="9098153"/>
                  </a:cubicBezTo>
                  <a:lnTo>
                    <a:pt x="12700" y="9098153"/>
                  </a:lnTo>
                  <a:cubicBezTo>
                    <a:pt x="5715" y="9098153"/>
                    <a:pt x="0" y="9092438"/>
                    <a:pt x="0" y="9085453"/>
                  </a:cubicBezTo>
                  <a:lnTo>
                    <a:pt x="0" y="0"/>
                  </a:lnTo>
                  <a:lnTo>
                    <a:pt x="25400" y="0"/>
                  </a:lnTo>
                  <a:lnTo>
                    <a:pt x="25400" y="9085453"/>
                  </a:lnTo>
                  <a:lnTo>
                    <a:pt x="12700" y="9085453"/>
                  </a:lnTo>
                  <a:lnTo>
                    <a:pt x="12700" y="9072753"/>
                  </a:lnTo>
                  <a:lnTo>
                    <a:pt x="3960622" y="9072753"/>
                  </a:lnTo>
                  <a:lnTo>
                    <a:pt x="3960622" y="9085453"/>
                  </a:lnTo>
                  <a:lnTo>
                    <a:pt x="3947922" y="9085453"/>
                  </a:lnTo>
                  <a:lnTo>
                    <a:pt x="3947922" y="0"/>
                  </a:lnTo>
                  <a:close/>
                </a:path>
              </a:pathLst>
            </a:custGeom>
            <a:solidFill>
              <a:srgbClr val="808080"/>
            </a:solidFill>
          </p:spPr>
        </p:sp>
      </p:grpSp>
      <p:sp>
        <p:nvSpPr>
          <p:cNvPr id="5" name="AutoShape 5"/>
          <p:cNvSpPr/>
          <p:nvPr/>
        </p:nvSpPr>
        <p:spPr>
          <a:xfrm rot="64920">
            <a:off x="2086631" y="593940"/>
            <a:ext cx="504234" cy="0"/>
          </a:xfrm>
          <a:prstGeom prst="line">
            <a:avLst/>
          </a:prstGeom>
          <a:ln w="9525" cap="rnd">
            <a:solidFill>
              <a:srgbClr val="000000"/>
            </a:solidFill>
            <a:prstDash val="solid"/>
            <a:headEnd type="none" w="sm" len="sm"/>
            <a:tailEnd type="none" w="sm" len="sm"/>
          </a:ln>
        </p:spPr>
        <p:txBody>
          <a:bodyPr/>
          <a:lstStyle/>
          <a:p>
            <a:endParaRPr lang="zh-CN" altLang="en-US" dirty="0"/>
          </a:p>
        </p:txBody>
      </p:sp>
      <p:sp>
        <p:nvSpPr>
          <p:cNvPr id="6" name="AutoShape 6"/>
          <p:cNvSpPr/>
          <p:nvPr/>
        </p:nvSpPr>
        <p:spPr>
          <a:xfrm rot="64920">
            <a:off x="495821" y="603461"/>
            <a:ext cx="504234" cy="0"/>
          </a:xfrm>
          <a:prstGeom prst="line">
            <a:avLst/>
          </a:prstGeom>
          <a:ln w="9525" cap="rnd">
            <a:solidFill>
              <a:srgbClr val="000000"/>
            </a:solidFill>
            <a:prstDash val="solid"/>
            <a:headEnd type="none" w="sm" len="sm"/>
            <a:tailEnd type="none" w="sm" len="sm"/>
          </a:ln>
        </p:spPr>
      </p:sp>
      <p:grpSp>
        <p:nvGrpSpPr>
          <p:cNvPr id="9" name="Group 9"/>
          <p:cNvGrpSpPr/>
          <p:nvPr/>
        </p:nvGrpSpPr>
        <p:grpSpPr>
          <a:xfrm>
            <a:off x="783887" y="1199249"/>
            <a:ext cx="102699" cy="723376"/>
            <a:chOff x="0" y="0"/>
            <a:chExt cx="136931" cy="964501"/>
          </a:xfrm>
        </p:grpSpPr>
        <p:sp>
          <p:nvSpPr>
            <p:cNvPr id="10" name="Freeform 10"/>
            <p:cNvSpPr/>
            <p:nvPr/>
          </p:nvSpPr>
          <p:spPr>
            <a:xfrm>
              <a:off x="0" y="0"/>
              <a:ext cx="136906" cy="964438"/>
            </a:xfrm>
            <a:custGeom>
              <a:avLst/>
              <a:gdLst/>
              <a:ahLst/>
              <a:cxnLst/>
              <a:rect l="l" t="t" r="r" b="b"/>
              <a:pathLst>
                <a:path w="136906" h="964438">
                  <a:moveTo>
                    <a:pt x="0" y="0"/>
                  </a:moveTo>
                  <a:lnTo>
                    <a:pt x="136906" y="0"/>
                  </a:lnTo>
                  <a:lnTo>
                    <a:pt x="136906" y="964438"/>
                  </a:lnTo>
                  <a:lnTo>
                    <a:pt x="0" y="964438"/>
                  </a:lnTo>
                  <a:close/>
                </a:path>
              </a:pathLst>
            </a:custGeom>
            <a:solidFill>
              <a:srgbClr val="000000"/>
            </a:solidFill>
          </p:spPr>
        </p:sp>
      </p:grpSp>
      <p:sp>
        <p:nvSpPr>
          <p:cNvPr id="11" name="Freeform 11"/>
          <p:cNvSpPr/>
          <p:nvPr/>
        </p:nvSpPr>
        <p:spPr>
          <a:xfrm>
            <a:off x="15228227" y="5843568"/>
            <a:ext cx="1834010" cy="382810"/>
          </a:xfrm>
          <a:custGeom>
            <a:avLst/>
            <a:gdLst/>
            <a:ahLst/>
            <a:cxnLst/>
            <a:rect l="l" t="t" r="r" b="b"/>
            <a:pathLst>
              <a:path w="1834010" h="382810">
                <a:moveTo>
                  <a:pt x="0" y="0"/>
                </a:moveTo>
                <a:lnTo>
                  <a:pt x="1834010" y="0"/>
                </a:lnTo>
                <a:lnTo>
                  <a:pt x="1834010" y="382810"/>
                </a:lnTo>
                <a:lnTo>
                  <a:pt x="0" y="38281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1465671" y="4627007"/>
            <a:ext cx="2515457" cy="739016"/>
          </a:xfrm>
          <a:custGeom>
            <a:avLst/>
            <a:gdLst/>
            <a:ahLst/>
            <a:cxnLst/>
            <a:rect l="l" t="t" r="r" b="b"/>
            <a:pathLst>
              <a:path w="2515457" h="739016">
                <a:moveTo>
                  <a:pt x="0" y="0"/>
                </a:moveTo>
                <a:lnTo>
                  <a:pt x="2515457" y="0"/>
                </a:lnTo>
                <a:lnTo>
                  <a:pt x="2515457" y="739016"/>
                </a:lnTo>
                <a:lnTo>
                  <a:pt x="0" y="7390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210452" y="1809609"/>
            <a:ext cx="788677" cy="2185535"/>
          </a:xfrm>
          <a:prstGeom prst="rect">
            <a:avLst/>
          </a:prstGeom>
        </p:spPr>
        <p:txBody>
          <a:bodyPr vert="eaVert" lIns="0" tIns="0" rIns="0" bIns="0" rtlCol="0" anchor="t">
            <a:spAutoFit/>
          </a:bodyPr>
          <a:lstStyle/>
          <a:p>
            <a:pPr algn="l">
              <a:lnSpc>
                <a:spcPts val="5760"/>
              </a:lnSpc>
            </a:pPr>
            <a:r>
              <a:rPr lang="en-US" sz="6000" dirty="0">
                <a:solidFill>
                  <a:srgbClr val="9B7D3E"/>
                </a:solidFill>
                <a:latin typeface="Times New Roman" panose="02020603050405020304" pitchFamily="18" charset="0"/>
                <a:ea typeface="Arimo" panose="020B0604020202020204"/>
                <a:cs typeface="Times New Roman" panose="02020603050405020304" pitchFamily="18" charset="0"/>
                <a:sym typeface="Arimo" panose="020B0604020202020204"/>
              </a:rPr>
              <a:t>Cases</a:t>
            </a:r>
          </a:p>
        </p:txBody>
      </p:sp>
      <p:grpSp>
        <p:nvGrpSpPr>
          <p:cNvPr id="29" name="Group 3"/>
          <p:cNvGrpSpPr/>
          <p:nvPr/>
        </p:nvGrpSpPr>
        <p:grpSpPr>
          <a:xfrm>
            <a:off x="3325386" y="1307595"/>
            <a:ext cx="14020800" cy="1772860"/>
            <a:chOff x="0" y="0"/>
            <a:chExt cx="16314306" cy="6759626"/>
          </a:xfrm>
        </p:grpSpPr>
        <p:sp>
          <p:nvSpPr>
            <p:cNvPr id="30" name="Freeform 4"/>
            <p:cNvSpPr/>
            <p:nvPr/>
          </p:nvSpPr>
          <p:spPr>
            <a:xfrm>
              <a:off x="0" y="0"/>
              <a:ext cx="16314293" cy="6759575"/>
            </a:xfrm>
            <a:custGeom>
              <a:avLst/>
              <a:gdLst/>
              <a:ahLst/>
              <a:cxnLst/>
              <a:rect l="l" t="t" r="r" b="b"/>
              <a:pathLst>
                <a:path w="16314293" h="6759575">
                  <a:moveTo>
                    <a:pt x="57150" y="0"/>
                  </a:moveTo>
                  <a:lnTo>
                    <a:pt x="16257143" y="0"/>
                  </a:lnTo>
                  <a:cubicBezTo>
                    <a:pt x="16288765" y="0"/>
                    <a:pt x="16314293" y="25527"/>
                    <a:pt x="16314293" y="57150"/>
                  </a:cubicBezTo>
                  <a:lnTo>
                    <a:pt x="16314293" y="6702425"/>
                  </a:lnTo>
                  <a:cubicBezTo>
                    <a:pt x="16314293" y="6734048"/>
                    <a:pt x="16288765" y="6759575"/>
                    <a:pt x="16257143" y="6759575"/>
                  </a:cubicBezTo>
                  <a:lnTo>
                    <a:pt x="57150" y="6759575"/>
                  </a:lnTo>
                  <a:cubicBezTo>
                    <a:pt x="25527" y="6759575"/>
                    <a:pt x="0" y="6734048"/>
                    <a:pt x="0" y="6702425"/>
                  </a:cubicBezTo>
                  <a:lnTo>
                    <a:pt x="0" y="57150"/>
                  </a:lnTo>
                  <a:cubicBezTo>
                    <a:pt x="0" y="25527"/>
                    <a:pt x="25527" y="0"/>
                    <a:pt x="57150" y="0"/>
                  </a:cubicBezTo>
                  <a:moveTo>
                    <a:pt x="57150" y="114300"/>
                  </a:moveTo>
                  <a:lnTo>
                    <a:pt x="57150" y="57150"/>
                  </a:lnTo>
                  <a:lnTo>
                    <a:pt x="114300" y="57150"/>
                  </a:lnTo>
                  <a:lnTo>
                    <a:pt x="114300" y="6702425"/>
                  </a:lnTo>
                  <a:lnTo>
                    <a:pt x="57150" y="6702425"/>
                  </a:lnTo>
                  <a:lnTo>
                    <a:pt x="57150" y="6645275"/>
                  </a:lnTo>
                  <a:lnTo>
                    <a:pt x="16257143" y="6645275"/>
                  </a:lnTo>
                  <a:lnTo>
                    <a:pt x="16257143" y="6702425"/>
                  </a:lnTo>
                  <a:lnTo>
                    <a:pt x="16199993" y="6702425"/>
                  </a:lnTo>
                  <a:lnTo>
                    <a:pt x="16199993" y="57150"/>
                  </a:lnTo>
                  <a:lnTo>
                    <a:pt x="16257143" y="57150"/>
                  </a:lnTo>
                  <a:lnTo>
                    <a:pt x="16257143" y="114300"/>
                  </a:lnTo>
                  <a:lnTo>
                    <a:pt x="57150" y="114300"/>
                  </a:lnTo>
                  <a:close/>
                </a:path>
              </a:pathLst>
            </a:custGeom>
            <a:solidFill>
              <a:srgbClr val="000000"/>
            </a:solidFill>
          </p:spPr>
        </p:sp>
      </p:grpSp>
      <p:sp>
        <p:nvSpPr>
          <p:cNvPr id="33" name="文本框 32"/>
          <p:cNvSpPr txBox="1"/>
          <p:nvPr/>
        </p:nvSpPr>
        <p:spPr>
          <a:xfrm>
            <a:off x="4557184" y="6104561"/>
            <a:ext cx="11277600" cy="1569660"/>
          </a:xfrm>
          <a:prstGeom prst="rect">
            <a:avLst/>
          </a:prstGeom>
          <a:noFill/>
        </p:spPr>
        <p:txBody>
          <a:bodyPr wrap="square" rtlCol="0">
            <a:spAutoFit/>
          </a:bodyPr>
          <a:lstStyle/>
          <a:p>
            <a:pPr algn="ctr"/>
            <a:r>
              <a:rPr lang="en-US" altLang="zh-CN" sz="2400" b="1" dirty="0">
                <a:solidFill>
                  <a:srgbClr val="540E04"/>
                </a:solidFill>
                <a:latin typeface="Times New Roman" panose="02020603050405020304" pitchFamily="18" charset="0"/>
                <a:cs typeface="Times New Roman" panose="02020603050405020304" pitchFamily="18" charset="0"/>
              </a:rPr>
              <a:t>Thai Rubber Authority </a:t>
            </a:r>
            <a:r>
              <a:rPr lang="en-US" altLang="zh-CN" sz="2400" dirty="0">
                <a:latin typeface="Times New Roman" panose="02020603050405020304" pitchFamily="18" charset="0"/>
                <a:cs typeface="Times New Roman" panose="02020603050405020304" pitchFamily="18" charset="0"/>
              </a:rPr>
              <a:t>: Elders' Council</a:t>
            </a:r>
          </a:p>
          <a:p>
            <a:pPr algn="ctr"/>
            <a:endParaRPr lang="en-US" altLang="zh-CN" sz="2400" dirty="0">
              <a:latin typeface="Times New Roman" panose="02020603050405020304" pitchFamily="18" charset="0"/>
              <a:cs typeface="Times New Roman" panose="02020603050405020304" pitchFamily="18" charset="0"/>
            </a:endParaRPr>
          </a:p>
          <a:p>
            <a:pPr algn="ctr"/>
            <a:endParaRPr lang="en-US" altLang="zh-CN" sz="2400" dirty="0">
              <a:latin typeface="Times New Roman" panose="02020603050405020304" pitchFamily="18" charset="0"/>
              <a:cs typeface="Times New Roman" panose="02020603050405020304" pitchFamily="18" charset="0"/>
            </a:endParaRPr>
          </a:p>
          <a:p>
            <a:pPr algn="ctr"/>
            <a:r>
              <a:rPr lang="en-US" altLang="zh-CN" sz="2400" b="1" dirty="0">
                <a:solidFill>
                  <a:srgbClr val="540E04"/>
                </a:solidFill>
                <a:latin typeface="Times New Roman" panose="02020603050405020304" pitchFamily="18" charset="0"/>
                <a:cs typeface="Times New Roman" panose="02020603050405020304" pitchFamily="18" charset="0"/>
              </a:rPr>
              <a:t>Modern Industrial Civilization </a:t>
            </a:r>
            <a:r>
              <a:rPr lang="en-US" altLang="zh-CN" sz="2400" dirty="0">
                <a:latin typeface="Times New Roman" panose="02020603050405020304" pitchFamily="18" charset="0"/>
                <a:cs typeface="Times New Roman" panose="02020603050405020304" pitchFamily="18" charset="0"/>
              </a:rPr>
              <a:t>: modern enterprise management</a:t>
            </a:r>
            <a:endParaRPr lang="zh-CN" altLang="en-US" sz="2400" dirty="0">
              <a:latin typeface="Times New Roman" panose="02020603050405020304" pitchFamily="18" charset="0"/>
              <a:cs typeface="Times New Roman" panose="02020603050405020304" pitchFamily="18" charset="0"/>
            </a:endParaRPr>
          </a:p>
        </p:txBody>
      </p:sp>
      <p:sp>
        <p:nvSpPr>
          <p:cNvPr id="34" name="箭头: 上下 33"/>
          <p:cNvSpPr/>
          <p:nvPr/>
        </p:nvSpPr>
        <p:spPr>
          <a:xfrm>
            <a:off x="10129414" y="1818350"/>
            <a:ext cx="76200" cy="657234"/>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35" name="Group 3"/>
          <p:cNvGrpSpPr/>
          <p:nvPr/>
        </p:nvGrpSpPr>
        <p:grpSpPr>
          <a:xfrm>
            <a:off x="3346309" y="5981700"/>
            <a:ext cx="14020800" cy="1772860"/>
            <a:chOff x="0" y="0"/>
            <a:chExt cx="16314306" cy="6759626"/>
          </a:xfrm>
        </p:grpSpPr>
        <p:sp>
          <p:nvSpPr>
            <p:cNvPr id="36" name="Freeform 4"/>
            <p:cNvSpPr/>
            <p:nvPr/>
          </p:nvSpPr>
          <p:spPr>
            <a:xfrm>
              <a:off x="0" y="0"/>
              <a:ext cx="16314293" cy="6759575"/>
            </a:xfrm>
            <a:custGeom>
              <a:avLst/>
              <a:gdLst/>
              <a:ahLst/>
              <a:cxnLst/>
              <a:rect l="l" t="t" r="r" b="b"/>
              <a:pathLst>
                <a:path w="16314293" h="6759575">
                  <a:moveTo>
                    <a:pt x="57150" y="0"/>
                  </a:moveTo>
                  <a:lnTo>
                    <a:pt x="16257143" y="0"/>
                  </a:lnTo>
                  <a:cubicBezTo>
                    <a:pt x="16288765" y="0"/>
                    <a:pt x="16314293" y="25527"/>
                    <a:pt x="16314293" y="57150"/>
                  </a:cubicBezTo>
                  <a:lnTo>
                    <a:pt x="16314293" y="6702425"/>
                  </a:lnTo>
                  <a:cubicBezTo>
                    <a:pt x="16314293" y="6734048"/>
                    <a:pt x="16288765" y="6759575"/>
                    <a:pt x="16257143" y="6759575"/>
                  </a:cubicBezTo>
                  <a:lnTo>
                    <a:pt x="57150" y="6759575"/>
                  </a:lnTo>
                  <a:cubicBezTo>
                    <a:pt x="25527" y="6759575"/>
                    <a:pt x="0" y="6734048"/>
                    <a:pt x="0" y="6702425"/>
                  </a:cubicBezTo>
                  <a:lnTo>
                    <a:pt x="0" y="57150"/>
                  </a:lnTo>
                  <a:cubicBezTo>
                    <a:pt x="0" y="25527"/>
                    <a:pt x="25527" y="0"/>
                    <a:pt x="57150" y="0"/>
                  </a:cubicBezTo>
                  <a:moveTo>
                    <a:pt x="57150" y="114300"/>
                  </a:moveTo>
                  <a:lnTo>
                    <a:pt x="57150" y="57150"/>
                  </a:lnTo>
                  <a:lnTo>
                    <a:pt x="114300" y="57150"/>
                  </a:lnTo>
                  <a:lnTo>
                    <a:pt x="114300" y="6702425"/>
                  </a:lnTo>
                  <a:lnTo>
                    <a:pt x="57150" y="6702425"/>
                  </a:lnTo>
                  <a:lnTo>
                    <a:pt x="57150" y="6645275"/>
                  </a:lnTo>
                  <a:lnTo>
                    <a:pt x="16257143" y="6645275"/>
                  </a:lnTo>
                  <a:lnTo>
                    <a:pt x="16257143" y="6702425"/>
                  </a:lnTo>
                  <a:lnTo>
                    <a:pt x="16199993" y="6702425"/>
                  </a:lnTo>
                  <a:lnTo>
                    <a:pt x="16199993" y="57150"/>
                  </a:lnTo>
                  <a:lnTo>
                    <a:pt x="16257143" y="57150"/>
                  </a:lnTo>
                  <a:lnTo>
                    <a:pt x="16257143" y="114300"/>
                  </a:lnTo>
                  <a:lnTo>
                    <a:pt x="57150" y="114300"/>
                  </a:lnTo>
                  <a:close/>
                </a:path>
              </a:pathLst>
            </a:custGeom>
            <a:solidFill>
              <a:srgbClr val="000000"/>
            </a:solidFill>
          </p:spPr>
        </p:sp>
      </p:grpSp>
      <p:sp>
        <p:nvSpPr>
          <p:cNvPr id="37" name="文本框 36"/>
          <p:cNvSpPr txBox="1"/>
          <p:nvPr/>
        </p:nvSpPr>
        <p:spPr>
          <a:xfrm>
            <a:off x="4528714" y="1362137"/>
            <a:ext cx="11277600" cy="1569660"/>
          </a:xfrm>
          <a:prstGeom prst="rect">
            <a:avLst/>
          </a:prstGeom>
          <a:noFill/>
        </p:spPr>
        <p:txBody>
          <a:bodyPr wrap="square" rtlCol="0">
            <a:spAutoFit/>
          </a:bodyPr>
          <a:lstStyle/>
          <a:p>
            <a:pPr algn="ctr"/>
            <a:r>
              <a:rPr lang="en-US" altLang="zh-CN" sz="2400" b="1" dirty="0">
                <a:solidFill>
                  <a:srgbClr val="540E04"/>
                </a:solidFill>
                <a:latin typeface="Times New Roman" panose="02020603050405020304" pitchFamily="18" charset="0"/>
                <a:cs typeface="Times New Roman" panose="02020603050405020304" pitchFamily="18" charset="0"/>
              </a:rPr>
              <a:t>indigenous peoples</a:t>
            </a:r>
            <a:r>
              <a:rPr lang="en-US" altLang="zh-CN" sz="2400" dirty="0">
                <a:latin typeface="Times New Roman" panose="02020603050405020304" pitchFamily="18" charset="0"/>
                <a:cs typeface="Times New Roman" panose="02020603050405020304" pitchFamily="18" charset="0"/>
              </a:rPr>
              <a:t>: the “circular rubber tapping method”, sustainable raw materials</a:t>
            </a:r>
            <a:endParaRPr lang="zh-CN" altLang="en-US" sz="2400" dirty="0">
              <a:latin typeface="Times New Roman" panose="02020603050405020304" pitchFamily="18" charset="0"/>
              <a:cs typeface="Times New Roman" panose="02020603050405020304" pitchFamily="18" charset="0"/>
            </a:endParaRPr>
          </a:p>
          <a:p>
            <a:pPr algn="ctr"/>
            <a:endParaRPr lang="en-US" altLang="zh-CN" sz="2400" b="1" dirty="0">
              <a:solidFill>
                <a:srgbClr val="540E04"/>
              </a:solidFill>
              <a:latin typeface="Times New Roman" panose="02020603050405020304" pitchFamily="18" charset="0"/>
              <a:cs typeface="Times New Roman" panose="02020603050405020304" pitchFamily="18" charset="0"/>
            </a:endParaRPr>
          </a:p>
          <a:p>
            <a:pPr algn="ctr"/>
            <a:endParaRPr lang="en-US" altLang="zh-CN" sz="2400" b="1" dirty="0">
              <a:solidFill>
                <a:srgbClr val="540E04"/>
              </a:solidFill>
              <a:latin typeface="Times New Roman" panose="02020603050405020304" pitchFamily="18" charset="0"/>
              <a:cs typeface="Times New Roman" panose="02020603050405020304" pitchFamily="18" charset="0"/>
            </a:endParaRPr>
          </a:p>
          <a:p>
            <a:pPr algn="ctr"/>
            <a:r>
              <a:rPr lang="en-US" altLang="zh-CN" sz="2400" b="1" dirty="0">
                <a:solidFill>
                  <a:srgbClr val="540E04"/>
                </a:solidFill>
                <a:latin typeface="Times New Roman" panose="02020603050405020304" pitchFamily="18" charset="0"/>
                <a:cs typeface="Times New Roman" panose="02020603050405020304" pitchFamily="18" charset="0"/>
              </a:rPr>
              <a:t>Michelin</a:t>
            </a:r>
            <a:r>
              <a:rPr lang="en-US" altLang="zh-CN" sz="2400" dirty="0">
                <a:latin typeface="Times New Roman" panose="02020603050405020304" pitchFamily="18" charset="0"/>
                <a:cs typeface="Times New Roman" panose="02020603050405020304" pitchFamily="18" charset="0"/>
              </a:rPr>
              <a:t>: market rules, development funds</a:t>
            </a:r>
          </a:p>
        </p:txBody>
      </p:sp>
      <p:sp>
        <p:nvSpPr>
          <p:cNvPr id="38" name="箭头: 上下 37"/>
          <p:cNvSpPr/>
          <p:nvPr/>
        </p:nvSpPr>
        <p:spPr>
          <a:xfrm>
            <a:off x="10129414" y="6560774"/>
            <a:ext cx="76200" cy="657234"/>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7" name="Group 16"/>
          <p:cNvGrpSpPr/>
          <p:nvPr/>
        </p:nvGrpSpPr>
        <p:grpSpPr>
          <a:xfrm rot="16200000">
            <a:off x="3979338" y="7543930"/>
            <a:ext cx="1357312" cy="3009900"/>
            <a:chOff x="0" y="0"/>
            <a:chExt cx="1809750" cy="4013200"/>
          </a:xfrm>
        </p:grpSpPr>
        <p:sp>
          <p:nvSpPr>
            <p:cNvPr id="8" name="Freeform 17"/>
            <p:cNvSpPr/>
            <p:nvPr/>
          </p:nvSpPr>
          <p:spPr>
            <a:xfrm>
              <a:off x="0" y="0"/>
              <a:ext cx="1809750" cy="4013200"/>
            </a:xfrm>
            <a:custGeom>
              <a:avLst/>
              <a:gdLst/>
              <a:ahLst/>
              <a:cxnLst/>
              <a:rect l="l" t="t" r="r" b="b"/>
              <a:pathLst>
                <a:path w="1809750" h="4013200">
                  <a:moveTo>
                    <a:pt x="0" y="0"/>
                  </a:moveTo>
                  <a:lnTo>
                    <a:pt x="1809750" y="0"/>
                  </a:lnTo>
                  <a:lnTo>
                    <a:pt x="1809750" y="4013200"/>
                  </a:lnTo>
                  <a:lnTo>
                    <a:pt x="0" y="4013200"/>
                  </a:lnTo>
                  <a:lnTo>
                    <a:pt x="0" y="0"/>
                  </a:lnTo>
                  <a:close/>
                </a:path>
              </a:pathLst>
            </a:custGeom>
            <a:blipFill>
              <a:blip r:embed="rId6"/>
              <a:stretch>
                <a:fillRect r="-13639"/>
              </a:stretch>
            </a:blipFill>
          </p:spPr>
        </p:sp>
      </p:grpSp>
      <p:grpSp>
        <p:nvGrpSpPr>
          <p:cNvPr id="15" name="Group 16"/>
          <p:cNvGrpSpPr/>
          <p:nvPr/>
        </p:nvGrpSpPr>
        <p:grpSpPr>
          <a:xfrm rot="16200000">
            <a:off x="3992165" y="2758304"/>
            <a:ext cx="1357312" cy="3009900"/>
            <a:chOff x="0" y="0"/>
            <a:chExt cx="1809750" cy="4013200"/>
          </a:xfrm>
        </p:grpSpPr>
        <p:sp>
          <p:nvSpPr>
            <p:cNvPr id="16" name="Freeform 17"/>
            <p:cNvSpPr/>
            <p:nvPr/>
          </p:nvSpPr>
          <p:spPr>
            <a:xfrm>
              <a:off x="0" y="0"/>
              <a:ext cx="1809750" cy="4013200"/>
            </a:xfrm>
            <a:custGeom>
              <a:avLst/>
              <a:gdLst/>
              <a:ahLst/>
              <a:cxnLst/>
              <a:rect l="l" t="t" r="r" b="b"/>
              <a:pathLst>
                <a:path w="1809750" h="4013200">
                  <a:moveTo>
                    <a:pt x="0" y="0"/>
                  </a:moveTo>
                  <a:lnTo>
                    <a:pt x="1809750" y="0"/>
                  </a:lnTo>
                  <a:lnTo>
                    <a:pt x="1809750" y="4013200"/>
                  </a:lnTo>
                  <a:lnTo>
                    <a:pt x="0" y="4013200"/>
                  </a:lnTo>
                  <a:lnTo>
                    <a:pt x="0" y="0"/>
                  </a:lnTo>
                  <a:close/>
                </a:path>
              </a:pathLst>
            </a:custGeom>
            <a:blipFill>
              <a:blip r:embed="rId6"/>
              <a:stretch>
                <a:fillRect r="-13639"/>
              </a:stretch>
            </a:blipFill>
          </p:spPr>
        </p:sp>
      </p:grpSp>
      <p:sp>
        <p:nvSpPr>
          <p:cNvPr id="17" name="文本框 16"/>
          <p:cNvSpPr txBox="1"/>
          <p:nvPr/>
        </p:nvSpPr>
        <p:spPr>
          <a:xfrm>
            <a:off x="3529879" y="3521956"/>
            <a:ext cx="2341962" cy="1153521"/>
          </a:xfrm>
          <a:prstGeom prst="rect">
            <a:avLst/>
          </a:prstGeom>
          <a:noFill/>
        </p:spPr>
        <p:txBody>
          <a:bodyPr wrap="square">
            <a:spAutoFit/>
          </a:bodyPr>
          <a:lstStyle/>
          <a:p>
            <a:pPr algn="ctr">
              <a:lnSpc>
                <a:spcPts val="4320"/>
              </a:lnSpc>
            </a:pPr>
            <a:r>
              <a:rPr lang="en-US" altLang="zh-CN" sz="32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Economic system</a:t>
            </a:r>
          </a:p>
        </p:txBody>
      </p:sp>
      <p:sp>
        <p:nvSpPr>
          <p:cNvPr id="18" name="TextBox 29"/>
          <p:cNvSpPr txBox="1"/>
          <p:nvPr/>
        </p:nvSpPr>
        <p:spPr>
          <a:xfrm>
            <a:off x="5871845" y="3359785"/>
            <a:ext cx="4229735" cy="1661795"/>
          </a:xfrm>
          <a:prstGeom prst="rect">
            <a:avLst/>
          </a:prstGeom>
        </p:spPr>
        <p:txBody>
          <a:bodyPr wrap="square" lIns="0" tIns="0" rIns="0" bIns="0" rtlCol="0" anchor="t">
            <a:spAutoFit/>
          </a:bodyPr>
          <a:lstStyle/>
          <a:p>
            <a:pPr algn="ctr">
              <a:lnSpc>
                <a:spcPts val="4320"/>
              </a:lnSpc>
            </a:pPr>
            <a:r>
              <a:rPr lang="en-US" sz="24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rPr>
              <a:t>exploitative economy</a:t>
            </a:r>
          </a:p>
          <a:p>
            <a:pPr algn="ctr">
              <a:lnSpc>
                <a:spcPts val="4320"/>
              </a:lnSpc>
            </a:pPr>
            <a:endParaRPr lang="en-US" sz="24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a:p>
            <a:pPr algn="ctr">
              <a:lnSpc>
                <a:spcPts val="4320"/>
              </a:lnSpc>
            </a:pPr>
            <a:r>
              <a:rPr lang="en-US" sz="24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rPr>
              <a:t>bio-economy symbiosis</a:t>
            </a:r>
          </a:p>
        </p:txBody>
      </p:sp>
      <p:sp>
        <p:nvSpPr>
          <p:cNvPr id="20" name="TextBox 29"/>
          <p:cNvSpPr txBox="1"/>
          <p:nvPr/>
        </p:nvSpPr>
        <p:spPr>
          <a:xfrm>
            <a:off x="5941060" y="8075295"/>
            <a:ext cx="3751580" cy="1661795"/>
          </a:xfrm>
          <a:prstGeom prst="rect">
            <a:avLst/>
          </a:prstGeom>
        </p:spPr>
        <p:txBody>
          <a:bodyPr wrap="square" lIns="0" tIns="0" rIns="0" bIns="0" rtlCol="0" anchor="t">
            <a:spAutoFit/>
          </a:bodyPr>
          <a:lstStyle/>
          <a:p>
            <a:pPr algn="ctr">
              <a:lnSpc>
                <a:spcPts val="4320"/>
              </a:lnSpc>
            </a:pPr>
            <a:r>
              <a:rPr lang="en-US" sz="24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rPr>
              <a:t>colonial rule</a:t>
            </a:r>
          </a:p>
          <a:p>
            <a:pPr algn="ctr">
              <a:lnSpc>
                <a:spcPts val="4320"/>
              </a:lnSpc>
            </a:pPr>
            <a:endParaRPr lang="en-US" sz="24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endParaRPr>
          </a:p>
          <a:p>
            <a:pPr algn="ctr">
              <a:lnSpc>
                <a:spcPts val="4320"/>
              </a:lnSpc>
            </a:pPr>
            <a:r>
              <a:rPr lang="en-US" sz="2400" b="1" dirty="0">
                <a:solidFill>
                  <a:srgbClr val="C00000"/>
                </a:solidFill>
                <a:latin typeface="Times New Roman" panose="02020603050405020304" pitchFamily="18" charset="0"/>
                <a:ea typeface="Arimo" panose="020B0604020202020204"/>
                <a:cs typeface="Times New Roman" panose="02020603050405020304" pitchFamily="18" charset="0"/>
                <a:sym typeface="Arimo" panose="020B0604020202020204"/>
              </a:rPr>
              <a:t>diverse co-governance</a:t>
            </a:r>
          </a:p>
        </p:txBody>
      </p:sp>
      <p:cxnSp>
        <p:nvCxnSpPr>
          <p:cNvPr id="23" name="直接箭头连接符 22"/>
          <p:cNvCxnSpPr/>
          <p:nvPr/>
        </p:nvCxnSpPr>
        <p:spPr>
          <a:xfrm>
            <a:off x="8001000" y="4000500"/>
            <a:ext cx="0" cy="533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p:cNvCxnSpPr/>
          <p:nvPr/>
        </p:nvCxnSpPr>
        <p:spPr>
          <a:xfrm>
            <a:off x="7946060" y="8648700"/>
            <a:ext cx="0" cy="533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文本框 24"/>
          <p:cNvSpPr txBox="1"/>
          <p:nvPr/>
        </p:nvSpPr>
        <p:spPr>
          <a:xfrm>
            <a:off x="3529879" y="8295846"/>
            <a:ext cx="2341962" cy="1153521"/>
          </a:xfrm>
          <a:prstGeom prst="rect">
            <a:avLst/>
          </a:prstGeom>
          <a:noFill/>
        </p:spPr>
        <p:txBody>
          <a:bodyPr wrap="square">
            <a:spAutoFit/>
          </a:bodyPr>
          <a:lstStyle/>
          <a:p>
            <a:pPr algn="ctr">
              <a:lnSpc>
                <a:spcPts val="4320"/>
              </a:lnSpc>
            </a:pPr>
            <a:r>
              <a:rPr lang="en-US" altLang="zh-CN" sz="3200" dirty="0">
                <a:solidFill>
                  <a:srgbClr val="000000"/>
                </a:solidFill>
                <a:latin typeface="Times New Roman" panose="02020603050405020304" pitchFamily="18" charset="0"/>
                <a:ea typeface="Arimo" panose="020B0604020202020204"/>
                <a:cs typeface="Times New Roman" panose="02020603050405020304" pitchFamily="18" charset="0"/>
                <a:sym typeface="Arimo" panose="020B0604020202020204"/>
              </a:rPr>
              <a:t>Governance system</a:t>
            </a:r>
          </a:p>
        </p:txBody>
      </p:sp>
      <p:sp>
        <p:nvSpPr>
          <p:cNvPr id="26" name="文本框 25"/>
          <p:cNvSpPr txBox="1"/>
          <p:nvPr/>
        </p:nvSpPr>
        <p:spPr>
          <a:xfrm>
            <a:off x="10054590" y="3470910"/>
            <a:ext cx="7213600" cy="2306955"/>
          </a:xfrm>
          <a:prstGeom prst="rect">
            <a:avLst/>
          </a:prstGeom>
          <a:noFill/>
        </p:spPr>
        <p:txBody>
          <a:bodyPr wrap="square" rtlCol="0">
            <a:spAutoFit/>
          </a:bodyPr>
          <a:lstStyle/>
          <a:p>
            <a:pPr indent="0" algn="l" fontAlgn="auto"/>
            <a:r>
              <a:rPr lang="en-US" altLang="zh-CN" sz="2400" dirty="0">
                <a:latin typeface="Times New Roman" panose="02020603050405020304" pitchFamily="18" charset="0"/>
                <a:cs typeface="Times New Roman" panose="02020603050405020304" pitchFamily="18" charset="0"/>
              </a:rPr>
              <a:t>Economic development does not have to come at the cost of ecological destruction. The economic systems of different civilizations can </a:t>
            </a:r>
            <a:r>
              <a:rPr lang="en-US" altLang="zh-CN" sz="2400" b="1" dirty="0">
                <a:latin typeface="Times New Roman" panose="02020603050405020304" pitchFamily="18" charset="0"/>
                <a:cs typeface="Times New Roman" panose="02020603050405020304" pitchFamily="18" charset="0"/>
              </a:rPr>
              <a:t>find a balanced point </a:t>
            </a:r>
            <a:r>
              <a:rPr lang="en-US" altLang="zh-CN" sz="2400" dirty="0">
                <a:latin typeface="Times New Roman" panose="02020603050405020304" pitchFamily="18" charset="0"/>
                <a:cs typeface="Times New Roman" panose="02020603050405020304" pitchFamily="18" charset="0"/>
              </a:rPr>
              <a:t>of </a:t>
            </a:r>
            <a:r>
              <a:rPr lang="en-US" altLang="zh-CN" sz="2400" b="1" dirty="0">
                <a:latin typeface="Times New Roman" panose="02020603050405020304" pitchFamily="18" charset="0"/>
                <a:cs typeface="Times New Roman" panose="02020603050405020304" pitchFamily="18" charset="0"/>
              </a:rPr>
              <a:t>mutual benefit and symbiosis </a:t>
            </a:r>
            <a:r>
              <a:rPr lang="en-US" altLang="zh-CN" sz="2400" dirty="0">
                <a:latin typeface="Times New Roman" panose="02020603050405020304" pitchFamily="18" charset="0"/>
                <a:cs typeface="Times New Roman" panose="02020603050405020304" pitchFamily="18" charset="0"/>
              </a:rPr>
              <a:t>within the “web of life” rather than engaging in a </a:t>
            </a:r>
            <a:r>
              <a:rPr lang="en-US" altLang="zh-CN" sz="2400" b="1" dirty="0">
                <a:latin typeface="Times New Roman" panose="02020603050405020304" pitchFamily="18" charset="0"/>
                <a:cs typeface="Times New Roman" panose="02020603050405020304" pitchFamily="18" charset="0"/>
              </a:rPr>
              <a:t>zero - sum game</a:t>
            </a:r>
            <a:r>
              <a:rPr lang="en-US" altLang="zh-CN" sz="2400" dirty="0">
                <a:latin typeface="Times New Roman" panose="02020603050405020304" pitchFamily="18" charset="0"/>
                <a:cs typeface="Times New Roman" panose="02020603050405020304" pitchFamily="18" charset="0"/>
              </a:rPr>
              <a:t>.</a:t>
            </a:r>
          </a:p>
          <a:p>
            <a:pPr indent="0" algn="l" fontAlgn="auto"/>
            <a:endParaRPr lang="zh-CN" altLang="en-US" sz="2400" dirty="0">
              <a:latin typeface="Times New Roman" panose="02020603050405020304" pitchFamily="18" charset="0"/>
              <a:cs typeface="Times New Roman" panose="02020603050405020304" pitchFamily="18" charset="0"/>
            </a:endParaRPr>
          </a:p>
        </p:txBody>
      </p:sp>
      <p:sp>
        <p:nvSpPr>
          <p:cNvPr id="39" name="文本框 38"/>
          <p:cNvSpPr txBox="1"/>
          <p:nvPr/>
        </p:nvSpPr>
        <p:spPr>
          <a:xfrm>
            <a:off x="10019030" y="8134350"/>
            <a:ext cx="7383145" cy="1938020"/>
          </a:xfrm>
          <a:prstGeom prst="rect">
            <a:avLst/>
          </a:prstGeom>
          <a:noFill/>
        </p:spPr>
        <p:txBody>
          <a:bodyPr wrap="square" rtlCol="0">
            <a:spAutoFit/>
          </a:bodyPr>
          <a:lstStyle/>
          <a:p>
            <a:pPr algn="l"/>
            <a:r>
              <a:rPr lang="en-US" altLang="zh-CN" sz="2400"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transnational evolution of environmental governance ideas</a:t>
            </a:r>
            <a:r>
              <a:rPr lang="en-US" altLang="zh-CN" sz="2400" dirty="0">
                <a:latin typeface="Times New Roman" panose="02020603050405020304" pitchFamily="18" charset="0"/>
                <a:cs typeface="Times New Roman" panose="02020603050405020304" pitchFamily="18" charset="0"/>
              </a:rPr>
              <a:t>”: the environmental anxieties and management policies of different civilizations can </a:t>
            </a:r>
            <a:r>
              <a:rPr lang="en-US" altLang="zh-CN" sz="2400" b="1" dirty="0">
                <a:latin typeface="Times New Roman" panose="02020603050405020304" pitchFamily="18" charset="0"/>
                <a:cs typeface="Times New Roman" panose="02020603050405020304" pitchFamily="18" charset="0"/>
              </a:rPr>
              <a:t>inspire each other</a:t>
            </a:r>
            <a:r>
              <a:rPr lang="en-US" altLang="zh-CN" sz="2400" dirty="0">
                <a:latin typeface="Times New Roman" panose="02020603050405020304" pitchFamily="18" charset="0"/>
                <a:cs typeface="Times New Roman" panose="02020603050405020304" pitchFamily="18" charset="0"/>
              </a:rPr>
              <a:t> to </a:t>
            </a:r>
            <a:r>
              <a:rPr lang="en-US" altLang="zh-CN" sz="2400" b="1" dirty="0">
                <a:latin typeface="Times New Roman" panose="02020603050405020304" pitchFamily="18" charset="0"/>
                <a:cs typeface="Times New Roman" panose="02020603050405020304" pitchFamily="18" charset="0"/>
              </a:rPr>
              <a:t>jointly</a:t>
            </a:r>
            <a:r>
              <a:rPr lang="en-US" altLang="zh-CN" sz="2400" dirty="0">
                <a:latin typeface="Times New Roman" panose="02020603050405020304" pitchFamily="18" charset="0"/>
                <a:cs typeface="Times New Roman" panose="02020603050405020304" pitchFamily="18" charset="0"/>
              </a:rPr>
              <a:t> address the </a:t>
            </a:r>
            <a:r>
              <a:rPr lang="en-US" altLang="zh-CN" sz="2400" b="1" dirty="0">
                <a:latin typeface="Times New Roman" panose="02020603050405020304" pitchFamily="18" charset="0"/>
                <a:cs typeface="Times New Roman" panose="02020603050405020304" pitchFamily="18" charset="0"/>
              </a:rPr>
              <a:t>global ecological crisis</a:t>
            </a:r>
            <a:r>
              <a:rPr lang="en-US" altLang="zh-CN" sz="2400" dirty="0">
                <a:latin typeface="Times New Roman" panose="02020603050405020304" pitchFamily="18" charset="0"/>
                <a:cs typeface="Times New Roman" panose="02020603050405020304" pitchFamily="18" charset="0"/>
              </a:rPr>
              <a:t>.</a:t>
            </a:r>
          </a:p>
          <a:p>
            <a:pPr algn="l"/>
            <a:endParaRPr lang="zh-CN" altLang="en-US" sz="2400" dirty="0">
              <a:latin typeface="Times New Roman" panose="02020603050405020304" pitchFamily="18" charset="0"/>
              <a:cs typeface="Times New Roman" panose="02020603050405020304" pitchFamily="18" charset="0"/>
            </a:endParaRPr>
          </a:p>
        </p:txBody>
      </p:sp>
      <p:sp>
        <p:nvSpPr>
          <p:cNvPr id="40" name="文本框 39"/>
          <p:cNvSpPr txBox="1"/>
          <p:nvPr/>
        </p:nvSpPr>
        <p:spPr>
          <a:xfrm>
            <a:off x="3774889" y="1708776"/>
            <a:ext cx="1447800" cy="1107996"/>
          </a:xfrm>
          <a:prstGeom prst="rect">
            <a:avLst/>
          </a:prstGeom>
          <a:noFill/>
        </p:spPr>
        <p:txBody>
          <a:bodyPr wrap="square" rtlCol="0">
            <a:spAutoFit/>
          </a:bodyPr>
          <a:lstStyle/>
          <a:p>
            <a:r>
              <a:rPr lang="zh-CN" altLang="en-US" sz="6600" dirty="0"/>
              <a:t>③</a:t>
            </a:r>
          </a:p>
        </p:txBody>
      </p:sp>
      <p:sp>
        <p:nvSpPr>
          <p:cNvPr id="41" name="文本框 40"/>
          <p:cNvSpPr txBox="1"/>
          <p:nvPr/>
        </p:nvSpPr>
        <p:spPr>
          <a:xfrm>
            <a:off x="3804814" y="6400392"/>
            <a:ext cx="1447800" cy="1107996"/>
          </a:xfrm>
          <a:prstGeom prst="rect">
            <a:avLst/>
          </a:prstGeom>
          <a:noFill/>
        </p:spPr>
        <p:txBody>
          <a:bodyPr wrap="square" rtlCol="0">
            <a:spAutoFit/>
          </a:bodyPr>
          <a:lstStyle/>
          <a:p>
            <a:r>
              <a:rPr lang="zh-CN" altLang="en-US" sz="6600" dirty="0"/>
              <a:t>④</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90000"/>
            </a:blip>
            <a:stretch>
              <a:fillRect/>
            </a:stretch>
          </a:blipFill>
        </p:spPr>
      </p:sp>
      <p:grpSp>
        <p:nvGrpSpPr>
          <p:cNvPr id="5" name="Group 5"/>
          <p:cNvGrpSpPr/>
          <p:nvPr/>
        </p:nvGrpSpPr>
        <p:grpSpPr>
          <a:xfrm rot="-974340">
            <a:off x="-7320972" y="-6906873"/>
            <a:ext cx="18288000" cy="10287000"/>
            <a:chOff x="0" y="0"/>
            <a:chExt cx="24384000" cy="13716000"/>
          </a:xfrm>
        </p:grpSpPr>
        <p:sp>
          <p:nvSpPr>
            <p:cNvPr id="6" name="Freeform 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alphaModFix amt="55000"/>
              </a:blip>
              <a:stretch>
                <a:fillRect/>
              </a:stretch>
            </a:blipFill>
          </p:spPr>
        </p:sp>
      </p:grpSp>
      <p:grpSp>
        <p:nvGrpSpPr>
          <p:cNvPr id="3" name="组合 2"/>
          <p:cNvGrpSpPr/>
          <p:nvPr/>
        </p:nvGrpSpPr>
        <p:grpSpPr>
          <a:xfrm>
            <a:off x="914400" y="2183130"/>
            <a:ext cx="17476470" cy="6530975"/>
            <a:chOff x="1440" y="2238"/>
            <a:chExt cx="27522" cy="10285"/>
          </a:xfrm>
        </p:grpSpPr>
        <p:sp>
          <p:nvSpPr>
            <p:cNvPr id="7" name="Freeform 7"/>
            <p:cNvSpPr/>
            <p:nvPr/>
          </p:nvSpPr>
          <p:spPr>
            <a:xfrm>
              <a:off x="9382" y="4425"/>
              <a:ext cx="8127" cy="6032"/>
            </a:xfrm>
            <a:custGeom>
              <a:avLst/>
              <a:gdLst/>
              <a:ahLst/>
              <a:cxnLst/>
              <a:rect l="l" t="t" r="r" b="b"/>
              <a:pathLst>
                <a:path w="5560546" h="3830407">
                  <a:moveTo>
                    <a:pt x="0" y="0"/>
                  </a:moveTo>
                  <a:lnTo>
                    <a:pt x="5560547" y="0"/>
                  </a:lnTo>
                  <a:lnTo>
                    <a:pt x="5560547" y="3830408"/>
                  </a:lnTo>
                  <a:lnTo>
                    <a:pt x="0" y="3830408"/>
                  </a:lnTo>
                  <a:lnTo>
                    <a:pt x="0" y="0"/>
                  </a:lnTo>
                  <a:close/>
                </a:path>
              </a:pathLst>
            </a:custGeom>
            <a:blipFill>
              <a:blip r:embed="rId5"/>
              <a:stretch>
                <a:fillRect/>
              </a:stretch>
            </a:blipFill>
          </p:spPr>
          <p:txBody>
            <a:bodyPr/>
            <a:lstStyle/>
            <a:p>
              <a:endParaRPr lang="zh-CN" altLang="en-US" dirty="0"/>
            </a:p>
          </p:txBody>
        </p:sp>
        <p:sp>
          <p:nvSpPr>
            <p:cNvPr id="8" name="文本框 7"/>
            <p:cNvSpPr txBox="1"/>
            <p:nvPr/>
          </p:nvSpPr>
          <p:spPr>
            <a:xfrm>
              <a:off x="1560" y="2277"/>
              <a:ext cx="9898" cy="822"/>
            </a:xfrm>
            <a:prstGeom prst="rect">
              <a:avLst/>
            </a:prstGeom>
            <a:noFill/>
          </p:spPr>
          <p:txBody>
            <a:bodyPr wrap="square" rtlCol="0">
              <a:spAutoFit/>
            </a:bodyPr>
            <a:lstStyle/>
            <a:p>
              <a:pPr algn="l"/>
              <a:r>
                <a:rPr lang="en-US" altLang="zh-CN" sz="2800" b="1" dirty="0">
                  <a:solidFill>
                    <a:srgbClr val="540E04"/>
                  </a:solidFill>
                  <a:latin typeface="Times New Roman" panose="02020603050405020304" pitchFamily="18" charset="0"/>
                  <a:cs typeface="Times New Roman" panose="02020603050405020304" pitchFamily="18" charset="0"/>
                </a:rPr>
                <a:t>Reshape Cognition:  “Ecological Holism”</a:t>
              </a:r>
              <a:endParaRPr lang="zh-CN" altLang="en-US" sz="2800" b="1" dirty="0">
                <a:solidFill>
                  <a:srgbClr val="540E04"/>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7092" y="2238"/>
              <a:ext cx="11581" cy="822"/>
            </a:xfrm>
            <a:prstGeom prst="rect">
              <a:avLst/>
            </a:prstGeom>
            <a:noFill/>
          </p:spPr>
          <p:txBody>
            <a:bodyPr wrap="square" rtlCol="0">
              <a:spAutoFit/>
            </a:bodyPr>
            <a:lstStyle/>
            <a:p>
              <a:pPr algn="l"/>
              <a:r>
                <a:rPr lang="en-US" altLang="zh-CN" sz="2800" b="1" dirty="0">
                  <a:solidFill>
                    <a:srgbClr val="540E04"/>
                  </a:solidFill>
                  <a:latin typeface="Times New Roman" panose="02020603050405020304" pitchFamily="18" charset="0"/>
                  <a:cs typeface="Times New Roman" panose="02020603050405020304" pitchFamily="18" charset="0"/>
                </a:rPr>
                <a:t>Correct the Economy: “Internalizing Costs”</a:t>
              </a:r>
              <a:endParaRPr lang="zh-CN" altLang="en-US" sz="2800" b="1" dirty="0">
                <a:solidFill>
                  <a:srgbClr val="540E04"/>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1440" y="7620"/>
              <a:ext cx="9636" cy="1501"/>
            </a:xfrm>
            <a:prstGeom prst="rect">
              <a:avLst/>
            </a:prstGeom>
            <a:noFill/>
          </p:spPr>
          <p:txBody>
            <a:bodyPr wrap="square" rtlCol="0">
              <a:spAutoFit/>
            </a:bodyPr>
            <a:lstStyle/>
            <a:p>
              <a:pPr algn="l"/>
              <a:r>
                <a:rPr lang="en-US" altLang="zh-CN" sz="2800" b="1" dirty="0">
                  <a:solidFill>
                    <a:srgbClr val="540E04"/>
                  </a:solidFill>
                  <a:latin typeface="Times New Roman" panose="02020603050405020304" pitchFamily="18" charset="0"/>
                  <a:cs typeface="Times New Roman" panose="02020603050405020304" pitchFamily="18" charset="0"/>
                </a:rPr>
                <a:t>Clarify History: “Repaying Ecological Debts”</a:t>
              </a:r>
              <a:endParaRPr lang="zh-CN" altLang="en-US" sz="2800" b="1" dirty="0">
                <a:solidFill>
                  <a:srgbClr val="540E04"/>
                </a:solidFill>
                <a:latin typeface="Times New Roman" panose="02020603050405020304" pitchFamily="18" charset="0"/>
                <a:cs typeface="Times New Roman" panose="02020603050405020304" pitchFamily="18" charset="0"/>
              </a:endParaRPr>
            </a:p>
          </p:txBody>
        </p:sp>
        <p:sp>
          <p:nvSpPr>
            <p:cNvPr id="11" name="文本框 10"/>
            <p:cNvSpPr txBox="1"/>
            <p:nvPr/>
          </p:nvSpPr>
          <p:spPr>
            <a:xfrm>
              <a:off x="17280" y="7620"/>
              <a:ext cx="11682" cy="1501"/>
            </a:xfrm>
            <a:prstGeom prst="rect">
              <a:avLst/>
            </a:prstGeom>
            <a:noFill/>
          </p:spPr>
          <p:txBody>
            <a:bodyPr wrap="square" rtlCol="0">
              <a:spAutoFit/>
            </a:bodyPr>
            <a:lstStyle/>
            <a:p>
              <a:pPr algn="l"/>
              <a:r>
                <a:rPr lang="en-US" altLang="zh-CN" sz="2800" b="1" dirty="0">
                  <a:solidFill>
                    <a:srgbClr val="540E04"/>
                  </a:solidFill>
                  <a:latin typeface="Times New Roman" panose="02020603050405020304" pitchFamily="18" charset="0"/>
                  <a:cs typeface="Times New Roman" panose="02020603050405020304" pitchFamily="18" charset="0"/>
                </a:rPr>
                <a:t>Transform Governance: “Diverse Ecological Co – governance”</a:t>
              </a:r>
              <a:endParaRPr lang="zh-CN" altLang="en-US" sz="2800" b="1" dirty="0">
                <a:solidFill>
                  <a:srgbClr val="540E04"/>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1743" y="3180"/>
              <a:ext cx="9707" cy="2809"/>
            </a:xfrm>
            <a:prstGeom prst="rect">
              <a:avLst/>
            </a:prstGeom>
            <a:noFill/>
          </p:spPr>
          <p:txBody>
            <a:bodyPr wrap="square" rtlCol="0">
              <a:spAutoFit/>
            </a:bodyPr>
            <a:lstStyle/>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Targeted Challenges</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 Global plastic pollution and loss of biodiversity.</a:t>
              </a:r>
            </a:p>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Specific Measures </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 When dealing with plastic pollution, we must incorporate the "health of the marine ecosystem" into the core considerations.</a:t>
              </a:r>
            </a:p>
          </p:txBody>
        </p:sp>
        <p:sp>
          <p:nvSpPr>
            <p:cNvPr id="13" name="文本框 12"/>
            <p:cNvSpPr txBox="1"/>
            <p:nvPr/>
          </p:nvSpPr>
          <p:spPr>
            <a:xfrm>
              <a:off x="17202" y="3180"/>
              <a:ext cx="10405" cy="2809"/>
            </a:xfrm>
            <a:prstGeom prst="rect">
              <a:avLst/>
            </a:prstGeom>
            <a:noFill/>
          </p:spPr>
          <p:txBody>
            <a:bodyPr wrap="square" rtlCol="0">
              <a:spAutoFit/>
            </a:bodyPr>
            <a:lstStyle/>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Targeted Challenges: </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Ecological damage in the development of transition minerals (such as lithium and cobalt mines).</a:t>
              </a:r>
            </a:p>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Specific Measures : </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Establish a global unified "real - cost accounting system"</a:t>
              </a:r>
              <a:endParaRPr lang="zh-CN" altLang="en-US" sz="22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1629" y="9180"/>
              <a:ext cx="9841" cy="3343"/>
            </a:xfrm>
            <a:prstGeom prst="rect">
              <a:avLst/>
            </a:prstGeom>
            <a:noFill/>
          </p:spPr>
          <p:txBody>
            <a:bodyPr wrap="square" rtlCol="0">
              <a:spAutoFit/>
            </a:bodyPr>
            <a:lstStyle/>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Targeted Challenges</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 International climate justice and the financial gap.</a:t>
              </a:r>
            </a:p>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Specific Measures </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 Developed countries must provide free, non - debt - based financial and technological transfers to countries in the Global South to help them adapt to climate change.</a:t>
              </a:r>
            </a:p>
          </p:txBody>
        </p:sp>
        <p:sp>
          <p:nvSpPr>
            <p:cNvPr id="15" name="文本框 14"/>
            <p:cNvSpPr txBox="1"/>
            <p:nvPr/>
          </p:nvSpPr>
          <p:spPr>
            <a:xfrm>
              <a:off x="17269" y="9180"/>
              <a:ext cx="10247" cy="2809"/>
            </a:xfrm>
            <a:prstGeom prst="rect">
              <a:avLst/>
            </a:prstGeom>
            <a:noFill/>
          </p:spPr>
          <p:txBody>
            <a:bodyPr wrap="square" rtlCol="0">
              <a:spAutoFit/>
            </a:bodyPr>
            <a:lstStyle/>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Targeted Challenges</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 Stalemates in international negotiations and the neglect of indigenous rights.</a:t>
              </a:r>
            </a:p>
            <a:p>
              <a:pPr marL="342900" indent="-342900" algn="l">
                <a:buFont typeface="Wingdings" panose="05000000000000000000" charset="0"/>
                <a:buChar char="l"/>
              </a:pPr>
              <a:r>
                <a:rPr lang="en-US" altLang="zh-CN" sz="2200" b="1" dirty="0">
                  <a:solidFill>
                    <a:schemeClr val="tx1">
                      <a:lumMod val="75000"/>
                      <a:lumOff val="25000"/>
                    </a:schemeClr>
                  </a:solidFill>
                  <a:latin typeface="Times New Roman" panose="02020603050405020304" pitchFamily="18" charset="0"/>
                  <a:cs typeface="Times New Roman" panose="02020603050405020304" pitchFamily="18" charset="0"/>
                </a:rPr>
                <a:t>Specific Measures </a:t>
              </a:r>
              <a:r>
                <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rPr>
                <a:t>: Establish an inclusive "Earth Parliament," respects and integrates diverse ecological wisdom</a:t>
              </a:r>
            </a:p>
          </p:txBody>
        </p:sp>
      </p:grpSp>
      <p:sp>
        <p:nvSpPr>
          <p:cNvPr id="16" name="文本框 15"/>
          <p:cNvSpPr txBox="1"/>
          <p:nvPr/>
        </p:nvSpPr>
        <p:spPr>
          <a:xfrm>
            <a:off x="5334000" y="952500"/>
            <a:ext cx="9272270" cy="768350"/>
          </a:xfrm>
          <a:prstGeom prst="rect">
            <a:avLst/>
          </a:prstGeom>
          <a:noFill/>
        </p:spPr>
        <p:txBody>
          <a:bodyPr wrap="square" rtlCol="0">
            <a:spAutoFit/>
          </a:bodyPr>
          <a:lstStyle/>
          <a:p>
            <a:r>
              <a:rPr lang="en-US" altLang="zh-CN" sz="4400" b="1" dirty="0">
                <a:solidFill>
                  <a:srgbClr val="9B7D3E"/>
                </a:solidFill>
                <a:latin typeface="Times New Roman" panose="02020603050405020304" pitchFamily="18" charset="0"/>
                <a:cs typeface="Times New Roman" panose="02020603050405020304" pitchFamily="18" charset="0"/>
              </a:rPr>
              <a:t>Contemporary Revelation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6200" y="-114300"/>
            <a:ext cx="18440400" cy="2990215"/>
          </a:xfrm>
          <a:prstGeom prst="rect">
            <a:avLst/>
          </a:prstGeom>
          <a:gradFill>
            <a:gsLst>
              <a:gs pos="0">
                <a:schemeClr val="accent1">
                  <a:lumMod val="50000"/>
                </a:schemeClr>
              </a:gs>
              <a:gs pos="100000">
                <a:schemeClr val="tx1">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TextBox 5"/>
          <p:cNvSpPr txBox="1"/>
          <p:nvPr/>
        </p:nvSpPr>
        <p:spPr>
          <a:xfrm>
            <a:off x="1676400" y="495300"/>
            <a:ext cx="15504280" cy="1107440"/>
          </a:xfrm>
          <a:prstGeom prst="rect">
            <a:avLst/>
          </a:prstGeom>
        </p:spPr>
        <p:txBody>
          <a:bodyPr wrap="square" lIns="0" tIns="0" rIns="0" bIns="0" rtlCol="0" anchor="t">
            <a:spAutoFit/>
            <a:scene3d>
              <a:camera prst="orthographicFront"/>
              <a:lightRig rig="threePt" dir="t"/>
            </a:scene3d>
          </a:bodyPr>
          <a:lstStyle/>
          <a:p>
            <a:pPr algn="l">
              <a:lnSpc>
                <a:spcPts val="8640"/>
              </a:lnSpc>
              <a:buClrTx/>
              <a:buSzTx/>
              <a:buFontTx/>
            </a:pPr>
            <a:r>
              <a:rPr lang="en-US" sz="6000" b="1" dirty="0">
                <a:solidFill>
                  <a:schemeClr val="bg1"/>
                </a:solidFill>
                <a:latin typeface="Times New Roman" panose="02020603050405020304" pitchFamily="18" charset="0"/>
                <a:ea typeface="Arimo" panose="020B0604020202020204"/>
                <a:cs typeface="Times New Roman" panose="02020603050405020304" pitchFamily="18" charset="0"/>
                <a:sym typeface="Arimo" panose="020B0604020202020204"/>
              </a:rPr>
              <a:t>Thanks for Listening</a:t>
            </a:r>
          </a:p>
        </p:txBody>
      </p:sp>
      <p:grpSp>
        <p:nvGrpSpPr>
          <p:cNvPr id="2" name="Group 2"/>
          <p:cNvGrpSpPr/>
          <p:nvPr/>
        </p:nvGrpSpPr>
        <p:grpSpPr>
          <a:xfrm>
            <a:off x="29" y="2857519"/>
            <a:ext cx="18287999" cy="10287000"/>
            <a:chOff x="101600" y="4521200"/>
            <a:chExt cx="24384000" cy="13716000"/>
          </a:xfrm>
        </p:grpSpPr>
        <p:sp>
          <p:nvSpPr>
            <p:cNvPr id="3" name="Freeform 3"/>
            <p:cNvSpPr/>
            <p:nvPr/>
          </p:nvSpPr>
          <p:spPr>
            <a:xfrm>
              <a:off x="101600" y="452120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alphaModFix amt="55000"/>
              </a:blip>
              <a:stretch>
                <a:fillRect r="-75"/>
              </a:stretch>
            </a:blipFill>
          </p:spPr>
        </p:sp>
      </p:grpSp>
      <p:sp>
        <p:nvSpPr>
          <p:cNvPr id="4" name="TextBox 4"/>
          <p:cNvSpPr txBox="1"/>
          <p:nvPr/>
        </p:nvSpPr>
        <p:spPr>
          <a:xfrm>
            <a:off x="6028792" y="3543300"/>
            <a:ext cx="6230417" cy="461645"/>
          </a:xfrm>
          <a:prstGeom prst="rect">
            <a:avLst/>
          </a:prstGeom>
        </p:spPr>
        <p:txBody>
          <a:bodyPr lIns="0" tIns="0" rIns="0" bIns="0" rtlCol="0" anchor="t">
            <a:spAutoFit/>
          </a:bodyPr>
          <a:lstStyle/>
          <a:p>
            <a:pPr algn="ctr">
              <a:lnSpc>
                <a:spcPts val="3600"/>
              </a:lnSpc>
            </a:pPr>
            <a:r>
              <a:rPr lang="zh-CN" altLang="en-US" sz="3000" dirty="0">
                <a:solidFill>
                  <a:srgbClr val="000000"/>
                </a:solidFill>
                <a:latin typeface="微软雅黑" panose="020B0503020204020204" charset="-122"/>
                <a:ea typeface="微软雅黑" panose="020B0503020204020204" charset="-122"/>
                <a:cs typeface="微软雅黑" panose="020B0503020204020204" charset="-122"/>
                <a:sym typeface="Arimo" panose="020B0604020202020204"/>
              </a:rPr>
              <a:t>陆思辰 </a:t>
            </a:r>
            <a:r>
              <a:rPr lang="en-US" altLang="zh-CN" sz="3000" dirty="0">
                <a:solidFill>
                  <a:srgbClr val="000000"/>
                </a:solidFill>
                <a:latin typeface="微软雅黑" panose="020B0503020204020204" charset="-122"/>
                <a:ea typeface="微软雅黑" panose="020B0503020204020204" charset="-122"/>
                <a:cs typeface="微软雅黑" panose="020B0503020204020204" charset="-122"/>
                <a:sym typeface="Arimo" panose="020B0604020202020204"/>
              </a:rPr>
              <a:t>2530031201</a:t>
            </a:r>
            <a:endParaRPr lang="en-US" sz="3000" dirty="0">
              <a:solidFill>
                <a:srgbClr val="000000"/>
              </a:solidFill>
              <a:latin typeface="微软雅黑" panose="020B0503020204020204" charset="-122"/>
              <a:ea typeface="微软雅黑" panose="020B0503020204020204" charset="-122"/>
              <a:cs typeface="微软雅黑" panose="020B0503020204020204" charset="-122"/>
              <a:sym typeface="Arimo" panose="020B06040202020202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1395</Words>
  <Application>Microsoft Office PowerPoint</Application>
  <PresentationFormat>自定义</PresentationFormat>
  <Paragraphs>173</Paragraphs>
  <Slides>14</Slides>
  <Notes>14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Times New Roman</vt:lpstr>
      <vt:lpstr>Calibri</vt:lpstr>
      <vt:lpstr>Arimo</vt:lpstr>
      <vt:lpstr>微软雅黑</vt:lpstr>
      <vt:lpstr>Wingdings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浮生主题PPT.pptx</dc:title>
  <dc:creator/>
  <cp:lastModifiedBy>v530031201@mail.uic.edu.cn</cp:lastModifiedBy>
  <cp:revision>26</cp:revision>
  <dcterms:created xsi:type="dcterms:W3CDTF">2006-08-16T00:00:00Z</dcterms:created>
  <dcterms:modified xsi:type="dcterms:W3CDTF">2026-05-19T14:40:31Z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{"Label":"1","ContentProducer":"001191110105MA01AN806X00000","ProduceID":"DAHJdu__W04","ReservedCode1":"","ContentPropagator":"001191110105MA01AN806X00000","PropagateID":"DAHJdu__W04","ReservedCode2":""}</vt:lpwstr>
  </property>
  <property fmtid="{D5CDD505-2E9C-101B-9397-08002B2CF9AE}" pid="3" name="ICV">
    <vt:lpwstr>7BBA06BFD2DC4278A6F22B05F3E3F03C_13</vt:lpwstr>
  </property>
  <property fmtid="{D5CDD505-2E9C-101B-9397-08002B2CF9AE}" pid="4" name="KSOProductBuildVer">
    <vt:lpwstr>2052-12.8.2.18205</vt:lpwstr>
  </property>
</Properties>
</file>