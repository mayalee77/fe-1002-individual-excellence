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57" r:id="rId3"/>
    <p:sldId id="273" r:id="rId4"/>
    <p:sldId id="271" r:id="rId5"/>
    <p:sldId id="259" r:id="rId6"/>
    <p:sldId id="260" r:id="rId7"/>
    <p:sldId id="262" r:id="rId8"/>
    <p:sldId id="263" r:id="rId9"/>
    <p:sldId id="265" r:id="rId10"/>
    <p:sldId id="266" r:id="rId11"/>
    <p:sldId id="267" r:id="rId12"/>
    <p:sldId id="269" r:id="rId13"/>
    <p:sldId id="270" r:id="rId14"/>
    <p:sldId id="272"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AE70B2-3984-4EB6-865B-A69A476912D4}">
  <a:tblStyle styleId="{20AE70B2-3984-4EB6-865B-A69A476912D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4BF0CF13-4DAF-DBD4-A599-732F2635E7C2}"/>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FD7E5E88-A3AA-E45B-B2BF-1D6AD66544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3B9808BA-C98A-7FAA-7DB1-3BB2F69388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5127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EE79381-582E-0C6D-3C1C-9D23023B53CC}"/>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702EF6D-5381-27D1-E5C2-35995E7ACD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84C5621F-D316-41A9-733E-D39D9BEC76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7650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E716B49D-47E2-433A-5637-F909269299E0}"/>
            </a:ext>
          </a:extLst>
        </p:cNvPr>
        <p:cNvGrpSpPr/>
        <p:nvPr/>
      </p:nvGrpSpPr>
      <p:grpSpPr>
        <a:xfrm>
          <a:off x="0" y="0"/>
          <a:ext cx="0" cy="0"/>
          <a:chOff x="0" y="0"/>
          <a:chExt cx="0" cy="0"/>
        </a:xfrm>
      </p:grpSpPr>
      <p:sp>
        <p:nvSpPr>
          <p:cNvPr id="313" name="Google Shape;313;p15:notes">
            <a:extLst>
              <a:ext uri="{FF2B5EF4-FFF2-40B4-BE49-F238E27FC236}">
                <a16:creationId xmlns:a16="http://schemas.microsoft.com/office/drawing/2014/main" id="{A7737E15-9784-766B-3EE2-57C82176A7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15:notes">
            <a:extLst>
              <a:ext uri="{FF2B5EF4-FFF2-40B4-BE49-F238E27FC236}">
                <a16:creationId xmlns:a16="http://schemas.microsoft.com/office/drawing/2014/main" id="{835E576E-9C16-A242-78D0-8D40CC73CE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1958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doi.org/10.1007/s11366-007-9004-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1475422" y="435442"/>
            <a:ext cx="9241155" cy="1938992"/>
          </a:xfrm>
          <a:prstGeom prst="rect">
            <a:avLst/>
          </a:prstGeom>
          <a:noFill/>
          <a:ln>
            <a:noFill/>
          </a:ln>
        </p:spPr>
        <p:txBody>
          <a:bodyPr spcFirstLastPara="1" wrap="square" lIns="0" tIns="0" rIns="0" bIns="0" anchor="t" anchorCtr="0">
            <a:spAutoFit/>
          </a:bodyPr>
          <a:lstStyle/>
          <a:p>
            <a:pPr lvl="0" algn="ctr"/>
            <a:r>
              <a:rPr lang="en-GB" sz="6300" b="1" dirty="0">
                <a:solidFill>
                  <a:srgbClr val="0C1E33"/>
                </a:solidFill>
              </a:rPr>
              <a:t> The One Truth and Harmony in Diversity </a:t>
            </a:r>
            <a:endParaRPr dirty="0"/>
          </a:p>
        </p:txBody>
      </p:sp>
      <p:sp>
        <p:nvSpPr>
          <p:cNvPr id="86" name="Google Shape;86;p13"/>
          <p:cNvSpPr txBox="1"/>
          <p:nvPr/>
        </p:nvSpPr>
        <p:spPr>
          <a:xfrm>
            <a:off x="1994915" y="2588320"/>
            <a:ext cx="8202167" cy="738664"/>
          </a:xfrm>
          <a:prstGeom prst="rect">
            <a:avLst/>
          </a:prstGeom>
          <a:noFill/>
          <a:ln>
            <a:noFill/>
          </a:ln>
        </p:spPr>
        <p:txBody>
          <a:bodyPr spcFirstLastPara="1" wrap="square" lIns="0" tIns="0" rIns="0" bIns="0" anchor="t" anchorCtr="0">
            <a:spAutoFit/>
          </a:bodyPr>
          <a:lstStyle/>
          <a:p>
            <a:pPr lvl="0" algn="ctr"/>
            <a:r>
              <a:rPr lang="en-GB" sz="2400" dirty="0">
                <a:solidFill>
                  <a:srgbClr val="B8860B"/>
                </a:solidFill>
                <a:latin typeface="Noto Sans SC"/>
                <a:ea typeface="Noto Sans SC"/>
                <a:cs typeface="Noto Sans SC"/>
                <a:sym typeface="Noto Sans SC"/>
              </a:rPr>
              <a:t>The Different Impacts of the Relationship Between Religion and Politics in the East and West</a:t>
            </a:r>
            <a:endParaRPr dirty="0"/>
          </a:p>
        </p:txBody>
      </p:sp>
      <p:pic>
        <p:nvPicPr>
          <p:cNvPr id="87" name="Google Shape;87;p13" descr="image.png"/>
          <p:cNvPicPr preferRelativeResize="0"/>
          <p:nvPr/>
        </p:nvPicPr>
        <p:blipFill rotWithShape="1">
          <a:blip r:embed="rId4">
            <a:alphaModFix/>
          </a:blip>
          <a:srcRect/>
          <a:stretch/>
        </p:blipFill>
        <p:spPr>
          <a:xfrm>
            <a:off x="1047750" y="3800475"/>
            <a:ext cx="2381250" cy="1524000"/>
          </a:xfrm>
          <a:prstGeom prst="rect">
            <a:avLst/>
          </a:prstGeom>
          <a:noFill/>
          <a:ln>
            <a:noFill/>
          </a:ln>
        </p:spPr>
      </p:pic>
      <p:pic>
        <p:nvPicPr>
          <p:cNvPr id="88" name="Google Shape;88;p13" descr="image.png"/>
          <p:cNvPicPr preferRelativeResize="0"/>
          <p:nvPr/>
        </p:nvPicPr>
        <p:blipFill rotWithShape="1">
          <a:blip r:embed="rId5">
            <a:alphaModFix/>
          </a:blip>
          <a:srcRect/>
          <a:stretch/>
        </p:blipFill>
        <p:spPr>
          <a:xfrm>
            <a:off x="3619500" y="3800475"/>
            <a:ext cx="2381250" cy="1524000"/>
          </a:xfrm>
          <a:prstGeom prst="rect">
            <a:avLst/>
          </a:prstGeom>
          <a:noFill/>
          <a:ln>
            <a:noFill/>
          </a:ln>
        </p:spPr>
      </p:pic>
      <p:pic>
        <p:nvPicPr>
          <p:cNvPr id="89" name="Google Shape;89;p13" descr="image.png"/>
          <p:cNvPicPr preferRelativeResize="0"/>
          <p:nvPr/>
        </p:nvPicPr>
        <p:blipFill rotWithShape="1">
          <a:blip r:embed="rId6">
            <a:alphaModFix/>
          </a:blip>
          <a:srcRect/>
          <a:stretch/>
        </p:blipFill>
        <p:spPr>
          <a:xfrm>
            <a:off x="6191250" y="3800475"/>
            <a:ext cx="2381250" cy="1524000"/>
          </a:xfrm>
          <a:prstGeom prst="rect">
            <a:avLst/>
          </a:prstGeom>
          <a:noFill/>
          <a:ln>
            <a:noFill/>
          </a:ln>
        </p:spPr>
      </p:pic>
      <p:pic>
        <p:nvPicPr>
          <p:cNvPr id="90" name="Google Shape;90;p13" descr="image.png"/>
          <p:cNvPicPr preferRelativeResize="0"/>
          <p:nvPr/>
        </p:nvPicPr>
        <p:blipFill rotWithShape="1">
          <a:blip r:embed="rId7">
            <a:alphaModFix/>
          </a:blip>
          <a:srcRect/>
          <a:stretch/>
        </p:blipFill>
        <p:spPr>
          <a:xfrm>
            <a:off x="8763000" y="3800475"/>
            <a:ext cx="2381250" cy="1524000"/>
          </a:xfrm>
          <a:prstGeom prst="rect">
            <a:avLst/>
          </a:prstGeom>
          <a:noFill/>
          <a:ln>
            <a:noFill/>
          </a:ln>
        </p:spPr>
      </p:pic>
      <p:sp>
        <p:nvSpPr>
          <p:cNvPr id="2" name="Google Shape;86;p13">
            <a:extLst>
              <a:ext uri="{FF2B5EF4-FFF2-40B4-BE49-F238E27FC236}">
                <a16:creationId xmlns:a16="http://schemas.microsoft.com/office/drawing/2014/main" id="{6466C8FF-9466-4EC6-7199-2E3278AC72E1}"/>
              </a:ext>
            </a:extLst>
          </p:cNvPr>
          <p:cNvSpPr txBox="1"/>
          <p:nvPr/>
        </p:nvSpPr>
        <p:spPr>
          <a:xfrm>
            <a:off x="1994914" y="5721905"/>
            <a:ext cx="8202167" cy="369332"/>
          </a:xfrm>
          <a:prstGeom prst="rect">
            <a:avLst/>
          </a:prstGeom>
          <a:noFill/>
          <a:ln>
            <a:noFill/>
          </a:ln>
        </p:spPr>
        <p:txBody>
          <a:bodyPr spcFirstLastPara="1" wrap="square" lIns="0" tIns="0" rIns="0" bIns="0" anchor="t" anchorCtr="0">
            <a:spAutoFit/>
          </a:bodyPr>
          <a:lstStyle/>
          <a:p>
            <a:pPr lvl="0" algn="ctr"/>
            <a:r>
              <a:rPr lang="en-GB" sz="2400" dirty="0">
                <a:solidFill>
                  <a:srgbClr val="B8860B"/>
                </a:solidFill>
                <a:latin typeface="Noto Sans SC"/>
                <a:ea typeface="Noto Sans SC"/>
                <a:cs typeface="Noto Sans SC"/>
                <a:sym typeface="Noto Sans SC"/>
              </a:rPr>
              <a:t>23 </a:t>
            </a:r>
            <a:r>
              <a:rPr lang="en-US" altLang="zh-CN" sz="2400" dirty="0">
                <a:solidFill>
                  <a:srgbClr val="B8860B"/>
                </a:solidFill>
                <a:latin typeface="Noto Sans SC"/>
                <a:ea typeface="Noto Sans SC"/>
                <a:cs typeface="Noto Sans SC"/>
                <a:sym typeface="Noto Sans SC"/>
              </a:rPr>
              <a:t>AI </a:t>
            </a:r>
            <a:r>
              <a:rPr lang="en-GB" sz="2400" dirty="0">
                <a:solidFill>
                  <a:srgbClr val="B8860B"/>
                </a:solidFill>
                <a:latin typeface="Noto Sans SC"/>
                <a:ea typeface="Noto Sans SC"/>
                <a:cs typeface="Noto Sans SC"/>
                <a:sym typeface="Noto Sans SC"/>
              </a:rPr>
              <a:t>Junming Hu</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94"/>
        <p:cNvGrpSpPr/>
        <p:nvPr/>
      </p:nvGrpSpPr>
      <p:grpSpPr>
        <a:xfrm>
          <a:off x="0" y="0"/>
          <a:ext cx="0" cy="0"/>
          <a:chOff x="0" y="0"/>
          <a:chExt cx="0" cy="0"/>
        </a:xfrm>
      </p:grpSpPr>
      <p:pic>
        <p:nvPicPr>
          <p:cNvPr id="95" name="Google Shape;95;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6" name="Google Shape;96;p14" descr="image.png"/>
          <p:cNvPicPr preferRelativeResize="0"/>
          <p:nvPr/>
        </p:nvPicPr>
        <p:blipFill rotWithShape="1">
          <a:blip r:embed="rId4">
            <a:alphaModFix/>
          </a:blip>
          <a:srcRect/>
          <a:stretch/>
        </p:blipFill>
        <p:spPr>
          <a:xfrm>
            <a:off x="571500" y="2714625"/>
            <a:ext cx="5381625" cy="1657350"/>
          </a:xfrm>
          <a:prstGeom prst="rect">
            <a:avLst/>
          </a:prstGeom>
          <a:noFill/>
          <a:ln>
            <a:noFill/>
          </a:ln>
        </p:spPr>
      </p:pic>
      <p:pic>
        <p:nvPicPr>
          <p:cNvPr id="97" name="Google Shape;97;p14" descr="image.png"/>
          <p:cNvPicPr preferRelativeResize="0"/>
          <p:nvPr/>
        </p:nvPicPr>
        <p:blipFill rotWithShape="1">
          <a:blip r:embed="rId4">
            <a:alphaModFix/>
          </a:blip>
          <a:srcRect/>
          <a:stretch/>
        </p:blipFill>
        <p:spPr>
          <a:xfrm>
            <a:off x="6238875" y="2714625"/>
            <a:ext cx="5381625" cy="1657350"/>
          </a:xfrm>
          <a:prstGeom prst="rect">
            <a:avLst/>
          </a:prstGeom>
          <a:noFill/>
          <a:ln>
            <a:noFill/>
          </a:ln>
        </p:spPr>
      </p:pic>
      <p:sp>
        <p:nvSpPr>
          <p:cNvPr id="98" name="Google Shape;98;p14"/>
          <p:cNvSpPr txBox="1"/>
          <p:nvPr/>
        </p:nvSpPr>
        <p:spPr>
          <a:xfrm>
            <a:off x="571500" y="4752975"/>
            <a:ext cx="11049000" cy="830997"/>
          </a:xfrm>
          <a:prstGeom prst="rect">
            <a:avLst/>
          </a:prstGeom>
          <a:noFill/>
          <a:ln>
            <a:noFill/>
          </a:ln>
        </p:spPr>
        <p:txBody>
          <a:bodyPr spcFirstLastPara="1" wrap="square" lIns="0" tIns="0" rIns="0" bIns="0" anchor="t" anchorCtr="0">
            <a:spAutoFit/>
          </a:bodyPr>
          <a:lstStyle/>
          <a:p>
            <a:pPr lvl="0" algn="ctr"/>
            <a:r>
              <a:rPr lang="en-GB" sz="1800" b="1" dirty="0" err="1">
                <a:solidFill>
                  <a:srgbClr val="0C1E33"/>
                </a:solidFill>
                <a:latin typeface="Noto Sans SC"/>
                <a:ea typeface="Noto Sans SC"/>
                <a:cs typeface="Noto Sans SC"/>
                <a:sym typeface="Noto Sans SC"/>
              </a:rPr>
              <a:t>Seedance's</a:t>
            </a:r>
            <a:r>
              <a:rPr lang="en-GB" sz="1800" b="1" dirty="0">
                <a:solidFill>
                  <a:srgbClr val="0C1E33"/>
                </a:solidFill>
                <a:latin typeface="Noto Sans SC"/>
                <a:ea typeface="Noto Sans SC"/>
                <a:cs typeface="Noto Sans SC"/>
                <a:sym typeface="Noto Sans SC"/>
              </a:rPr>
              <a:t> strength lies in its high-precision motion capture and AI-powered movement analysis, which effectively aids dance training and posture assessment, but its weakness is that, as a niche tool, its user base and content ecosystem still lag far behind mainstream short-video platforms.</a:t>
            </a:r>
            <a:endParaRPr dirty="0"/>
          </a:p>
        </p:txBody>
      </p:sp>
      <p:sp>
        <p:nvSpPr>
          <p:cNvPr id="99" name="Google Shape;99;p14"/>
          <p:cNvSpPr txBox="1"/>
          <p:nvPr/>
        </p:nvSpPr>
        <p:spPr>
          <a:xfrm>
            <a:off x="871537" y="2858945"/>
            <a:ext cx="5050631"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zh-CN" sz="1950" b="1" i="0" u="none" strike="noStrike" cap="none" dirty="0">
                <a:solidFill>
                  <a:srgbClr val="B8860B"/>
                </a:solidFill>
                <a:latin typeface="Noto Sans SC"/>
                <a:ea typeface="Noto Sans SC"/>
                <a:cs typeface="Noto Sans SC"/>
                <a:sym typeface="Noto Sans SC"/>
              </a:rPr>
              <a:t>Positive</a:t>
            </a:r>
            <a:endParaRPr lang="zh-CN" altLang="en-US" dirty="0"/>
          </a:p>
        </p:txBody>
      </p:sp>
      <p:sp>
        <p:nvSpPr>
          <p:cNvPr id="100" name="Google Shape;100;p14"/>
          <p:cNvSpPr txBox="1"/>
          <p:nvPr/>
        </p:nvSpPr>
        <p:spPr>
          <a:xfrm>
            <a:off x="871537" y="3247667"/>
            <a:ext cx="4810125" cy="761747"/>
          </a:xfrm>
          <a:prstGeom prst="rect">
            <a:avLst/>
          </a:prstGeom>
          <a:noFill/>
          <a:ln>
            <a:noFill/>
          </a:ln>
        </p:spPr>
        <p:txBody>
          <a:bodyPr spcFirstLastPara="1" wrap="square" lIns="0" tIns="0" rIns="0" bIns="0" anchor="t" anchorCtr="0">
            <a:spAutoFit/>
          </a:bodyPr>
          <a:lstStyle/>
          <a:p>
            <a:pPr lvl="0"/>
            <a:r>
              <a:rPr lang="en-GB" sz="1650" dirty="0" err="1">
                <a:solidFill>
                  <a:srgbClr val="2C3E50"/>
                </a:solidFill>
                <a:latin typeface="Noto Sans SC"/>
                <a:ea typeface="Noto Sans SC"/>
                <a:cs typeface="Noto Sans SC"/>
                <a:sym typeface="Noto Sans SC"/>
              </a:rPr>
              <a:t>Seedance</a:t>
            </a:r>
            <a:r>
              <a:rPr lang="en-GB" sz="1650" dirty="0">
                <a:solidFill>
                  <a:srgbClr val="2C3E50"/>
                </a:solidFill>
                <a:latin typeface="Noto Sans SC"/>
                <a:ea typeface="Noto Sans SC"/>
                <a:cs typeface="Noto Sans SC"/>
                <a:sym typeface="Noto Sans SC"/>
              </a:rPr>
              <a:t> was invented by ByteDance Group, which has many video materials, so the quality of works created is very high</a:t>
            </a:r>
            <a:endParaRPr dirty="0"/>
          </a:p>
        </p:txBody>
      </p:sp>
      <p:sp>
        <p:nvSpPr>
          <p:cNvPr id="101" name="Google Shape;101;p14"/>
          <p:cNvSpPr txBox="1"/>
          <p:nvPr/>
        </p:nvSpPr>
        <p:spPr>
          <a:xfrm>
            <a:off x="6524625" y="2853341"/>
            <a:ext cx="5050631"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zh-CN" sz="1950" b="1" i="0" u="none" strike="noStrike" cap="none" dirty="0">
                <a:solidFill>
                  <a:srgbClr val="B8860B"/>
                </a:solidFill>
                <a:latin typeface="Noto Sans SC"/>
                <a:ea typeface="Noto Sans SC"/>
                <a:cs typeface="Noto Sans SC"/>
                <a:sym typeface="Noto Sans SC"/>
              </a:rPr>
              <a:t>Negative</a:t>
            </a:r>
            <a:endParaRPr lang="zh-CN" altLang="en-US" dirty="0"/>
          </a:p>
        </p:txBody>
      </p:sp>
      <p:sp>
        <p:nvSpPr>
          <p:cNvPr id="102" name="Google Shape;102;p14"/>
          <p:cNvSpPr txBox="1"/>
          <p:nvPr/>
        </p:nvSpPr>
        <p:spPr>
          <a:xfrm>
            <a:off x="6524625" y="3196746"/>
            <a:ext cx="4810125" cy="1015663"/>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A video can only be generated for a maximum of 20 seconds, which means that creating a long video requires a lot of parameters to adjust transitions and overall effects</a:t>
            </a:r>
            <a:endParaRPr dirty="0"/>
          </a:p>
        </p:txBody>
      </p:sp>
      <p:sp>
        <p:nvSpPr>
          <p:cNvPr id="103" name="Google Shape;103;p14"/>
          <p:cNvSpPr txBox="1"/>
          <p:nvPr/>
        </p:nvSpPr>
        <p:spPr>
          <a:xfrm>
            <a:off x="871537" y="571500"/>
            <a:ext cx="11401425" cy="492443"/>
          </a:xfrm>
          <a:prstGeom prst="rect">
            <a:avLst/>
          </a:prstGeom>
          <a:noFill/>
          <a:ln>
            <a:noFill/>
          </a:ln>
        </p:spPr>
        <p:txBody>
          <a:bodyPr spcFirstLastPara="1" wrap="square" lIns="0" tIns="0" rIns="0" bIns="0" anchor="t" anchorCtr="0">
            <a:spAutoFit/>
          </a:bodyPr>
          <a:lstStyle/>
          <a:p>
            <a:pPr lvl="0"/>
            <a:r>
              <a:rPr lang="en-US" altLang="zh-CN" sz="3200" b="1" dirty="0">
                <a:solidFill>
                  <a:srgbClr val="0C1E33"/>
                </a:solidFill>
              </a:rPr>
              <a:t>Tools</a:t>
            </a:r>
            <a:endParaRPr lang="en-GB" dirty="0"/>
          </a:p>
        </p:txBody>
      </p:sp>
      <p:sp>
        <p:nvSpPr>
          <p:cNvPr id="104" name="Google Shape;104;p14"/>
          <p:cNvSpPr/>
          <p:nvPr/>
        </p:nvSpPr>
        <p:spPr>
          <a:xfrm>
            <a:off x="571500" y="571500"/>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176;p19">
            <a:extLst>
              <a:ext uri="{FF2B5EF4-FFF2-40B4-BE49-F238E27FC236}">
                <a16:creationId xmlns:a16="http://schemas.microsoft.com/office/drawing/2014/main" id="{58C66DD7-2290-1FC9-D4C6-EFB07991FCEF}"/>
              </a:ext>
            </a:extLst>
          </p:cNvPr>
          <p:cNvSpPr txBox="1"/>
          <p:nvPr/>
        </p:nvSpPr>
        <p:spPr>
          <a:xfrm>
            <a:off x="628650" y="1398772"/>
            <a:ext cx="9925812" cy="8309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400" b="1" i="0" u="none" strike="noStrike" cap="none" dirty="0" err="1">
                <a:solidFill>
                  <a:srgbClr val="0C1E33"/>
                </a:solidFill>
                <a:latin typeface="Noto Sans SC"/>
                <a:ea typeface="Noto Sans SC"/>
                <a:cs typeface="Noto Sans SC"/>
                <a:sym typeface="Noto Sans SC"/>
              </a:rPr>
              <a:t>SeeDance</a:t>
            </a:r>
            <a:endParaRPr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94">
          <a:extLst>
            <a:ext uri="{FF2B5EF4-FFF2-40B4-BE49-F238E27FC236}">
              <a16:creationId xmlns:a16="http://schemas.microsoft.com/office/drawing/2014/main" id="{BDA5A8DB-854B-6C8C-F473-769AA07D141B}"/>
            </a:ext>
          </a:extLst>
        </p:cNvPr>
        <p:cNvGrpSpPr/>
        <p:nvPr/>
      </p:nvGrpSpPr>
      <p:grpSpPr>
        <a:xfrm>
          <a:off x="0" y="0"/>
          <a:ext cx="0" cy="0"/>
          <a:chOff x="0" y="0"/>
          <a:chExt cx="0" cy="0"/>
        </a:xfrm>
      </p:grpSpPr>
      <p:pic>
        <p:nvPicPr>
          <p:cNvPr id="95" name="Google Shape;95;p14" descr="image.png">
            <a:extLst>
              <a:ext uri="{FF2B5EF4-FFF2-40B4-BE49-F238E27FC236}">
                <a16:creationId xmlns:a16="http://schemas.microsoft.com/office/drawing/2014/main" id="{953A7376-CFC9-1111-9B9B-4EC32EDB56C9}"/>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6" name="Google Shape;96;p14" descr="image.png">
            <a:extLst>
              <a:ext uri="{FF2B5EF4-FFF2-40B4-BE49-F238E27FC236}">
                <a16:creationId xmlns:a16="http://schemas.microsoft.com/office/drawing/2014/main" id="{843D5D0C-ECBD-D655-D8BC-68A91FE95FD5}"/>
              </a:ext>
            </a:extLst>
          </p:cNvPr>
          <p:cNvPicPr preferRelativeResize="0"/>
          <p:nvPr/>
        </p:nvPicPr>
        <p:blipFill rotWithShape="1">
          <a:blip r:embed="rId4">
            <a:alphaModFix/>
          </a:blip>
          <a:srcRect/>
          <a:stretch/>
        </p:blipFill>
        <p:spPr>
          <a:xfrm>
            <a:off x="571500" y="2714625"/>
            <a:ext cx="5381625" cy="1657350"/>
          </a:xfrm>
          <a:prstGeom prst="rect">
            <a:avLst/>
          </a:prstGeom>
          <a:noFill/>
          <a:ln>
            <a:noFill/>
          </a:ln>
        </p:spPr>
      </p:pic>
      <p:pic>
        <p:nvPicPr>
          <p:cNvPr id="97" name="Google Shape;97;p14" descr="image.png">
            <a:extLst>
              <a:ext uri="{FF2B5EF4-FFF2-40B4-BE49-F238E27FC236}">
                <a16:creationId xmlns:a16="http://schemas.microsoft.com/office/drawing/2014/main" id="{79217896-E158-6629-3F5F-8B3F27F343BC}"/>
              </a:ext>
            </a:extLst>
          </p:cNvPr>
          <p:cNvPicPr preferRelativeResize="0"/>
          <p:nvPr/>
        </p:nvPicPr>
        <p:blipFill rotWithShape="1">
          <a:blip r:embed="rId4">
            <a:alphaModFix/>
          </a:blip>
          <a:srcRect/>
          <a:stretch/>
        </p:blipFill>
        <p:spPr>
          <a:xfrm>
            <a:off x="6238875" y="2714625"/>
            <a:ext cx="5381625" cy="1657350"/>
          </a:xfrm>
          <a:prstGeom prst="rect">
            <a:avLst/>
          </a:prstGeom>
          <a:noFill/>
          <a:ln>
            <a:noFill/>
          </a:ln>
        </p:spPr>
      </p:pic>
      <p:sp>
        <p:nvSpPr>
          <p:cNvPr id="98" name="Google Shape;98;p14">
            <a:extLst>
              <a:ext uri="{FF2B5EF4-FFF2-40B4-BE49-F238E27FC236}">
                <a16:creationId xmlns:a16="http://schemas.microsoft.com/office/drawing/2014/main" id="{6EFC1961-D2EA-1C72-9E11-191870D68641}"/>
              </a:ext>
            </a:extLst>
          </p:cNvPr>
          <p:cNvSpPr txBox="1"/>
          <p:nvPr/>
        </p:nvSpPr>
        <p:spPr>
          <a:xfrm>
            <a:off x="571500" y="4752975"/>
            <a:ext cx="11049000" cy="553998"/>
          </a:xfrm>
          <a:prstGeom prst="rect">
            <a:avLst/>
          </a:prstGeom>
          <a:noFill/>
          <a:ln>
            <a:noFill/>
          </a:ln>
        </p:spPr>
        <p:txBody>
          <a:bodyPr spcFirstLastPara="1" wrap="square" lIns="0" tIns="0" rIns="0" bIns="0" anchor="t" anchorCtr="0">
            <a:spAutoFit/>
          </a:bodyPr>
          <a:lstStyle/>
          <a:p>
            <a:pPr lvl="0" algn="ctr"/>
            <a:r>
              <a:rPr lang="en-GB" sz="1800" b="1" dirty="0">
                <a:solidFill>
                  <a:srgbClr val="0C1E33"/>
                </a:solidFill>
                <a:latin typeface="Noto Sans SC"/>
                <a:ea typeface="Noto Sans SC"/>
                <a:cs typeface="Noto Sans SC"/>
                <a:sym typeface="Noto Sans SC"/>
              </a:rPr>
              <a:t>How has the relationship between religion and politics profoundly influenced social processes and the course of history?</a:t>
            </a:r>
            <a:endParaRPr dirty="0"/>
          </a:p>
        </p:txBody>
      </p:sp>
      <p:sp>
        <p:nvSpPr>
          <p:cNvPr id="99" name="Google Shape;99;p14">
            <a:extLst>
              <a:ext uri="{FF2B5EF4-FFF2-40B4-BE49-F238E27FC236}">
                <a16:creationId xmlns:a16="http://schemas.microsoft.com/office/drawing/2014/main" id="{658D7FD1-674A-752D-542E-A4B25A1972F4}"/>
              </a:ext>
            </a:extLst>
          </p:cNvPr>
          <p:cNvSpPr txBox="1"/>
          <p:nvPr/>
        </p:nvSpPr>
        <p:spPr>
          <a:xfrm>
            <a:off x="857249" y="2758194"/>
            <a:ext cx="5050631"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zh-CN" sz="1950" b="1" i="0" u="none" strike="noStrike" cap="none" dirty="0">
                <a:solidFill>
                  <a:srgbClr val="B8860B"/>
                </a:solidFill>
                <a:latin typeface="Noto Sans SC"/>
                <a:ea typeface="Noto Sans SC"/>
                <a:cs typeface="Noto Sans SC"/>
                <a:sym typeface="Noto Sans SC"/>
              </a:rPr>
              <a:t>Eastern</a:t>
            </a:r>
            <a:endParaRPr lang="zh-CN" altLang="en-US" dirty="0"/>
          </a:p>
        </p:txBody>
      </p:sp>
      <p:sp>
        <p:nvSpPr>
          <p:cNvPr id="100" name="Google Shape;100;p14">
            <a:extLst>
              <a:ext uri="{FF2B5EF4-FFF2-40B4-BE49-F238E27FC236}">
                <a16:creationId xmlns:a16="http://schemas.microsoft.com/office/drawing/2014/main" id="{9FD7C303-A439-5F83-0864-98E5A71C2AF4}"/>
              </a:ext>
            </a:extLst>
          </p:cNvPr>
          <p:cNvSpPr txBox="1"/>
          <p:nvPr/>
        </p:nvSpPr>
        <p:spPr>
          <a:xfrm>
            <a:off x="871537" y="3058276"/>
            <a:ext cx="4810125" cy="1269578"/>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Religion has long been deeply involved in politics, and through their interplay and conflict, ecclesiastical and secular authorities have reshaped the social contract and the foundations of the rule of law.</a:t>
            </a:r>
            <a:endParaRPr dirty="0"/>
          </a:p>
        </p:txBody>
      </p:sp>
      <p:sp>
        <p:nvSpPr>
          <p:cNvPr id="101" name="Google Shape;101;p14">
            <a:extLst>
              <a:ext uri="{FF2B5EF4-FFF2-40B4-BE49-F238E27FC236}">
                <a16:creationId xmlns:a16="http://schemas.microsoft.com/office/drawing/2014/main" id="{EB388129-5C17-AF6C-6DCA-BA11E09D6658}"/>
              </a:ext>
            </a:extLst>
          </p:cNvPr>
          <p:cNvSpPr txBox="1"/>
          <p:nvPr/>
        </p:nvSpPr>
        <p:spPr>
          <a:xfrm>
            <a:off x="6524625" y="2853341"/>
            <a:ext cx="5050631"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zh-CN" sz="1950" b="1" i="0" u="none" strike="noStrike" cap="none" dirty="0">
                <a:solidFill>
                  <a:srgbClr val="B8860B"/>
                </a:solidFill>
                <a:latin typeface="Noto Sans SC"/>
                <a:ea typeface="Noto Sans SC"/>
                <a:cs typeface="Noto Sans SC"/>
                <a:sym typeface="Noto Sans SC"/>
              </a:rPr>
              <a:t>China</a:t>
            </a:r>
            <a:endParaRPr lang="zh-CN" altLang="en-US" dirty="0"/>
          </a:p>
        </p:txBody>
      </p:sp>
      <p:sp>
        <p:nvSpPr>
          <p:cNvPr id="102" name="Google Shape;102;p14">
            <a:extLst>
              <a:ext uri="{FF2B5EF4-FFF2-40B4-BE49-F238E27FC236}">
                <a16:creationId xmlns:a16="http://schemas.microsoft.com/office/drawing/2014/main" id="{D43D047D-BCC2-2F2B-0ADC-5952C69901F1}"/>
              </a:ext>
            </a:extLst>
          </p:cNvPr>
          <p:cNvSpPr txBox="1"/>
          <p:nvPr/>
        </p:nvSpPr>
        <p:spPr>
          <a:xfrm>
            <a:off x="6524625" y="3196746"/>
            <a:ext cx="4810125" cy="1015663"/>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Political power has long held primacy over religion, and religion, serving as a complement to social governance, has shaped a unique secular foundation for civilization.</a:t>
            </a:r>
            <a:endParaRPr dirty="0"/>
          </a:p>
        </p:txBody>
      </p:sp>
      <p:sp>
        <p:nvSpPr>
          <p:cNvPr id="103" name="Google Shape;103;p14">
            <a:extLst>
              <a:ext uri="{FF2B5EF4-FFF2-40B4-BE49-F238E27FC236}">
                <a16:creationId xmlns:a16="http://schemas.microsoft.com/office/drawing/2014/main" id="{131B7E3B-38BC-77DA-4E21-EBFAB23CA622}"/>
              </a:ext>
            </a:extLst>
          </p:cNvPr>
          <p:cNvSpPr txBox="1"/>
          <p:nvPr/>
        </p:nvSpPr>
        <p:spPr>
          <a:xfrm>
            <a:off x="871537" y="345757"/>
            <a:ext cx="11401425" cy="984885"/>
          </a:xfrm>
          <a:prstGeom prst="rect">
            <a:avLst/>
          </a:prstGeom>
          <a:noFill/>
          <a:ln>
            <a:noFill/>
          </a:ln>
        </p:spPr>
        <p:txBody>
          <a:bodyPr spcFirstLastPara="1" wrap="square" lIns="0" tIns="0" rIns="0" bIns="0" anchor="t" anchorCtr="0">
            <a:spAutoFit/>
          </a:bodyPr>
          <a:lstStyle/>
          <a:p>
            <a:pPr lvl="0"/>
            <a:r>
              <a:rPr lang="en-GB" sz="3200" b="1" dirty="0">
                <a:solidFill>
                  <a:srgbClr val="0C1E33"/>
                </a:solidFill>
              </a:rPr>
              <a:t>Why have the East and West</a:t>
            </a:r>
          </a:p>
          <a:p>
            <a:pPr lvl="0"/>
            <a:r>
              <a:rPr lang="en-GB" sz="3200" b="1" dirty="0">
                <a:solidFill>
                  <a:srgbClr val="0C1E33"/>
                </a:solidFill>
              </a:rPr>
              <a:t>developed different paths of civilization?</a:t>
            </a:r>
            <a:endParaRPr dirty="0"/>
          </a:p>
        </p:txBody>
      </p:sp>
      <p:sp>
        <p:nvSpPr>
          <p:cNvPr id="104" name="Google Shape;104;p14">
            <a:extLst>
              <a:ext uri="{FF2B5EF4-FFF2-40B4-BE49-F238E27FC236}">
                <a16:creationId xmlns:a16="http://schemas.microsoft.com/office/drawing/2014/main" id="{A261F50C-3415-C398-8BD9-361AC63DC9E9}"/>
              </a:ext>
            </a:extLst>
          </p:cNvPr>
          <p:cNvSpPr/>
          <p:nvPr/>
        </p:nvSpPr>
        <p:spPr>
          <a:xfrm>
            <a:off x="571500" y="571500"/>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19117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B94CA4B-B27E-6DE6-A2F7-651F070C6800}"/>
            </a:ext>
          </a:extLst>
        </p:cNvPr>
        <p:cNvGrpSpPr/>
        <p:nvPr/>
      </p:nvGrpSpPr>
      <p:grpSpPr>
        <a:xfrm>
          <a:off x="0" y="0"/>
          <a:ext cx="0" cy="0"/>
          <a:chOff x="0" y="0"/>
          <a:chExt cx="0" cy="0"/>
        </a:xfrm>
      </p:grpSpPr>
      <p:pic>
        <p:nvPicPr>
          <p:cNvPr id="109" name="Google Shape;109;p15" descr="image.png">
            <a:extLst>
              <a:ext uri="{FF2B5EF4-FFF2-40B4-BE49-F238E27FC236}">
                <a16:creationId xmlns:a16="http://schemas.microsoft.com/office/drawing/2014/main" id="{6D93EF06-7237-D982-BE72-7C1938EC6210}"/>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0" name="Google Shape;110;p15" descr="image.png">
            <a:extLst>
              <a:ext uri="{FF2B5EF4-FFF2-40B4-BE49-F238E27FC236}">
                <a16:creationId xmlns:a16="http://schemas.microsoft.com/office/drawing/2014/main" id="{43CC141A-63F6-DFB9-0214-8209C2F769A4}"/>
              </a:ext>
            </a:extLst>
          </p:cNvPr>
          <p:cNvPicPr preferRelativeResize="0"/>
          <p:nvPr/>
        </p:nvPicPr>
        <p:blipFill rotWithShape="1">
          <a:blip r:embed="rId4">
            <a:alphaModFix/>
          </a:blip>
          <a:srcRect/>
          <a:stretch/>
        </p:blipFill>
        <p:spPr>
          <a:xfrm>
            <a:off x="6381750" y="1981200"/>
            <a:ext cx="5238750" cy="3810000"/>
          </a:xfrm>
          <a:prstGeom prst="rect">
            <a:avLst/>
          </a:prstGeom>
          <a:noFill/>
          <a:ln>
            <a:noFill/>
          </a:ln>
        </p:spPr>
      </p:pic>
      <p:pic>
        <p:nvPicPr>
          <p:cNvPr id="111" name="Google Shape;111;p15" descr="image.png">
            <a:extLst>
              <a:ext uri="{FF2B5EF4-FFF2-40B4-BE49-F238E27FC236}">
                <a16:creationId xmlns:a16="http://schemas.microsoft.com/office/drawing/2014/main" id="{4AC7A105-B1BE-34CE-3ABB-0F7C1ED929DD}"/>
              </a:ext>
            </a:extLst>
          </p:cNvPr>
          <p:cNvPicPr preferRelativeResize="0"/>
          <p:nvPr/>
        </p:nvPicPr>
        <p:blipFill rotWithShape="1">
          <a:blip r:embed="rId5">
            <a:alphaModFix/>
          </a:blip>
          <a:srcRect/>
          <a:stretch/>
        </p:blipFill>
        <p:spPr>
          <a:xfrm>
            <a:off x="6381750" y="1981200"/>
            <a:ext cx="5238750" cy="3810000"/>
          </a:xfrm>
          <a:prstGeom prst="rect">
            <a:avLst/>
          </a:prstGeom>
          <a:noFill/>
          <a:ln>
            <a:noFill/>
          </a:ln>
        </p:spPr>
      </p:pic>
      <p:sp>
        <p:nvSpPr>
          <p:cNvPr id="112" name="Google Shape;112;p15">
            <a:extLst>
              <a:ext uri="{FF2B5EF4-FFF2-40B4-BE49-F238E27FC236}">
                <a16:creationId xmlns:a16="http://schemas.microsoft.com/office/drawing/2014/main" id="{335E5C7E-7F6A-71CA-9D18-49AF048E9BA8}"/>
              </a:ext>
            </a:extLst>
          </p:cNvPr>
          <p:cNvSpPr txBox="1"/>
          <p:nvPr/>
        </p:nvSpPr>
        <p:spPr>
          <a:xfrm>
            <a:off x="952500" y="1658527"/>
            <a:ext cx="4857750" cy="1218795"/>
          </a:xfrm>
          <a:prstGeom prst="rect">
            <a:avLst/>
          </a:prstGeom>
          <a:noFill/>
          <a:ln>
            <a:noFill/>
          </a:ln>
        </p:spPr>
        <p:txBody>
          <a:bodyPr spcFirstLastPara="1" wrap="square" lIns="0" tIns="0" rIns="0" bIns="0" anchor="t" anchorCtr="0">
            <a:spAutoFit/>
          </a:bodyPr>
          <a:lstStyle/>
          <a:p>
            <a:pPr lvl="0">
              <a:lnSpc>
                <a:spcPct val="160000"/>
              </a:lnSpc>
            </a:pPr>
            <a:r>
              <a:rPr lang="en-GB" sz="1650" b="1" dirty="0">
                <a:solidFill>
                  <a:srgbClr val="2C3E50"/>
                </a:solidFill>
                <a:latin typeface="Noto Sans SC"/>
                <a:ea typeface="Noto Sans SC"/>
                <a:cs typeface="Noto Sans SC"/>
                <a:sym typeface="Noto Sans SC"/>
              </a:rPr>
              <a:t>The Christianization of Rome: </a:t>
            </a:r>
            <a:r>
              <a:rPr lang="en-GB" sz="1650" dirty="0">
                <a:solidFill>
                  <a:srgbClr val="2C3E50"/>
                </a:solidFill>
                <a:latin typeface="Noto Sans SC"/>
                <a:ea typeface="Noto Sans SC"/>
                <a:cs typeface="Noto Sans SC"/>
                <a:sym typeface="Noto Sans SC"/>
              </a:rPr>
              <a:t>From the Edict of Milan to Christianity becoming the state religion, the Church entered the seat of power.</a:t>
            </a:r>
            <a:endParaRPr dirty="0"/>
          </a:p>
        </p:txBody>
      </p:sp>
      <p:sp>
        <p:nvSpPr>
          <p:cNvPr id="113" name="Google Shape;113;p15">
            <a:extLst>
              <a:ext uri="{FF2B5EF4-FFF2-40B4-BE49-F238E27FC236}">
                <a16:creationId xmlns:a16="http://schemas.microsoft.com/office/drawing/2014/main" id="{3ECD85FB-5252-8C82-7820-AA31D506C54E}"/>
              </a:ext>
            </a:extLst>
          </p:cNvPr>
          <p:cNvSpPr txBox="1"/>
          <p:nvPr/>
        </p:nvSpPr>
        <p:spPr>
          <a:xfrm>
            <a:off x="952500" y="2975662"/>
            <a:ext cx="4857750" cy="1218795"/>
          </a:xfrm>
          <a:prstGeom prst="rect">
            <a:avLst/>
          </a:prstGeom>
          <a:noFill/>
          <a:ln>
            <a:noFill/>
          </a:ln>
        </p:spPr>
        <p:txBody>
          <a:bodyPr spcFirstLastPara="1" wrap="square" lIns="0" tIns="0" rIns="0" bIns="0" anchor="t" anchorCtr="0">
            <a:spAutoFit/>
          </a:bodyPr>
          <a:lstStyle/>
          <a:p>
            <a:pPr lvl="0">
              <a:lnSpc>
                <a:spcPct val="160000"/>
              </a:lnSpc>
            </a:pPr>
            <a:r>
              <a:rPr lang="en-GB" sz="1650" b="1" dirty="0">
                <a:solidFill>
                  <a:srgbClr val="2C3E50"/>
                </a:solidFill>
                <a:latin typeface="Noto Sans SC"/>
                <a:ea typeface="Noto Sans SC"/>
                <a:cs typeface="Noto Sans SC"/>
                <a:sym typeface="Noto Sans SC"/>
              </a:rPr>
              <a:t>The Coronation of Charlemagne</a:t>
            </a:r>
            <a:r>
              <a:rPr lang="en-US" sz="1650" b="1" dirty="0">
                <a:solidFill>
                  <a:srgbClr val="2C3E50"/>
                </a:solidFill>
                <a:latin typeface="Noto Sans SC"/>
                <a:ea typeface="Noto Sans SC"/>
                <a:cs typeface="Noto Sans SC"/>
                <a:sym typeface="Noto Sans SC"/>
              </a:rPr>
              <a:t>:</a:t>
            </a:r>
            <a:r>
              <a:rPr lang="zh-CN" altLang="en-US" sz="1650" b="1" dirty="0">
                <a:solidFill>
                  <a:srgbClr val="2C3E50"/>
                </a:solidFill>
                <a:latin typeface="Noto Sans SC"/>
                <a:ea typeface="Noto Sans SC"/>
                <a:cs typeface="Noto Sans SC"/>
                <a:sym typeface="Noto Sans SC"/>
              </a:rPr>
              <a:t> </a:t>
            </a:r>
            <a:r>
              <a:rPr lang="en-GB" sz="1650" dirty="0">
                <a:solidFill>
                  <a:srgbClr val="2C3E50"/>
                </a:solidFill>
                <a:latin typeface="Noto Sans SC"/>
                <a:ea typeface="Noto Sans SC"/>
                <a:cs typeface="Noto Sans SC"/>
                <a:sym typeface="Noto Sans SC"/>
              </a:rPr>
              <a:t>The pope crowned the emperor, thereby establishing the legitimacy of the “divine right of kings.”</a:t>
            </a:r>
            <a:endParaRPr dirty="0"/>
          </a:p>
        </p:txBody>
      </p:sp>
      <p:sp>
        <p:nvSpPr>
          <p:cNvPr id="114" name="Google Shape;114;p15">
            <a:extLst>
              <a:ext uri="{FF2B5EF4-FFF2-40B4-BE49-F238E27FC236}">
                <a16:creationId xmlns:a16="http://schemas.microsoft.com/office/drawing/2014/main" id="{41A67E95-FCE6-E485-BD46-12FE8381687A}"/>
              </a:ext>
            </a:extLst>
          </p:cNvPr>
          <p:cNvSpPr txBox="1"/>
          <p:nvPr/>
        </p:nvSpPr>
        <p:spPr>
          <a:xfrm>
            <a:off x="952500" y="4292798"/>
            <a:ext cx="4857750" cy="1218795"/>
          </a:xfrm>
          <a:prstGeom prst="rect">
            <a:avLst/>
          </a:prstGeom>
          <a:noFill/>
          <a:ln>
            <a:noFill/>
          </a:ln>
        </p:spPr>
        <p:txBody>
          <a:bodyPr spcFirstLastPara="1" wrap="square" lIns="0" tIns="0" rIns="0" bIns="0" anchor="t" anchorCtr="0">
            <a:spAutoFit/>
          </a:bodyPr>
          <a:lstStyle/>
          <a:p>
            <a:pPr lvl="0">
              <a:lnSpc>
                <a:spcPct val="160000"/>
              </a:lnSpc>
            </a:pPr>
            <a:r>
              <a:rPr lang="en-GB" sz="1650" b="1" dirty="0">
                <a:solidFill>
                  <a:srgbClr val="2C3E50"/>
                </a:solidFill>
                <a:latin typeface="Noto Sans SC"/>
                <a:ea typeface="Noto Sans SC"/>
                <a:cs typeface="Noto Sans SC"/>
                <a:sym typeface="Noto Sans SC"/>
              </a:rPr>
              <a:t>Key feature: </a:t>
            </a:r>
            <a:r>
              <a:rPr lang="en-GB" sz="1650" dirty="0">
                <a:solidFill>
                  <a:srgbClr val="2C3E50"/>
                </a:solidFill>
                <a:latin typeface="Noto Sans SC"/>
                <a:ea typeface="Noto Sans SC"/>
                <a:cs typeface="Noto Sans SC"/>
                <a:sym typeface="Noto Sans SC"/>
              </a:rPr>
              <a:t>The Church wields immense secular power in the political, judicial, and intellectual spheres.</a:t>
            </a:r>
            <a:endParaRPr dirty="0"/>
          </a:p>
        </p:txBody>
      </p:sp>
      <p:sp>
        <p:nvSpPr>
          <p:cNvPr id="115" name="Google Shape;115;p15">
            <a:extLst>
              <a:ext uri="{FF2B5EF4-FFF2-40B4-BE49-F238E27FC236}">
                <a16:creationId xmlns:a16="http://schemas.microsoft.com/office/drawing/2014/main" id="{5A76E1F1-AAB6-12BE-C596-FA8E0B6E42EF}"/>
              </a:ext>
            </a:extLst>
          </p:cNvPr>
          <p:cNvSpPr txBox="1"/>
          <p:nvPr/>
        </p:nvSpPr>
        <p:spPr>
          <a:xfrm>
            <a:off x="762000" y="571500"/>
            <a:ext cx="11401425" cy="484748"/>
          </a:xfrm>
          <a:prstGeom prst="rect">
            <a:avLst/>
          </a:prstGeom>
          <a:noFill/>
          <a:ln>
            <a:noFill/>
          </a:ln>
        </p:spPr>
        <p:txBody>
          <a:bodyPr spcFirstLastPara="1" wrap="square" lIns="0" tIns="0" rIns="0" bIns="0" anchor="t" anchorCtr="0">
            <a:spAutoFit/>
          </a:bodyPr>
          <a:lstStyle/>
          <a:p>
            <a:pPr lvl="0"/>
            <a:r>
              <a:rPr lang="en-GB" sz="3150" b="1" dirty="0">
                <a:solidFill>
                  <a:srgbClr val="0C1E33"/>
                </a:solidFill>
              </a:rPr>
              <a:t>The “fusion of church and state” in the Middle Ages</a:t>
            </a:r>
            <a:endParaRPr dirty="0"/>
          </a:p>
        </p:txBody>
      </p:sp>
      <p:sp>
        <p:nvSpPr>
          <p:cNvPr id="116" name="Google Shape;116;p15">
            <a:extLst>
              <a:ext uri="{FF2B5EF4-FFF2-40B4-BE49-F238E27FC236}">
                <a16:creationId xmlns:a16="http://schemas.microsoft.com/office/drawing/2014/main" id="{9C078ABD-3434-20FD-6BA3-370D16FD6B24}"/>
              </a:ext>
            </a:extLst>
          </p:cNvPr>
          <p:cNvSpPr/>
          <p:nvPr/>
        </p:nvSpPr>
        <p:spPr>
          <a:xfrm>
            <a:off x="571500" y="571500"/>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7" name="Google Shape;117;p15" descr="image.png">
            <a:extLst>
              <a:ext uri="{FF2B5EF4-FFF2-40B4-BE49-F238E27FC236}">
                <a16:creationId xmlns:a16="http://schemas.microsoft.com/office/drawing/2014/main" id="{716D0596-4CE7-DFAD-38CA-846E04576F74}"/>
              </a:ext>
            </a:extLst>
          </p:cNvPr>
          <p:cNvPicPr preferRelativeResize="0"/>
          <p:nvPr/>
        </p:nvPicPr>
        <p:blipFill rotWithShape="1">
          <a:blip r:embed="rId6">
            <a:alphaModFix/>
          </a:blip>
          <a:srcRect/>
          <a:stretch/>
        </p:blipFill>
        <p:spPr>
          <a:xfrm>
            <a:off x="585193" y="1772485"/>
            <a:ext cx="163115" cy="247650"/>
          </a:xfrm>
          <a:prstGeom prst="rect">
            <a:avLst/>
          </a:prstGeom>
          <a:noFill/>
          <a:ln>
            <a:noFill/>
          </a:ln>
        </p:spPr>
      </p:pic>
      <p:pic>
        <p:nvPicPr>
          <p:cNvPr id="118" name="Google Shape;118;p15" descr="image.png">
            <a:extLst>
              <a:ext uri="{FF2B5EF4-FFF2-40B4-BE49-F238E27FC236}">
                <a16:creationId xmlns:a16="http://schemas.microsoft.com/office/drawing/2014/main" id="{D1420CE5-9A0A-2A59-0A6D-5C7BE6F37076}"/>
              </a:ext>
            </a:extLst>
          </p:cNvPr>
          <p:cNvPicPr preferRelativeResize="0"/>
          <p:nvPr/>
        </p:nvPicPr>
        <p:blipFill rotWithShape="1">
          <a:blip r:embed="rId6">
            <a:alphaModFix/>
          </a:blip>
          <a:srcRect/>
          <a:stretch/>
        </p:blipFill>
        <p:spPr>
          <a:xfrm>
            <a:off x="589360" y="3121540"/>
            <a:ext cx="163115" cy="247650"/>
          </a:xfrm>
          <a:prstGeom prst="rect">
            <a:avLst/>
          </a:prstGeom>
          <a:noFill/>
          <a:ln>
            <a:noFill/>
          </a:ln>
        </p:spPr>
      </p:pic>
      <p:pic>
        <p:nvPicPr>
          <p:cNvPr id="119" name="Google Shape;119;p15" descr="image.png">
            <a:extLst>
              <a:ext uri="{FF2B5EF4-FFF2-40B4-BE49-F238E27FC236}">
                <a16:creationId xmlns:a16="http://schemas.microsoft.com/office/drawing/2014/main" id="{F15426FA-30F5-A7E2-2656-33557E700C20}"/>
              </a:ext>
            </a:extLst>
          </p:cNvPr>
          <p:cNvPicPr preferRelativeResize="0"/>
          <p:nvPr/>
        </p:nvPicPr>
        <p:blipFill rotWithShape="1">
          <a:blip r:embed="rId6">
            <a:alphaModFix/>
          </a:blip>
          <a:srcRect/>
          <a:stretch/>
        </p:blipFill>
        <p:spPr>
          <a:xfrm>
            <a:off x="598885" y="4470595"/>
            <a:ext cx="163115" cy="247650"/>
          </a:xfrm>
          <a:prstGeom prst="rect">
            <a:avLst/>
          </a:prstGeom>
          <a:noFill/>
          <a:ln>
            <a:noFill/>
          </a:ln>
        </p:spPr>
      </p:pic>
    </p:spTree>
    <p:extLst>
      <p:ext uri="{BB962C8B-B14F-4D97-AF65-F5344CB8AC3E}">
        <p14:creationId xmlns:p14="http://schemas.microsoft.com/office/powerpoint/2010/main" val="525563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123"/>
        <p:cNvGrpSpPr/>
        <p:nvPr/>
      </p:nvGrpSpPr>
      <p:grpSpPr>
        <a:xfrm>
          <a:off x="0" y="0"/>
          <a:ext cx="0" cy="0"/>
          <a:chOff x="0" y="0"/>
          <a:chExt cx="0" cy="0"/>
        </a:xfrm>
      </p:grpSpPr>
      <p:pic>
        <p:nvPicPr>
          <p:cNvPr id="124" name="Google Shape;124;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5" name="Google Shape;125;p16" descr="image.png"/>
          <p:cNvPicPr preferRelativeResize="0"/>
          <p:nvPr/>
        </p:nvPicPr>
        <p:blipFill rotWithShape="1">
          <a:blip r:embed="rId4">
            <a:alphaModFix/>
          </a:blip>
          <a:srcRect/>
          <a:stretch/>
        </p:blipFill>
        <p:spPr>
          <a:xfrm>
            <a:off x="6096000" y="0"/>
            <a:ext cx="6096000" cy="6858000"/>
          </a:xfrm>
          <a:prstGeom prst="rect">
            <a:avLst/>
          </a:prstGeom>
          <a:noFill/>
          <a:ln>
            <a:noFill/>
          </a:ln>
        </p:spPr>
      </p:pic>
      <p:sp>
        <p:nvSpPr>
          <p:cNvPr id="126" name="Google Shape;126;p16"/>
          <p:cNvSpPr txBox="1"/>
          <p:nvPr/>
        </p:nvSpPr>
        <p:spPr>
          <a:xfrm>
            <a:off x="628650" y="2072401"/>
            <a:ext cx="4953000" cy="761747"/>
          </a:xfrm>
          <a:prstGeom prst="rect">
            <a:avLst/>
          </a:prstGeom>
          <a:noFill/>
          <a:ln>
            <a:noFill/>
          </a:ln>
        </p:spPr>
        <p:txBody>
          <a:bodyPr spcFirstLastPara="1" wrap="square" lIns="0" tIns="0" rIns="0" bIns="0" anchor="t" anchorCtr="0">
            <a:spAutoFit/>
          </a:bodyPr>
          <a:lstStyle/>
          <a:p>
            <a:pPr lvl="0"/>
            <a:r>
              <a:rPr lang="en-GB" sz="1650" b="1" dirty="0">
                <a:solidFill>
                  <a:srgbClr val="2C3E50"/>
                </a:solidFill>
                <a:latin typeface="Noto Sans SC"/>
                <a:ea typeface="Noto Sans SC"/>
                <a:cs typeface="Noto Sans SC"/>
                <a:sym typeface="Noto Sans SC"/>
              </a:rPr>
              <a:t>From 1096 to 1291, religion served as the most powerful tool for political and military mobilization.</a:t>
            </a:r>
            <a:endParaRPr b="1" dirty="0"/>
          </a:p>
        </p:txBody>
      </p:sp>
      <p:sp>
        <p:nvSpPr>
          <p:cNvPr id="127" name="Google Shape;127;p16"/>
          <p:cNvSpPr txBox="1"/>
          <p:nvPr/>
        </p:nvSpPr>
        <p:spPr>
          <a:xfrm>
            <a:off x="976312" y="3074459"/>
            <a:ext cx="4572000" cy="812530"/>
          </a:xfrm>
          <a:prstGeom prst="rect">
            <a:avLst/>
          </a:prstGeom>
          <a:noFill/>
          <a:ln>
            <a:noFill/>
          </a:ln>
        </p:spPr>
        <p:txBody>
          <a:bodyPr spcFirstLastPara="1" wrap="square" lIns="0" tIns="0" rIns="0" bIns="0" anchor="t" anchorCtr="0">
            <a:spAutoFit/>
          </a:bodyPr>
          <a:lstStyle/>
          <a:p>
            <a:pPr lvl="0">
              <a:lnSpc>
                <a:spcPct val="160000"/>
              </a:lnSpc>
            </a:pPr>
            <a:r>
              <a:rPr lang="en-GB" sz="1650" dirty="0">
                <a:solidFill>
                  <a:srgbClr val="2C3E50"/>
                </a:solidFill>
                <a:latin typeface="Noto Sans SC"/>
                <a:ea typeface="Noto Sans SC"/>
                <a:cs typeface="Noto Sans SC"/>
                <a:sym typeface="Noto Sans SC"/>
              </a:rPr>
              <a:t>The Pope issued a call to action, and religious redemption became a rallying cry.</a:t>
            </a:r>
            <a:endParaRPr dirty="0"/>
          </a:p>
        </p:txBody>
      </p:sp>
      <p:sp>
        <p:nvSpPr>
          <p:cNvPr id="128" name="Google Shape;128;p16"/>
          <p:cNvSpPr txBox="1"/>
          <p:nvPr/>
        </p:nvSpPr>
        <p:spPr>
          <a:xfrm>
            <a:off x="952500" y="3916632"/>
            <a:ext cx="4572000" cy="812530"/>
          </a:xfrm>
          <a:prstGeom prst="rect">
            <a:avLst/>
          </a:prstGeom>
          <a:noFill/>
          <a:ln>
            <a:noFill/>
          </a:ln>
        </p:spPr>
        <p:txBody>
          <a:bodyPr spcFirstLastPara="1" wrap="square" lIns="0" tIns="0" rIns="0" bIns="0" anchor="t" anchorCtr="0">
            <a:spAutoFit/>
          </a:bodyPr>
          <a:lstStyle/>
          <a:p>
            <a:pPr lvl="0">
              <a:lnSpc>
                <a:spcPct val="160000"/>
              </a:lnSpc>
            </a:pPr>
            <a:r>
              <a:rPr lang="en-GB" sz="1650" dirty="0">
                <a:solidFill>
                  <a:srgbClr val="2C3E50"/>
                </a:solidFill>
                <a:latin typeface="Noto Sans SC"/>
                <a:ea typeface="Noto Sans SC"/>
                <a:cs typeface="Noto Sans SC"/>
                <a:sym typeface="Noto Sans SC"/>
              </a:rPr>
              <a:t>The long-standing conflict between Christian and Islamic civilizations.</a:t>
            </a:r>
            <a:endParaRPr dirty="0"/>
          </a:p>
        </p:txBody>
      </p:sp>
      <p:sp>
        <p:nvSpPr>
          <p:cNvPr id="129" name="Google Shape;129;p16"/>
          <p:cNvSpPr txBox="1"/>
          <p:nvPr/>
        </p:nvSpPr>
        <p:spPr>
          <a:xfrm>
            <a:off x="952500" y="4757268"/>
            <a:ext cx="4572000" cy="1218795"/>
          </a:xfrm>
          <a:prstGeom prst="rect">
            <a:avLst/>
          </a:prstGeom>
          <a:noFill/>
          <a:ln>
            <a:noFill/>
          </a:ln>
        </p:spPr>
        <p:txBody>
          <a:bodyPr spcFirstLastPara="1" wrap="square" lIns="0" tIns="0" rIns="0" bIns="0" anchor="t" anchorCtr="0">
            <a:spAutoFit/>
          </a:bodyPr>
          <a:lstStyle/>
          <a:p>
            <a:pPr lvl="0">
              <a:lnSpc>
                <a:spcPct val="160000"/>
              </a:lnSpc>
            </a:pPr>
            <a:r>
              <a:rPr lang="en-GB" sz="1650" b="1" dirty="0">
                <a:solidFill>
                  <a:srgbClr val="2C3E50"/>
                </a:solidFill>
                <a:latin typeface="Noto Sans SC"/>
                <a:ea typeface="Noto Sans SC"/>
                <a:cs typeface="Noto Sans SC"/>
                <a:sym typeface="Noto Sans SC"/>
              </a:rPr>
              <a:t>Impact: </a:t>
            </a:r>
            <a:r>
              <a:rPr lang="en-GB" sz="1650" dirty="0">
                <a:solidFill>
                  <a:srgbClr val="2C3E50"/>
                </a:solidFill>
                <a:latin typeface="Noto Sans SC"/>
                <a:ea typeface="Noto Sans SC"/>
                <a:cs typeface="Noto Sans SC"/>
                <a:sym typeface="Noto Sans SC"/>
              </a:rPr>
              <a:t>It reinforced the notion of “heretics” and heightened awareness of religious boundaries.</a:t>
            </a:r>
            <a:endParaRPr dirty="0"/>
          </a:p>
        </p:txBody>
      </p:sp>
      <p:sp>
        <p:nvSpPr>
          <p:cNvPr id="130" name="Google Shape;130;p16"/>
          <p:cNvSpPr txBox="1"/>
          <p:nvPr/>
        </p:nvSpPr>
        <p:spPr>
          <a:xfrm>
            <a:off x="762000" y="571500"/>
            <a:ext cx="5000625" cy="969496"/>
          </a:xfrm>
          <a:prstGeom prst="rect">
            <a:avLst/>
          </a:prstGeom>
          <a:noFill/>
          <a:ln>
            <a:noFill/>
          </a:ln>
        </p:spPr>
        <p:txBody>
          <a:bodyPr spcFirstLastPara="1" wrap="square" lIns="0" tIns="0" rIns="0" bIns="0" anchor="t" anchorCtr="0">
            <a:spAutoFit/>
          </a:bodyPr>
          <a:lstStyle/>
          <a:p>
            <a:pPr lvl="0"/>
            <a:r>
              <a:rPr lang="en-GB" sz="3150" b="1" dirty="0">
                <a:solidFill>
                  <a:srgbClr val="0C1E33"/>
                </a:solidFill>
              </a:rPr>
              <a:t>Religion and War: The Crusades</a:t>
            </a:r>
            <a:endParaRPr dirty="0"/>
          </a:p>
        </p:txBody>
      </p:sp>
      <p:sp>
        <p:nvSpPr>
          <p:cNvPr id="131" name="Google Shape;131;p16"/>
          <p:cNvSpPr/>
          <p:nvPr/>
        </p:nvSpPr>
        <p:spPr>
          <a:xfrm>
            <a:off x="571500" y="571500"/>
            <a:ext cx="57150" cy="10668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2" name="Google Shape;132;p16" descr="image.png"/>
          <p:cNvPicPr preferRelativeResize="0"/>
          <p:nvPr/>
        </p:nvPicPr>
        <p:blipFill rotWithShape="1">
          <a:blip r:embed="rId5">
            <a:alphaModFix/>
          </a:blip>
          <a:srcRect/>
          <a:stretch/>
        </p:blipFill>
        <p:spPr>
          <a:xfrm>
            <a:off x="582873" y="3233074"/>
            <a:ext cx="163115" cy="247650"/>
          </a:xfrm>
          <a:prstGeom prst="rect">
            <a:avLst/>
          </a:prstGeom>
          <a:noFill/>
          <a:ln>
            <a:noFill/>
          </a:ln>
        </p:spPr>
      </p:pic>
      <p:pic>
        <p:nvPicPr>
          <p:cNvPr id="133" name="Google Shape;133;p16" descr="image.png"/>
          <p:cNvPicPr preferRelativeResize="0"/>
          <p:nvPr/>
        </p:nvPicPr>
        <p:blipFill rotWithShape="1">
          <a:blip r:embed="rId5">
            <a:alphaModFix/>
          </a:blip>
          <a:srcRect/>
          <a:stretch/>
        </p:blipFill>
        <p:spPr>
          <a:xfrm>
            <a:off x="571500" y="4075247"/>
            <a:ext cx="163115" cy="247650"/>
          </a:xfrm>
          <a:prstGeom prst="rect">
            <a:avLst/>
          </a:prstGeom>
          <a:noFill/>
          <a:ln>
            <a:noFill/>
          </a:ln>
        </p:spPr>
      </p:pic>
      <p:pic>
        <p:nvPicPr>
          <p:cNvPr id="134" name="Google Shape;134;p16" descr="image.png"/>
          <p:cNvPicPr preferRelativeResize="0"/>
          <p:nvPr/>
        </p:nvPicPr>
        <p:blipFill rotWithShape="1">
          <a:blip r:embed="rId5">
            <a:alphaModFix/>
          </a:blip>
          <a:srcRect/>
          <a:stretch/>
        </p:blipFill>
        <p:spPr>
          <a:xfrm>
            <a:off x="582873" y="4923613"/>
            <a:ext cx="163115" cy="247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138"/>
        <p:cNvGrpSpPr/>
        <p:nvPr/>
      </p:nvGrpSpPr>
      <p:grpSpPr>
        <a:xfrm>
          <a:off x="0" y="0"/>
          <a:ext cx="0" cy="0"/>
          <a:chOff x="0" y="0"/>
          <a:chExt cx="0" cy="0"/>
        </a:xfrm>
      </p:grpSpPr>
      <p:pic>
        <p:nvPicPr>
          <p:cNvPr id="139" name="Google Shape;139;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0" name="Google Shape;140;p17" descr="image.png"/>
          <p:cNvPicPr preferRelativeResize="0"/>
          <p:nvPr/>
        </p:nvPicPr>
        <p:blipFill rotWithShape="1">
          <a:blip r:embed="rId4">
            <a:alphaModFix/>
          </a:blip>
          <a:srcRect/>
          <a:stretch/>
        </p:blipFill>
        <p:spPr>
          <a:xfrm>
            <a:off x="571500" y="1981200"/>
            <a:ext cx="5238750" cy="3810000"/>
          </a:xfrm>
          <a:prstGeom prst="rect">
            <a:avLst/>
          </a:prstGeom>
          <a:noFill/>
          <a:ln>
            <a:noFill/>
          </a:ln>
        </p:spPr>
      </p:pic>
      <p:pic>
        <p:nvPicPr>
          <p:cNvPr id="141" name="Google Shape;141;p17" descr="image.png"/>
          <p:cNvPicPr preferRelativeResize="0"/>
          <p:nvPr/>
        </p:nvPicPr>
        <p:blipFill rotWithShape="1">
          <a:blip r:embed="rId5">
            <a:alphaModFix/>
          </a:blip>
          <a:srcRect/>
          <a:stretch/>
        </p:blipFill>
        <p:spPr>
          <a:xfrm>
            <a:off x="571500" y="1981200"/>
            <a:ext cx="5238750" cy="3810000"/>
          </a:xfrm>
          <a:prstGeom prst="rect">
            <a:avLst/>
          </a:prstGeom>
          <a:noFill/>
          <a:ln>
            <a:noFill/>
          </a:ln>
        </p:spPr>
      </p:pic>
      <p:sp>
        <p:nvSpPr>
          <p:cNvPr id="142" name="Google Shape;142;p17"/>
          <p:cNvSpPr txBox="1"/>
          <p:nvPr/>
        </p:nvSpPr>
        <p:spPr>
          <a:xfrm>
            <a:off x="6381750" y="1690359"/>
            <a:ext cx="5500687" cy="646331"/>
          </a:xfrm>
          <a:prstGeom prst="rect">
            <a:avLst/>
          </a:prstGeom>
          <a:noFill/>
          <a:ln>
            <a:noFill/>
          </a:ln>
        </p:spPr>
        <p:txBody>
          <a:bodyPr spcFirstLastPara="1" wrap="square" lIns="0" tIns="0" rIns="0" bIns="0" anchor="t" anchorCtr="0">
            <a:spAutoFit/>
          </a:bodyPr>
          <a:lstStyle/>
          <a:p>
            <a:pPr lvl="0"/>
            <a:r>
              <a:rPr lang="en-GB" sz="2100" b="1" dirty="0">
                <a:solidFill>
                  <a:srgbClr val="B8860B"/>
                </a:solidFill>
                <a:latin typeface="Noto Sans SC"/>
                <a:ea typeface="Noto Sans SC"/>
                <a:cs typeface="Noto Sans SC"/>
                <a:sym typeface="Noto Sans SC"/>
              </a:rPr>
              <a:t>Martin Luther and the Rise of Protestantism</a:t>
            </a:r>
            <a:endParaRPr dirty="0"/>
          </a:p>
        </p:txBody>
      </p:sp>
      <p:sp>
        <p:nvSpPr>
          <p:cNvPr id="143" name="Google Shape;143;p17"/>
          <p:cNvSpPr txBox="1"/>
          <p:nvPr/>
        </p:nvSpPr>
        <p:spPr>
          <a:xfrm>
            <a:off x="6762750" y="2558966"/>
            <a:ext cx="4857750" cy="761747"/>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The emergence of Lutheranism, Calvinism, and the Church of England broke the Catholic Church’s monopoly.</a:t>
            </a:r>
            <a:endParaRPr dirty="0"/>
          </a:p>
        </p:txBody>
      </p:sp>
      <p:sp>
        <p:nvSpPr>
          <p:cNvPr id="144" name="Google Shape;144;p17"/>
          <p:cNvSpPr txBox="1"/>
          <p:nvPr/>
        </p:nvSpPr>
        <p:spPr>
          <a:xfrm>
            <a:off x="6762750" y="3463058"/>
            <a:ext cx="4857750" cy="1015663"/>
          </a:xfrm>
          <a:prstGeom prst="rect">
            <a:avLst/>
          </a:prstGeom>
          <a:noFill/>
          <a:ln>
            <a:noFill/>
          </a:ln>
        </p:spPr>
        <p:txBody>
          <a:bodyPr spcFirstLastPara="1" wrap="square" lIns="0" tIns="0" rIns="0" bIns="0" anchor="t" anchorCtr="0">
            <a:spAutoFit/>
          </a:bodyPr>
          <a:lstStyle/>
          <a:p>
            <a:pPr lvl="0"/>
            <a:r>
              <a:rPr lang="en-GB" sz="1650" b="1" dirty="0">
                <a:solidFill>
                  <a:srgbClr val="2C3E50"/>
                </a:solidFill>
                <a:latin typeface="Noto Sans SC"/>
                <a:ea typeface="Noto Sans SC"/>
                <a:cs typeface="Noto Sans SC"/>
                <a:sym typeface="Noto Sans SC"/>
              </a:rPr>
              <a:t>Political consequences: </a:t>
            </a:r>
            <a:r>
              <a:rPr lang="en-GB" sz="1650" dirty="0">
                <a:solidFill>
                  <a:srgbClr val="2C3E50"/>
                </a:solidFill>
                <a:latin typeface="Noto Sans SC"/>
                <a:ea typeface="Noto Sans SC"/>
                <a:cs typeface="Noto Sans SC"/>
                <a:sym typeface="Noto Sans SC"/>
              </a:rPr>
              <a:t>The collapse of Europe’s unified religious system, with feudal lords using religion to achieve political independence.</a:t>
            </a:r>
            <a:endParaRPr dirty="0"/>
          </a:p>
        </p:txBody>
      </p:sp>
      <p:sp>
        <p:nvSpPr>
          <p:cNvPr id="145" name="Google Shape;145;p17"/>
          <p:cNvSpPr txBox="1"/>
          <p:nvPr/>
        </p:nvSpPr>
        <p:spPr>
          <a:xfrm>
            <a:off x="6762750" y="4569023"/>
            <a:ext cx="4857750" cy="761747"/>
          </a:xfrm>
          <a:prstGeom prst="rect">
            <a:avLst/>
          </a:prstGeom>
          <a:noFill/>
          <a:ln>
            <a:noFill/>
          </a:ln>
        </p:spPr>
        <p:txBody>
          <a:bodyPr spcFirstLastPara="1" wrap="square" lIns="0" tIns="0" rIns="0" bIns="0" anchor="t" anchorCtr="0">
            <a:spAutoFit/>
          </a:bodyPr>
          <a:lstStyle/>
          <a:p>
            <a:pPr lvl="0"/>
            <a:r>
              <a:rPr lang="en-GB" sz="1650" b="1" dirty="0">
                <a:solidFill>
                  <a:srgbClr val="2C3E50"/>
                </a:solidFill>
                <a:latin typeface="Noto Sans SC"/>
                <a:ea typeface="Noto Sans SC"/>
                <a:cs typeface="Noto Sans SC"/>
                <a:sym typeface="Noto Sans SC"/>
              </a:rPr>
              <a:t>National Identity</a:t>
            </a:r>
            <a:r>
              <a:rPr lang="en-GB" sz="1650" dirty="0">
                <a:solidFill>
                  <a:srgbClr val="2C3E50"/>
                </a:solidFill>
                <a:latin typeface="Noto Sans SC"/>
                <a:ea typeface="Noto Sans SC"/>
                <a:cs typeface="Noto Sans SC"/>
                <a:sym typeface="Noto Sans SC"/>
              </a:rPr>
              <a:t>: Religious beliefs are becoming deeply intertwined with ethnic and national identity.</a:t>
            </a:r>
            <a:endParaRPr dirty="0"/>
          </a:p>
        </p:txBody>
      </p:sp>
      <p:sp>
        <p:nvSpPr>
          <p:cNvPr id="146" name="Google Shape;146;p17"/>
          <p:cNvSpPr txBox="1"/>
          <p:nvPr/>
        </p:nvSpPr>
        <p:spPr>
          <a:xfrm>
            <a:off x="762000" y="571500"/>
            <a:ext cx="11401425" cy="484748"/>
          </a:xfrm>
          <a:prstGeom prst="rect">
            <a:avLst/>
          </a:prstGeom>
          <a:noFill/>
          <a:ln>
            <a:noFill/>
          </a:ln>
        </p:spPr>
        <p:txBody>
          <a:bodyPr spcFirstLastPara="1" wrap="square" lIns="0" tIns="0" rIns="0" bIns="0" anchor="t" anchorCtr="0">
            <a:spAutoFit/>
          </a:bodyPr>
          <a:lstStyle/>
          <a:p>
            <a:pPr lvl="0"/>
            <a:r>
              <a:rPr lang="en-GB" sz="3150" b="1" dirty="0">
                <a:solidFill>
                  <a:srgbClr val="0C1E33"/>
                </a:solidFill>
              </a:rPr>
              <a:t>A Political Earthquake Triggered by Religious Divisions</a:t>
            </a:r>
            <a:endParaRPr dirty="0"/>
          </a:p>
        </p:txBody>
      </p:sp>
      <p:sp>
        <p:nvSpPr>
          <p:cNvPr id="147" name="Google Shape;147;p17"/>
          <p:cNvSpPr/>
          <p:nvPr/>
        </p:nvSpPr>
        <p:spPr>
          <a:xfrm>
            <a:off x="571500" y="571500"/>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8" name="Google Shape;148;p17" descr="image.png"/>
          <p:cNvPicPr preferRelativeResize="0"/>
          <p:nvPr/>
        </p:nvPicPr>
        <p:blipFill rotWithShape="1">
          <a:blip r:embed="rId6">
            <a:alphaModFix/>
          </a:blip>
          <a:srcRect/>
          <a:stretch/>
        </p:blipFill>
        <p:spPr>
          <a:xfrm>
            <a:off x="6381750" y="2709521"/>
            <a:ext cx="163115" cy="247650"/>
          </a:xfrm>
          <a:prstGeom prst="rect">
            <a:avLst/>
          </a:prstGeom>
          <a:noFill/>
          <a:ln>
            <a:noFill/>
          </a:ln>
        </p:spPr>
      </p:pic>
      <p:pic>
        <p:nvPicPr>
          <p:cNvPr id="149" name="Google Shape;149;p17" descr="image.png"/>
          <p:cNvPicPr preferRelativeResize="0"/>
          <p:nvPr/>
        </p:nvPicPr>
        <p:blipFill rotWithShape="1">
          <a:blip r:embed="rId6">
            <a:alphaModFix/>
          </a:blip>
          <a:srcRect/>
          <a:stretch/>
        </p:blipFill>
        <p:spPr>
          <a:xfrm>
            <a:off x="6381750" y="3585649"/>
            <a:ext cx="163115" cy="247650"/>
          </a:xfrm>
          <a:prstGeom prst="rect">
            <a:avLst/>
          </a:prstGeom>
          <a:noFill/>
          <a:ln>
            <a:noFill/>
          </a:ln>
        </p:spPr>
      </p:pic>
      <p:pic>
        <p:nvPicPr>
          <p:cNvPr id="150" name="Google Shape;150;p17" descr="image.png"/>
          <p:cNvPicPr preferRelativeResize="0"/>
          <p:nvPr/>
        </p:nvPicPr>
        <p:blipFill rotWithShape="1">
          <a:blip r:embed="rId6">
            <a:alphaModFix/>
          </a:blip>
          <a:srcRect/>
          <a:stretch/>
        </p:blipFill>
        <p:spPr>
          <a:xfrm>
            <a:off x="6381154" y="4761528"/>
            <a:ext cx="163115" cy="247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173"/>
        <p:cNvGrpSpPr/>
        <p:nvPr/>
      </p:nvGrpSpPr>
      <p:grpSpPr>
        <a:xfrm>
          <a:off x="0" y="0"/>
          <a:ext cx="0" cy="0"/>
          <a:chOff x="0" y="0"/>
          <a:chExt cx="0" cy="0"/>
        </a:xfrm>
      </p:grpSpPr>
      <p:pic>
        <p:nvPicPr>
          <p:cNvPr id="174" name="Google Shape;174;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5" name="Google Shape;175;p19" descr="image.png"/>
          <p:cNvPicPr preferRelativeResize="0"/>
          <p:nvPr/>
        </p:nvPicPr>
        <p:blipFill rotWithShape="1">
          <a:blip r:embed="rId4">
            <a:alphaModFix/>
          </a:blip>
          <a:srcRect/>
          <a:stretch/>
        </p:blipFill>
        <p:spPr>
          <a:xfrm>
            <a:off x="6381750" y="3390900"/>
            <a:ext cx="5238750" cy="3810000"/>
          </a:xfrm>
          <a:prstGeom prst="rect">
            <a:avLst/>
          </a:prstGeom>
          <a:noFill/>
          <a:ln>
            <a:noFill/>
          </a:ln>
        </p:spPr>
      </p:pic>
      <p:sp>
        <p:nvSpPr>
          <p:cNvPr id="176" name="Google Shape;176;p19"/>
          <p:cNvSpPr txBox="1"/>
          <p:nvPr/>
        </p:nvSpPr>
        <p:spPr>
          <a:xfrm>
            <a:off x="571500" y="1485900"/>
            <a:ext cx="3831336" cy="18466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0" b="1" i="0" u="none" strike="noStrike" cap="none" dirty="0">
                <a:solidFill>
                  <a:srgbClr val="0C1E33"/>
                </a:solidFill>
                <a:latin typeface="Noto Sans SC"/>
                <a:ea typeface="Noto Sans SC"/>
                <a:cs typeface="Noto Sans SC"/>
                <a:sym typeface="Noto Sans SC"/>
              </a:rPr>
              <a:t>1648</a:t>
            </a:r>
            <a:endParaRPr dirty="0"/>
          </a:p>
        </p:txBody>
      </p:sp>
      <p:sp>
        <p:nvSpPr>
          <p:cNvPr id="177" name="Google Shape;177;p19"/>
          <p:cNvSpPr txBox="1"/>
          <p:nvPr/>
        </p:nvSpPr>
        <p:spPr>
          <a:xfrm>
            <a:off x="4470820" y="1809749"/>
            <a:ext cx="3600450" cy="415498"/>
          </a:xfrm>
          <a:prstGeom prst="rect">
            <a:avLst/>
          </a:prstGeom>
          <a:noFill/>
          <a:ln>
            <a:noFill/>
          </a:ln>
        </p:spPr>
        <p:txBody>
          <a:bodyPr spcFirstLastPara="1" wrap="square" lIns="0" tIns="0" rIns="0" bIns="0" anchor="t" anchorCtr="0">
            <a:spAutoFit/>
          </a:bodyPr>
          <a:lstStyle/>
          <a:p>
            <a:pPr lvl="0"/>
            <a:r>
              <a:rPr lang="en-US" sz="2700" b="1" i="1" dirty="0">
                <a:solidFill>
                  <a:srgbClr val="2C3E50"/>
                </a:solidFill>
                <a:latin typeface="Noto Sans SC"/>
                <a:ea typeface="Noto Sans SC"/>
                <a:cs typeface="Noto Sans SC"/>
                <a:sym typeface="Noto Sans SC"/>
              </a:rPr>
              <a:t>Treaty of Westphalia</a:t>
            </a:r>
            <a:endParaRPr i="1" dirty="0"/>
          </a:p>
        </p:txBody>
      </p:sp>
      <p:sp>
        <p:nvSpPr>
          <p:cNvPr id="178" name="Google Shape;178;p19"/>
          <p:cNvSpPr txBox="1"/>
          <p:nvPr/>
        </p:nvSpPr>
        <p:spPr>
          <a:xfrm>
            <a:off x="4748212" y="2478570"/>
            <a:ext cx="3429000" cy="507831"/>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The true beginning of the modern system of nation-states.</a:t>
            </a:r>
            <a:endParaRPr dirty="0"/>
          </a:p>
        </p:txBody>
      </p:sp>
      <p:sp>
        <p:nvSpPr>
          <p:cNvPr id="179" name="Google Shape;179;p19"/>
          <p:cNvSpPr txBox="1"/>
          <p:nvPr/>
        </p:nvSpPr>
        <p:spPr>
          <a:xfrm>
            <a:off x="952500" y="3640854"/>
            <a:ext cx="4857750" cy="812530"/>
          </a:xfrm>
          <a:prstGeom prst="rect">
            <a:avLst/>
          </a:prstGeom>
          <a:noFill/>
          <a:ln>
            <a:noFill/>
          </a:ln>
        </p:spPr>
        <p:txBody>
          <a:bodyPr spcFirstLastPara="1" wrap="square" lIns="0" tIns="0" rIns="0" bIns="0" anchor="t" anchorCtr="0">
            <a:spAutoFit/>
          </a:bodyPr>
          <a:lstStyle/>
          <a:p>
            <a:pPr lvl="0">
              <a:lnSpc>
                <a:spcPct val="160000"/>
              </a:lnSpc>
            </a:pPr>
            <a:r>
              <a:rPr lang="en-GB" sz="1650" b="1" dirty="0">
                <a:solidFill>
                  <a:srgbClr val="2C3E50"/>
                </a:solidFill>
                <a:latin typeface="Noto Sans SC"/>
                <a:ea typeface="Noto Sans SC"/>
                <a:cs typeface="Noto Sans SC"/>
                <a:sym typeface="Noto Sans SC"/>
              </a:rPr>
              <a:t>National sovereignty: </a:t>
            </a:r>
            <a:r>
              <a:rPr lang="en-GB" sz="1650" dirty="0">
                <a:solidFill>
                  <a:srgbClr val="2C3E50"/>
                </a:solidFill>
                <a:latin typeface="Noto Sans SC"/>
                <a:ea typeface="Noto Sans SC"/>
                <a:cs typeface="Noto Sans SC"/>
                <a:sym typeface="Noto Sans SC"/>
              </a:rPr>
              <a:t>Sovereign states have replaced the church as the supreme authority.</a:t>
            </a:r>
            <a:endParaRPr dirty="0"/>
          </a:p>
        </p:txBody>
      </p:sp>
      <p:sp>
        <p:nvSpPr>
          <p:cNvPr id="180" name="Google Shape;180;p19"/>
          <p:cNvSpPr txBox="1"/>
          <p:nvPr/>
        </p:nvSpPr>
        <p:spPr>
          <a:xfrm>
            <a:off x="952500" y="4424919"/>
            <a:ext cx="4857750" cy="1218795"/>
          </a:xfrm>
          <a:prstGeom prst="rect">
            <a:avLst/>
          </a:prstGeom>
          <a:noFill/>
          <a:ln>
            <a:noFill/>
          </a:ln>
        </p:spPr>
        <p:txBody>
          <a:bodyPr spcFirstLastPara="1" wrap="square" lIns="0" tIns="0" rIns="0" bIns="0" anchor="t" anchorCtr="0">
            <a:spAutoFit/>
          </a:bodyPr>
          <a:lstStyle/>
          <a:p>
            <a:pPr lvl="0">
              <a:lnSpc>
                <a:spcPct val="160000"/>
              </a:lnSpc>
            </a:pPr>
            <a:r>
              <a:rPr lang="en-GB" sz="1650" b="1" dirty="0">
                <a:solidFill>
                  <a:srgbClr val="2C3E50"/>
                </a:solidFill>
                <a:latin typeface="Noto Sans SC"/>
                <a:ea typeface="Noto Sans SC"/>
                <a:cs typeface="Noto Sans SC"/>
                <a:sym typeface="Noto Sans SC"/>
              </a:rPr>
              <a:t>The Decline of Ecclesiastical Power</a:t>
            </a:r>
            <a:r>
              <a:rPr lang="en-GB" sz="1650" dirty="0">
                <a:solidFill>
                  <a:srgbClr val="2C3E50"/>
                </a:solidFill>
                <a:latin typeface="Noto Sans SC"/>
                <a:ea typeface="Noto Sans SC"/>
                <a:cs typeface="Noto Sans SC"/>
                <a:sym typeface="Noto Sans SC"/>
              </a:rPr>
              <a:t>: The Pope's influence in international politics has significantly diminished.</a:t>
            </a:r>
            <a:endParaRPr dirty="0"/>
          </a:p>
        </p:txBody>
      </p:sp>
      <p:sp>
        <p:nvSpPr>
          <p:cNvPr id="181" name="Google Shape;181;p19"/>
          <p:cNvSpPr txBox="1"/>
          <p:nvPr/>
        </p:nvSpPr>
        <p:spPr>
          <a:xfrm>
            <a:off x="952500" y="5614987"/>
            <a:ext cx="4857750" cy="1218795"/>
          </a:xfrm>
          <a:prstGeom prst="rect">
            <a:avLst/>
          </a:prstGeom>
          <a:noFill/>
          <a:ln>
            <a:noFill/>
          </a:ln>
        </p:spPr>
        <p:txBody>
          <a:bodyPr spcFirstLastPara="1" wrap="square" lIns="0" tIns="0" rIns="0" bIns="0" anchor="t" anchorCtr="0">
            <a:spAutoFit/>
          </a:bodyPr>
          <a:lstStyle/>
          <a:p>
            <a:pPr lvl="0">
              <a:lnSpc>
                <a:spcPct val="160000"/>
              </a:lnSpc>
            </a:pPr>
            <a:r>
              <a:rPr lang="en-GB" sz="1650" b="1" dirty="0">
                <a:solidFill>
                  <a:srgbClr val="2C3E50"/>
                </a:solidFill>
                <a:latin typeface="Noto Sans SC"/>
                <a:ea typeface="Noto Sans SC"/>
                <a:cs typeface="Noto Sans SC"/>
                <a:sym typeface="Noto Sans SC"/>
              </a:rPr>
              <a:t>Secularization: </a:t>
            </a:r>
            <a:r>
              <a:rPr lang="en-GB" sz="1650" dirty="0">
                <a:solidFill>
                  <a:srgbClr val="2C3E50"/>
                </a:solidFill>
                <a:latin typeface="Noto Sans SC"/>
                <a:ea typeface="Noto Sans SC"/>
                <a:cs typeface="Noto Sans SC"/>
                <a:sym typeface="Noto Sans SC"/>
              </a:rPr>
              <a:t>The emergence of the separation of church and state, and a societal shift toward the rule of law and rationality.</a:t>
            </a:r>
            <a:endParaRPr dirty="0"/>
          </a:p>
        </p:txBody>
      </p:sp>
      <p:pic>
        <p:nvPicPr>
          <p:cNvPr id="182" name="Google Shape;182;p19" descr="image.png"/>
          <p:cNvPicPr preferRelativeResize="0"/>
          <p:nvPr/>
        </p:nvPicPr>
        <p:blipFill rotWithShape="1">
          <a:blip r:embed="rId5">
            <a:alphaModFix/>
          </a:blip>
          <a:srcRect/>
          <a:stretch/>
        </p:blipFill>
        <p:spPr>
          <a:xfrm>
            <a:off x="6667500" y="3048000"/>
            <a:ext cx="5238750" cy="3810000"/>
          </a:xfrm>
          <a:prstGeom prst="rect">
            <a:avLst/>
          </a:prstGeom>
          <a:noFill/>
          <a:ln>
            <a:noFill/>
          </a:ln>
        </p:spPr>
      </p:pic>
      <p:sp>
        <p:nvSpPr>
          <p:cNvPr id="183" name="Google Shape;183;p19"/>
          <p:cNvSpPr txBox="1"/>
          <p:nvPr/>
        </p:nvSpPr>
        <p:spPr>
          <a:xfrm>
            <a:off x="761999" y="269789"/>
            <a:ext cx="11401425" cy="969496"/>
          </a:xfrm>
          <a:prstGeom prst="rect">
            <a:avLst/>
          </a:prstGeom>
          <a:noFill/>
          <a:ln>
            <a:noFill/>
          </a:ln>
        </p:spPr>
        <p:txBody>
          <a:bodyPr spcFirstLastPara="1" wrap="square" lIns="0" tIns="0" rIns="0" bIns="0" anchor="t" anchorCtr="0">
            <a:spAutoFit/>
          </a:bodyPr>
          <a:lstStyle/>
          <a:p>
            <a:pPr lvl="0"/>
            <a:r>
              <a:rPr lang="en-GB" sz="3150" b="1" dirty="0">
                <a:solidFill>
                  <a:srgbClr val="0C1E33"/>
                </a:solidFill>
              </a:rPr>
              <a:t>The Cost and Consequences of Europe’s Emergence from the Religious Wars</a:t>
            </a:r>
            <a:endParaRPr dirty="0"/>
          </a:p>
        </p:txBody>
      </p:sp>
      <p:sp>
        <p:nvSpPr>
          <p:cNvPr id="184" name="Google Shape;184;p19"/>
          <p:cNvSpPr/>
          <p:nvPr/>
        </p:nvSpPr>
        <p:spPr>
          <a:xfrm>
            <a:off x="571500" y="487837"/>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5" name="Google Shape;185;p19" descr="image.png"/>
          <p:cNvPicPr preferRelativeResize="0"/>
          <p:nvPr/>
        </p:nvPicPr>
        <p:blipFill rotWithShape="1">
          <a:blip r:embed="rId6">
            <a:alphaModFix/>
          </a:blip>
          <a:srcRect/>
          <a:stretch/>
        </p:blipFill>
        <p:spPr>
          <a:xfrm>
            <a:off x="571500" y="3799469"/>
            <a:ext cx="163115" cy="247650"/>
          </a:xfrm>
          <a:prstGeom prst="rect">
            <a:avLst/>
          </a:prstGeom>
          <a:noFill/>
          <a:ln>
            <a:noFill/>
          </a:ln>
        </p:spPr>
      </p:pic>
      <p:pic>
        <p:nvPicPr>
          <p:cNvPr id="186" name="Google Shape;186;p19" descr="image.png"/>
          <p:cNvPicPr preferRelativeResize="0"/>
          <p:nvPr/>
        </p:nvPicPr>
        <p:blipFill rotWithShape="1">
          <a:blip r:embed="rId6">
            <a:alphaModFix/>
          </a:blip>
          <a:srcRect/>
          <a:stretch/>
        </p:blipFill>
        <p:spPr>
          <a:xfrm>
            <a:off x="571500" y="4666300"/>
            <a:ext cx="163115" cy="247650"/>
          </a:xfrm>
          <a:prstGeom prst="rect">
            <a:avLst/>
          </a:prstGeom>
          <a:noFill/>
          <a:ln>
            <a:noFill/>
          </a:ln>
        </p:spPr>
      </p:pic>
      <p:pic>
        <p:nvPicPr>
          <p:cNvPr id="187" name="Google Shape;187;p19" descr="image.png"/>
          <p:cNvPicPr preferRelativeResize="0"/>
          <p:nvPr/>
        </p:nvPicPr>
        <p:blipFill rotWithShape="1">
          <a:blip r:embed="rId6">
            <a:alphaModFix/>
          </a:blip>
          <a:srcRect/>
          <a:stretch/>
        </p:blipFill>
        <p:spPr>
          <a:xfrm>
            <a:off x="571500" y="5775085"/>
            <a:ext cx="163115" cy="247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191"/>
        <p:cNvGrpSpPr/>
        <p:nvPr/>
      </p:nvGrpSpPr>
      <p:grpSpPr>
        <a:xfrm>
          <a:off x="0" y="0"/>
          <a:ext cx="0" cy="0"/>
          <a:chOff x="0" y="0"/>
          <a:chExt cx="0" cy="0"/>
        </a:xfrm>
      </p:grpSpPr>
      <p:pic>
        <p:nvPicPr>
          <p:cNvPr id="192" name="Google Shape;192;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3" name="Google Shape;193;p20" descr="image.png"/>
          <p:cNvPicPr preferRelativeResize="0"/>
          <p:nvPr/>
        </p:nvPicPr>
        <p:blipFill rotWithShape="1">
          <a:blip r:embed="rId4">
            <a:alphaModFix/>
          </a:blip>
          <a:srcRect/>
          <a:stretch/>
        </p:blipFill>
        <p:spPr>
          <a:xfrm>
            <a:off x="6381750" y="1981200"/>
            <a:ext cx="5238750" cy="3810000"/>
          </a:xfrm>
          <a:prstGeom prst="rect">
            <a:avLst/>
          </a:prstGeom>
          <a:noFill/>
          <a:ln>
            <a:noFill/>
          </a:ln>
        </p:spPr>
      </p:pic>
      <p:sp>
        <p:nvSpPr>
          <p:cNvPr id="194" name="Google Shape;194;p20"/>
          <p:cNvSpPr txBox="1"/>
          <p:nvPr/>
        </p:nvSpPr>
        <p:spPr>
          <a:xfrm>
            <a:off x="600075" y="1676400"/>
            <a:ext cx="5500687" cy="492443"/>
          </a:xfrm>
          <a:prstGeom prst="rect">
            <a:avLst/>
          </a:prstGeom>
          <a:noFill/>
          <a:ln>
            <a:noFill/>
          </a:ln>
        </p:spPr>
        <p:txBody>
          <a:bodyPr spcFirstLastPara="1" wrap="square" lIns="0" tIns="0" rIns="0" bIns="0" anchor="t" anchorCtr="0">
            <a:spAutoFit/>
          </a:bodyPr>
          <a:lstStyle/>
          <a:p>
            <a:pPr lvl="0"/>
            <a:r>
              <a:rPr lang="en-GB" sz="1600" b="1" dirty="0">
                <a:solidFill>
                  <a:srgbClr val="B8860B"/>
                </a:solidFill>
                <a:latin typeface="Noto Sans SC"/>
                <a:ea typeface="Noto Sans SC"/>
                <a:cs typeface="Noto Sans SC"/>
                <a:sym typeface="Noto Sans SC"/>
              </a:rPr>
              <a:t>Governing the Country According to Confucian Principles: Secular Ethics at the Core</a:t>
            </a:r>
            <a:endParaRPr sz="1600" dirty="0"/>
          </a:p>
        </p:txBody>
      </p:sp>
      <p:sp>
        <p:nvSpPr>
          <p:cNvPr id="195" name="Google Shape;195;p20"/>
          <p:cNvSpPr txBox="1"/>
          <p:nvPr/>
        </p:nvSpPr>
        <p:spPr>
          <a:xfrm>
            <a:off x="571500" y="2311718"/>
            <a:ext cx="5238750" cy="1015663"/>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Since the Qin and Han dynasties, China has established a powerful imperial political system, and religion has always occupied a passive or subordinate position.</a:t>
            </a:r>
            <a:endParaRPr dirty="0"/>
          </a:p>
        </p:txBody>
      </p:sp>
      <p:pic>
        <p:nvPicPr>
          <p:cNvPr id="196" name="Google Shape;196;p20" descr="image.png"/>
          <p:cNvPicPr preferRelativeResize="0"/>
          <p:nvPr/>
        </p:nvPicPr>
        <p:blipFill rotWithShape="1">
          <a:blip r:embed="rId5">
            <a:alphaModFix/>
          </a:blip>
          <a:srcRect/>
          <a:stretch/>
        </p:blipFill>
        <p:spPr>
          <a:xfrm>
            <a:off x="6381750" y="1981200"/>
            <a:ext cx="5238750" cy="3810000"/>
          </a:xfrm>
          <a:prstGeom prst="rect">
            <a:avLst/>
          </a:prstGeom>
          <a:noFill/>
          <a:ln>
            <a:noFill/>
          </a:ln>
        </p:spPr>
      </p:pic>
      <p:sp>
        <p:nvSpPr>
          <p:cNvPr id="197" name="Google Shape;197;p20"/>
          <p:cNvSpPr txBox="1"/>
          <p:nvPr/>
        </p:nvSpPr>
        <p:spPr>
          <a:xfrm>
            <a:off x="1015603" y="3464369"/>
            <a:ext cx="4857750" cy="761747"/>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Confucianism provided the ethical framework, ritual system, and social order for state governance.</a:t>
            </a:r>
            <a:endParaRPr dirty="0"/>
          </a:p>
        </p:txBody>
      </p:sp>
      <p:sp>
        <p:nvSpPr>
          <p:cNvPr id="198" name="Google Shape;198;p20"/>
          <p:cNvSpPr txBox="1"/>
          <p:nvPr/>
        </p:nvSpPr>
        <p:spPr>
          <a:xfrm>
            <a:off x="1015603" y="4385322"/>
            <a:ext cx="4857750" cy="761747"/>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Religions (Buddhism and Taoism) primarily serve the purpose of popular belief and spiritual comfort.</a:t>
            </a:r>
            <a:endParaRPr dirty="0"/>
          </a:p>
        </p:txBody>
      </p:sp>
      <p:sp>
        <p:nvSpPr>
          <p:cNvPr id="199" name="Google Shape;199;p20"/>
          <p:cNvSpPr txBox="1"/>
          <p:nvPr/>
        </p:nvSpPr>
        <p:spPr>
          <a:xfrm>
            <a:off x="1015603" y="5306275"/>
            <a:ext cx="4857750" cy="761747"/>
          </a:xfrm>
          <a:prstGeom prst="rect">
            <a:avLst/>
          </a:prstGeom>
          <a:noFill/>
          <a:ln>
            <a:noFill/>
          </a:ln>
        </p:spPr>
        <p:txBody>
          <a:bodyPr spcFirstLastPara="1" wrap="square" lIns="0" tIns="0" rIns="0" bIns="0" anchor="t" anchorCtr="0">
            <a:spAutoFit/>
          </a:bodyPr>
          <a:lstStyle/>
          <a:p>
            <a:pPr lvl="0"/>
            <a:r>
              <a:rPr lang="en-GB" sz="1650" b="1" dirty="0">
                <a:solidFill>
                  <a:srgbClr val="2C3E50"/>
                </a:solidFill>
                <a:latin typeface="Noto Sans SC"/>
                <a:ea typeface="Noto Sans SC"/>
                <a:cs typeface="Noto Sans SC"/>
                <a:sym typeface="Noto Sans SC"/>
              </a:rPr>
              <a:t>Key difference: </a:t>
            </a:r>
            <a:r>
              <a:rPr lang="en-GB" sz="1650" dirty="0">
                <a:solidFill>
                  <a:srgbClr val="2C3E50"/>
                </a:solidFill>
                <a:latin typeface="Noto Sans SC"/>
                <a:ea typeface="Noto Sans SC"/>
                <a:cs typeface="Noto Sans SC"/>
                <a:sym typeface="Noto Sans SC"/>
              </a:rPr>
              <a:t>There is no independent church system that stands above the authority of the emperor.</a:t>
            </a:r>
            <a:endParaRPr dirty="0"/>
          </a:p>
        </p:txBody>
      </p:sp>
      <p:sp>
        <p:nvSpPr>
          <p:cNvPr id="200" name="Google Shape;200;p20"/>
          <p:cNvSpPr txBox="1"/>
          <p:nvPr/>
        </p:nvSpPr>
        <p:spPr>
          <a:xfrm>
            <a:off x="762000" y="571500"/>
            <a:ext cx="11401425" cy="484748"/>
          </a:xfrm>
          <a:prstGeom prst="rect">
            <a:avLst/>
          </a:prstGeom>
          <a:noFill/>
          <a:ln>
            <a:noFill/>
          </a:ln>
        </p:spPr>
        <p:txBody>
          <a:bodyPr spcFirstLastPara="1" wrap="square" lIns="0" tIns="0" rIns="0" bIns="0" anchor="t" anchorCtr="0">
            <a:spAutoFit/>
          </a:bodyPr>
          <a:lstStyle/>
          <a:p>
            <a:pPr lvl="0"/>
            <a:r>
              <a:rPr lang="en-GB" sz="3150" b="1" dirty="0">
                <a:solidFill>
                  <a:srgbClr val="0C1E33"/>
                </a:solidFill>
              </a:rPr>
              <a:t>China: The State Takes Precedence Over Religion</a:t>
            </a:r>
            <a:endParaRPr dirty="0"/>
          </a:p>
        </p:txBody>
      </p:sp>
      <p:sp>
        <p:nvSpPr>
          <p:cNvPr id="201" name="Google Shape;201;p20"/>
          <p:cNvSpPr/>
          <p:nvPr/>
        </p:nvSpPr>
        <p:spPr>
          <a:xfrm>
            <a:off x="571500" y="571500"/>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2" name="Google Shape;202;p20" descr="image.png"/>
          <p:cNvPicPr preferRelativeResize="0"/>
          <p:nvPr/>
        </p:nvPicPr>
        <p:blipFill rotWithShape="1">
          <a:blip r:embed="rId6">
            <a:alphaModFix/>
          </a:blip>
          <a:srcRect/>
          <a:stretch/>
        </p:blipFill>
        <p:spPr>
          <a:xfrm>
            <a:off x="571500" y="3577367"/>
            <a:ext cx="163115" cy="247650"/>
          </a:xfrm>
          <a:prstGeom prst="rect">
            <a:avLst/>
          </a:prstGeom>
          <a:noFill/>
          <a:ln>
            <a:noFill/>
          </a:ln>
        </p:spPr>
      </p:pic>
      <p:pic>
        <p:nvPicPr>
          <p:cNvPr id="203" name="Google Shape;203;p20" descr="image.png"/>
          <p:cNvPicPr preferRelativeResize="0"/>
          <p:nvPr/>
        </p:nvPicPr>
        <p:blipFill rotWithShape="1">
          <a:blip r:embed="rId6">
            <a:alphaModFix/>
          </a:blip>
          <a:srcRect/>
          <a:stretch/>
        </p:blipFill>
        <p:spPr>
          <a:xfrm>
            <a:off x="571500" y="4525470"/>
            <a:ext cx="163115" cy="247650"/>
          </a:xfrm>
          <a:prstGeom prst="rect">
            <a:avLst/>
          </a:prstGeom>
          <a:noFill/>
          <a:ln>
            <a:noFill/>
          </a:ln>
        </p:spPr>
      </p:pic>
      <p:pic>
        <p:nvPicPr>
          <p:cNvPr id="204" name="Google Shape;204;p20" descr="image.png"/>
          <p:cNvPicPr preferRelativeResize="0"/>
          <p:nvPr/>
        </p:nvPicPr>
        <p:blipFill rotWithShape="1">
          <a:blip r:embed="rId6">
            <a:alphaModFix/>
          </a:blip>
          <a:srcRect/>
          <a:stretch/>
        </p:blipFill>
        <p:spPr>
          <a:xfrm>
            <a:off x="600075" y="5439498"/>
            <a:ext cx="163115" cy="247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228"/>
        <p:cNvGrpSpPr/>
        <p:nvPr/>
      </p:nvGrpSpPr>
      <p:grpSpPr>
        <a:xfrm>
          <a:off x="0" y="0"/>
          <a:ext cx="0" cy="0"/>
          <a:chOff x="0" y="0"/>
          <a:chExt cx="0" cy="0"/>
        </a:xfrm>
      </p:grpSpPr>
      <p:pic>
        <p:nvPicPr>
          <p:cNvPr id="229" name="Google Shape;229;p22" descr="image.png"/>
          <p:cNvPicPr preferRelativeResize="0"/>
          <p:nvPr/>
        </p:nvPicPr>
        <p:blipFill rotWithShape="1">
          <a:blip r:embed="rId3">
            <a:alphaModFix/>
          </a:blip>
          <a:srcRect/>
          <a:stretch/>
        </p:blipFill>
        <p:spPr>
          <a:xfrm>
            <a:off x="0" y="50601"/>
            <a:ext cx="12192000" cy="6858000"/>
          </a:xfrm>
          <a:prstGeom prst="rect">
            <a:avLst/>
          </a:prstGeom>
          <a:noFill/>
          <a:ln>
            <a:noFill/>
          </a:ln>
        </p:spPr>
      </p:pic>
      <p:sp>
        <p:nvSpPr>
          <p:cNvPr id="231" name="Google Shape;231;p22"/>
          <p:cNvSpPr txBox="1"/>
          <p:nvPr/>
        </p:nvSpPr>
        <p:spPr>
          <a:xfrm>
            <a:off x="952500" y="1895809"/>
            <a:ext cx="4572000" cy="1269578"/>
          </a:xfrm>
          <a:prstGeom prst="rect">
            <a:avLst/>
          </a:prstGeom>
          <a:noFill/>
          <a:ln>
            <a:noFill/>
          </a:ln>
        </p:spPr>
        <p:txBody>
          <a:bodyPr spcFirstLastPara="1" wrap="square" lIns="0" tIns="0" rIns="0" bIns="0" anchor="t" anchorCtr="0">
            <a:spAutoFit/>
          </a:bodyPr>
          <a:lstStyle/>
          <a:p>
            <a:pPr lvl="0"/>
            <a:r>
              <a:rPr lang="en-GB" sz="1650" b="1" dirty="0">
                <a:solidFill>
                  <a:srgbClr val="2C3E50"/>
                </a:solidFill>
                <a:latin typeface="Noto Sans SC"/>
                <a:ea typeface="Noto Sans SC"/>
                <a:cs typeface="Noto Sans SC"/>
                <a:sym typeface="Noto Sans SC"/>
              </a:rPr>
              <a:t>Introduction and Development</a:t>
            </a:r>
            <a:r>
              <a:rPr lang="en-GB" sz="1650" dirty="0">
                <a:solidFill>
                  <a:srgbClr val="2C3E50"/>
                </a:solidFill>
                <a:latin typeface="Noto Sans SC"/>
                <a:ea typeface="Noto Sans SC"/>
                <a:cs typeface="Noto Sans SC"/>
                <a:sym typeface="Noto Sans SC"/>
              </a:rPr>
              <a:t>: Introduced during the Han Dynasty, it reached its peak during the Sui and Tang Dynasties, when Chan Buddhism began to undergo a process of complete Sinicization.</a:t>
            </a:r>
            <a:endParaRPr dirty="0"/>
          </a:p>
        </p:txBody>
      </p:sp>
      <p:sp>
        <p:nvSpPr>
          <p:cNvPr id="232" name="Google Shape;232;p22"/>
          <p:cNvSpPr txBox="1"/>
          <p:nvPr/>
        </p:nvSpPr>
        <p:spPr>
          <a:xfrm>
            <a:off x="952500" y="3259557"/>
            <a:ext cx="4572000" cy="1015663"/>
          </a:xfrm>
          <a:prstGeom prst="rect">
            <a:avLst/>
          </a:prstGeom>
          <a:noFill/>
          <a:ln>
            <a:noFill/>
          </a:ln>
        </p:spPr>
        <p:txBody>
          <a:bodyPr spcFirstLastPara="1" wrap="square" lIns="0" tIns="0" rIns="0" bIns="0" anchor="t" anchorCtr="0">
            <a:spAutoFit/>
          </a:bodyPr>
          <a:lstStyle/>
          <a:p>
            <a:pPr lvl="0"/>
            <a:r>
              <a:rPr lang="en-GB" sz="1650" b="1" dirty="0">
                <a:solidFill>
                  <a:srgbClr val="2C3E50"/>
                </a:solidFill>
                <a:latin typeface="Noto Sans SC"/>
                <a:ea typeface="Noto Sans SC"/>
                <a:cs typeface="Noto Sans SC"/>
                <a:sym typeface="Noto Sans SC"/>
              </a:rPr>
              <a:t>Integration and Compliance</a:t>
            </a:r>
            <a:r>
              <a:rPr lang="en-GB" sz="1650" dirty="0">
                <a:solidFill>
                  <a:srgbClr val="2C3E50"/>
                </a:solidFill>
                <a:latin typeface="Noto Sans SC"/>
                <a:ea typeface="Noto Sans SC"/>
                <a:cs typeface="Noto Sans SC"/>
                <a:sym typeface="Noto Sans SC"/>
              </a:rPr>
              <a:t>: Embracing Confucian concepts of loyalty and filial piety, and accepting government administration (the system of monk-officials).</a:t>
            </a:r>
            <a:endParaRPr dirty="0"/>
          </a:p>
        </p:txBody>
      </p:sp>
      <p:sp>
        <p:nvSpPr>
          <p:cNvPr id="233" name="Google Shape;233;p22"/>
          <p:cNvSpPr txBox="1"/>
          <p:nvPr/>
        </p:nvSpPr>
        <p:spPr>
          <a:xfrm>
            <a:off x="952500" y="4408601"/>
            <a:ext cx="4572000" cy="761747"/>
          </a:xfrm>
          <a:prstGeom prst="rect">
            <a:avLst/>
          </a:prstGeom>
          <a:noFill/>
          <a:ln>
            <a:noFill/>
          </a:ln>
        </p:spPr>
        <p:txBody>
          <a:bodyPr spcFirstLastPara="1" wrap="square" lIns="0" tIns="0" rIns="0" bIns="0" anchor="t" anchorCtr="0">
            <a:spAutoFit/>
          </a:bodyPr>
          <a:lstStyle/>
          <a:p>
            <a:pPr lvl="0"/>
            <a:r>
              <a:rPr lang="en-GB" sz="1650" b="1" dirty="0">
                <a:solidFill>
                  <a:srgbClr val="2C3E50"/>
                </a:solidFill>
                <a:latin typeface="Noto Sans SC"/>
                <a:ea typeface="Noto Sans SC"/>
                <a:cs typeface="Noto Sans SC"/>
                <a:sym typeface="Noto Sans SC"/>
              </a:rPr>
              <a:t>Characteristics: </a:t>
            </a:r>
            <a:r>
              <a:rPr lang="en-GB" sz="1650" dirty="0">
                <a:solidFill>
                  <a:srgbClr val="2C3E50"/>
                </a:solidFill>
                <a:latin typeface="Noto Sans SC"/>
                <a:ea typeface="Noto Sans SC"/>
                <a:cs typeface="Noto Sans SC"/>
                <a:sym typeface="Noto Sans SC"/>
              </a:rPr>
              <a:t>It strikes a balance between religious doctrine and secular authority, becoming a form of “Sinicized Buddhism.”</a:t>
            </a:r>
            <a:endParaRPr dirty="0"/>
          </a:p>
        </p:txBody>
      </p:sp>
      <p:sp>
        <p:nvSpPr>
          <p:cNvPr id="234" name="Google Shape;234;p22"/>
          <p:cNvSpPr txBox="1"/>
          <p:nvPr/>
        </p:nvSpPr>
        <p:spPr>
          <a:xfrm>
            <a:off x="734615" y="260418"/>
            <a:ext cx="5000625" cy="1454244"/>
          </a:xfrm>
          <a:prstGeom prst="rect">
            <a:avLst/>
          </a:prstGeom>
          <a:noFill/>
          <a:ln>
            <a:noFill/>
          </a:ln>
        </p:spPr>
        <p:txBody>
          <a:bodyPr spcFirstLastPara="1" wrap="square" lIns="0" tIns="0" rIns="0" bIns="0" anchor="t" anchorCtr="0">
            <a:spAutoFit/>
          </a:bodyPr>
          <a:lstStyle/>
          <a:p>
            <a:pPr lvl="0"/>
            <a:r>
              <a:rPr lang="en-GB" sz="3150" b="1" dirty="0">
                <a:solidFill>
                  <a:srgbClr val="0C1E33"/>
                </a:solidFill>
              </a:rPr>
              <a:t>The Localization and Rebirth of Foreign Religions</a:t>
            </a:r>
            <a:endParaRPr dirty="0"/>
          </a:p>
        </p:txBody>
      </p:sp>
      <p:sp>
        <p:nvSpPr>
          <p:cNvPr id="235" name="Google Shape;235;p22"/>
          <p:cNvSpPr/>
          <p:nvPr/>
        </p:nvSpPr>
        <p:spPr>
          <a:xfrm>
            <a:off x="460770" y="720840"/>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6" name="Google Shape;236;p22" descr="image.png"/>
          <p:cNvPicPr preferRelativeResize="0"/>
          <p:nvPr/>
        </p:nvPicPr>
        <p:blipFill rotWithShape="1">
          <a:blip r:embed="rId4">
            <a:alphaModFix/>
          </a:blip>
          <a:srcRect/>
          <a:stretch/>
        </p:blipFill>
        <p:spPr>
          <a:xfrm>
            <a:off x="571500" y="2041326"/>
            <a:ext cx="163115" cy="247650"/>
          </a:xfrm>
          <a:prstGeom prst="rect">
            <a:avLst/>
          </a:prstGeom>
          <a:noFill/>
          <a:ln>
            <a:noFill/>
          </a:ln>
        </p:spPr>
      </p:pic>
      <p:pic>
        <p:nvPicPr>
          <p:cNvPr id="237" name="Google Shape;237;p22" descr="image.png"/>
          <p:cNvPicPr preferRelativeResize="0"/>
          <p:nvPr/>
        </p:nvPicPr>
        <p:blipFill rotWithShape="1">
          <a:blip r:embed="rId4">
            <a:alphaModFix/>
          </a:blip>
          <a:srcRect/>
          <a:stretch/>
        </p:blipFill>
        <p:spPr>
          <a:xfrm>
            <a:off x="571500" y="3422951"/>
            <a:ext cx="163115" cy="247650"/>
          </a:xfrm>
          <a:prstGeom prst="rect">
            <a:avLst/>
          </a:prstGeom>
          <a:noFill/>
          <a:ln>
            <a:noFill/>
          </a:ln>
        </p:spPr>
      </p:pic>
      <p:pic>
        <p:nvPicPr>
          <p:cNvPr id="238" name="Google Shape;238;p22" descr="image.png"/>
          <p:cNvPicPr preferRelativeResize="0"/>
          <p:nvPr/>
        </p:nvPicPr>
        <p:blipFill rotWithShape="1">
          <a:blip r:embed="rId4">
            <a:alphaModFix/>
          </a:blip>
          <a:srcRect/>
          <a:stretch/>
        </p:blipFill>
        <p:spPr>
          <a:xfrm>
            <a:off x="571500" y="4561970"/>
            <a:ext cx="163115" cy="247650"/>
          </a:xfrm>
          <a:prstGeom prst="rect">
            <a:avLst/>
          </a:prstGeom>
          <a:noFill/>
          <a:ln>
            <a:noFill/>
          </a:ln>
        </p:spPr>
      </p:pic>
      <p:pic>
        <p:nvPicPr>
          <p:cNvPr id="7170" name="Picture 2" descr="中国佛寺的布局：山门、天王殿、大雄宝殿，有法堂的都是大寺庙">
            <a:extLst>
              <a:ext uri="{FF2B5EF4-FFF2-40B4-BE49-F238E27FC236}">
                <a16:creationId xmlns:a16="http://schemas.microsoft.com/office/drawing/2014/main" id="{9DBDCF25-8785-81F8-8C34-2027FE8CABE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2708" r="22337"/>
          <a:stretch>
            <a:fillRect/>
          </a:stretch>
        </p:blipFill>
        <p:spPr bwMode="auto">
          <a:xfrm>
            <a:off x="5980510" y="104273"/>
            <a:ext cx="6095332" cy="664945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242"/>
        <p:cNvGrpSpPr/>
        <p:nvPr/>
      </p:nvGrpSpPr>
      <p:grpSpPr>
        <a:xfrm>
          <a:off x="0" y="0"/>
          <a:ext cx="0" cy="0"/>
          <a:chOff x="0" y="0"/>
          <a:chExt cx="0" cy="0"/>
        </a:xfrm>
      </p:grpSpPr>
      <p:pic>
        <p:nvPicPr>
          <p:cNvPr id="243" name="Google Shape;243;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4" name="Google Shape;244;p23" descr="image.png"/>
          <p:cNvPicPr preferRelativeResize="0"/>
          <p:nvPr/>
        </p:nvPicPr>
        <p:blipFill rotWithShape="1">
          <a:blip r:embed="rId4">
            <a:alphaModFix/>
          </a:blip>
          <a:srcRect/>
          <a:stretch/>
        </p:blipFill>
        <p:spPr>
          <a:xfrm>
            <a:off x="571500" y="1981200"/>
            <a:ext cx="5238750" cy="3810000"/>
          </a:xfrm>
          <a:prstGeom prst="rect">
            <a:avLst/>
          </a:prstGeom>
          <a:noFill/>
          <a:ln>
            <a:noFill/>
          </a:ln>
        </p:spPr>
      </p:pic>
      <p:pic>
        <p:nvPicPr>
          <p:cNvPr id="245" name="Google Shape;245;p23" descr="image.png"/>
          <p:cNvPicPr preferRelativeResize="0"/>
          <p:nvPr/>
        </p:nvPicPr>
        <p:blipFill rotWithShape="1">
          <a:blip r:embed="rId5">
            <a:alphaModFix/>
          </a:blip>
          <a:srcRect/>
          <a:stretch/>
        </p:blipFill>
        <p:spPr>
          <a:xfrm>
            <a:off x="6381749" y="5001963"/>
            <a:ext cx="5238750" cy="581025"/>
          </a:xfrm>
          <a:prstGeom prst="rect">
            <a:avLst/>
          </a:prstGeom>
          <a:noFill/>
          <a:ln>
            <a:noFill/>
          </a:ln>
        </p:spPr>
      </p:pic>
      <p:pic>
        <p:nvPicPr>
          <p:cNvPr id="246" name="Google Shape;246;p23" descr="image.png"/>
          <p:cNvPicPr preferRelativeResize="0"/>
          <p:nvPr/>
        </p:nvPicPr>
        <p:blipFill rotWithShape="1">
          <a:blip r:embed="rId6">
            <a:alphaModFix/>
          </a:blip>
          <a:srcRect/>
          <a:stretch/>
        </p:blipFill>
        <p:spPr>
          <a:xfrm>
            <a:off x="571500" y="1981200"/>
            <a:ext cx="5238750" cy="3810000"/>
          </a:xfrm>
          <a:prstGeom prst="rect">
            <a:avLst/>
          </a:prstGeom>
          <a:noFill/>
          <a:ln>
            <a:noFill/>
          </a:ln>
        </p:spPr>
      </p:pic>
      <p:sp>
        <p:nvSpPr>
          <p:cNvPr id="247" name="Google Shape;247;p23"/>
          <p:cNvSpPr txBox="1"/>
          <p:nvPr/>
        </p:nvSpPr>
        <p:spPr>
          <a:xfrm>
            <a:off x="6250781" y="1765115"/>
            <a:ext cx="5500687" cy="553998"/>
          </a:xfrm>
          <a:prstGeom prst="rect">
            <a:avLst/>
          </a:prstGeom>
          <a:noFill/>
          <a:ln>
            <a:noFill/>
          </a:ln>
        </p:spPr>
        <p:txBody>
          <a:bodyPr spcFirstLastPara="1" wrap="square" lIns="0" tIns="0" rIns="0" bIns="0" anchor="t" anchorCtr="0">
            <a:spAutoFit/>
          </a:bodyPr>
          <a:lstStyle/>
          <a:p>
            <a:pPr lvl="0"/>
            <a:r>
              <a:rPr lang="en-GB" sz="1800" b="1" dirty="0">
                <a:solidFill>
                  <a:srgbClr val="B8860B"/>
                </a:solidFill>
                <a:latin typeface="Noto Sans SC"/>
                <a:ea typeface="Noto Sans SC"/>
                <a:cs typeface="Noto Sans SC"/>
                <a:sym typeface="Noto Sans SC"/>
              </a:rPr>
              <a:t>“Harmony without Uniformity” in the Post-Song and Ming Periods</a:t>
            </a:r>
            <a:endParaRPr sz="1800" dirty="0"/>
          </a:p>
        </p:txBody>
      </p:sp>
      <p:sp>
        <p:nvSpPr>
          <p:cNvPr id="248" name="Google Shape;248;p23"/>
          <p:cNvSpPr txBox="1"/>
          <p:nvPr/>
        </p:nvSpPr>
        <p:spPr>
          <a:xfrm>
            <a:off x="6381749" y="2771833"/>
            <a:ext cx="5238750" cy="1777410"/>
          </a:xfrm>
          <a:prstGeom prst="rect">
            <a:avLst/>
          </a:prstGeom>
          <a:noFill/>
          <a:ln>
            <a:noFill/>
          </a:ln>
        </p:spPr>
        <p:txBody>
          <a:bodyPr spcFirstLastPara="1" wrap="square" lIns="0" tIns="0" rIns="0" bIns="0" anchor="t" anchorCtr="0">
            <a:spAutoFit/>
          </a:bodyPr>
          <a:lstStyle/>
          <a:p>
            <a:pPr lvl="0"/>
            <a:r>
              <a:rPr lang="en-GB" sz="1650" b="1" dirty="0">
                <a:solidFill>
                  <a:srgbClr val="2C3E50"/>
                </a:solidFill>
                <a:latin typeface="Noto Sans SC"/>
                <a:ea typeface="Noto Sans SC"/>
                <a:cs typeface="Noto Sans SC"/>
                <a:sym typeface="Noto Sans SC"/>
              </a:rPr>
              <a:t>A typical example of Chinese cultural landscape: </a:t>
            </a:r>
            <a:r>
              <a:rPr lang="en-GB" sz="1650" dirty="0">
                <a:solidFill>
                  <a:srgbClr val="2C3E50"/>
                </a:solidFill>
                <a:latin typeface="Noto Sans SC"/>
                <a:ea typeface="Noto Sans SC"/>
                <a:cs typeface="Noto Sans SC"/>
                <a:sym typeface="Noto Sans SC"/>
              </a:rPr>
              <a:t>ordinary people simultaneously </a:t>
            </a:r>
            <a:r>
              <a:rPr lang="en-GB" sz="1650" dirty="0" err="1">
                <a:solidFill>
                  <a:srgbClr val="2C3E50"/>
                </a:solidFill>
                <a:latin typeface="Noto Sans SC"/>
                <a:ea typeface="Noto Sans SC"/>
                <a:cs typeface="Noto Sans SC"/>
                <a:sym typeface="Noto Sans SC"/>
              </a:rPr>
              <a:t>honor</a:t>
            </a:r>
            <a:r>
              <a:rPr lang="en-GB" sz="1650" dirty="0">
                <a:solidFill>
                  <a:srgbClr val="2C3E50"/>
                </a:solidFill>
                <a:latin typeface="Noto Sans SC"/>
                <a:ea typeface="Noto Sans SC"/>
                <a:cs typeface="Noto Sans SC"/>
                <a:sym typeface="Noto Sans SC"/>
              </a:rPr>
              <a:t> their ancestors (Confucianism), worship Buddha, and seek enlightenment through Daoism. These three distinctly different philosophies achieve a perfect harmony under the banner of “Chinese pragmatism.”</a:t>
            </a:r>
            <a:endParaRPr dirty="0"/>
          </a:p>
        </p:txBody>
      </p:sp>
      <p:sp>
        <p:nvSpPr>
          <p:cNvPr id="249" name="Google Shape;249;p23"/>
          <p:cNvSpPr txBox="1"/>
          <p:nvPr/>
        </p:nvSpPr>
        <p:spPr>
          <a:xfrm>
            <a:off x="6572250" y="5192462"/>
            <a:ext cx="48577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C1E33"/>
                </a:solidFill>
                <a:latin typeface="Noto Sans SC"/>
                <a:ea typeface="Noto Sans SC"/>
                <a:cs typeface="Noto Sans SC"/>
                <a:sym typeface="Noto Sans SC"/>
              </a:rPr>
              <a:t>“</a:t>
            </a:r>
            <a:r>
              <a:rPr lang="en-US" sz="1200" b="1" i="0" u="none" strike="noStrike" cap="none" dirty="0" err="1">
                <a:solidFill>
                  <a:srgbClr val="0C1E33"/>
                </a:solidFill>
                <a:latin typeface="Noto Sans SC"/>
                <a:ea typeface="Noto Sans SC"/>
                <a:cs typeface="Noto Sans SC"/>
                <a:sym typeface="Noto Sans SC"/>
              </a:rPr>
              <a:t>红花白藕青荷叶，三教原来是一家</a:t>
            </a:r>
            <a:r>
              <a:rPr lang="en-US" sz="1200" b="1" i="0" u="none" strike="noStrike" cap="none" dirty="0">
                <a:solidFill>
                  <a:srgbClr val="0C1E33"/>
                </a:solidFill>
                <a:latin typeface="Noto Sans SC"/>
                <a:ea typeface="Noto Sans SC"/>
                <a:cs typeface="Noto Sans SC"/>
                <a:sym typeface="Noto Sans SC"/>
              </a:rPr>
              <a:t>。”</a:t>
            </a:r>
            <a:endParaRPr dirty="0"/>
          </a:p>
        </p:txBody>
      </p:sp>
      <p:sp>
        <p:nvSpPr>
          <p:cNvPr id="250" name="Google Shape;250;p23"/>
          <p:cNvSpPr txBox="1"/>
          <p:nvPr/>
        </p:nvSpPr>
        <p:spPr>
          <a:xfrm>
            <a:off x="762000" y="571500"/>
            <a:ext cx="11401425" cy="484748"/>
          </a:xfrm>
          <a:prstGeom prst="rect">
            <a:avLst/>
          </a:prstGeom>
          <a:noFill/>
          <a:ln>
            <a:noFill/>
          </a:ln>
        </p:spPr>
        <p:txBody>
          <a:bodyPr spcFirstLastPara="1" wrap="square" lIns="0" tIns="0" rIns="0" bIns="0" anchor="t" anchorCtr="0">
            <a:spAutoFit/>
          </a:bodyPr>
          <a:lstStyle/>
          <a:p>
            <a:pPr lvl="0"/>
            <a:r>
              <a:rPr lang="en-GB" sz="3150" b="1" dirty="0">
                <a:solidFill>
                  <a:srgbClr val="0C1E33"/>
                </a:solidFill>
              </a:rPr>
              <a:t>The Convergence of the Three Religions</a:t>
            </a:r>
            <a:endParaRPr dirty="0"/>
          </a:p>
        </p:txBody>
      </p:sp>
      <p:sp>
        <p:nvSpPr>
          <p:cNvPr id="251" name="Google Shape;251;p23"/>
          <p:cNvSpPr/>
          <p:nvPr/>
        </p:nvSpPr>
        <p:spPr>
          <a:xfrm>
            <a:off x="571500" y="571500"/>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255"/>
        <p:cNvGrpSpPr/>
        <p:nvPr/>
      </p:nvGrpSpPr>
      <p:grpSpPr>
        <a:xfrm>
          <a:off x="0" y="0"/>
          <a:ext cx="0" cy="0"/>
          <a:chOff x="0" y="0"/>
          <a:chExt cx="0" cy="0"/>
        </a:xfrm>
      </p:grpSpPr>
      <p:pic>
        <p:nvPicPr>
          <p:cNvPr id="256" name="Google Shape;256;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7" name="Google Shape;257;p24" descr="image.png"/>
          <p:cNvPicPr preferRelativeResize="0"/>
          <p:nvPr/>
        </p:nvPicPr>
        <p:blipFill rotWithShape="1">
          <a:blip r:embed="rId4">
            <a:alphaModFix/>
          </a:blip>
          <a:srcRect/>
          <a:stretch/>
        </p:blipFill>
        <p:spPr>
          <a:xfrm>
            <a:off x="571500" y="2900362"/>
            <a:ext cx="5381625" cy="1285875"/>
          </a:xfrm>
          <a:prstGeom prst="rect">
            <a:avLst/>
          </a:prstGeom>
          <a:noFill/>
          <a:ln>
            <a:noFill/>
          </a:ln>
        </p:spPr>
      </p:pic>
      <p:pic>
        <p:nvPicPr>
          <p:cNvPr id="258" name="Google Shape;258;p24" descr="image.png"/>
          <p:cNvPicPr preferRelativeResize="0"/>
          <p:nvPr/>
        </p:nvPicPr>
        <p:blipFill rotWithShape="1">
          <a:blip r:embed="rId4">
            <a:alphaModFix/>
          </a:blip>
          <a:srcRect/>
          <a:stretch/>
        </p:blipFill>
        <p:spPr>
          <a:xfrm>
            <a:off x="6238875" y="2900362"/>
            <a:ext cx="5381625" cy="1285875"/>
          </a:xfrm>
          <a:prstGeom prst="rect">
            <a:avLst/>
          </a:prstGeom>
          <a:noFill/>
          <a:ln>
            <a:noFill/>
          </a:ln>
        </p:spPr>
      </p:pic>
      <p:sp>
        <p:nvSpPr>
          <p:cNvPr id="259" name="Google Shape;259;p24"/>
          <p:cNvSpPr txBox="1"/>
          <p:nvPr/>
        </p:nvSpPr>
        <p:spPr>
          <a:xfrm>
            <a:off x="571500" y="4567237"/>
            <a:ext cx="11049000" cy="553998"/>
          </a:xfrm>
          <a:prstGeom prst="rect">
            <a:avLst/>
          </a:prstGeom>
          <a:noFill/>
          <a:ln>
            <a:noFill/>
          </a:ln>
        </p:spPr>
        <p:txBody>
          <a:bodyPr spcFirstLastPara="1" wrap="square" lIns="0" tIns="0" rIns="0" bIns="0" anchor="t" anchorCtr="0">
            <a:spAutoFit/>
          </a:bodyPr>
          <a:lstStyle/>
          <a:p>
            <a:pPr lvl="0" algn="ctr"/>
            <a:r>
              <a:rPr lang="en-GB" sz="1800" b="1" dirty="0">
                <a:solidFill>
                  <a:srgbClr val="0C1E33"/>
                </a:solidFill>
                <a:latin typeface="Noto Sans SC"/>
                <a:ea typeface="Noto Sans SC"/>
                <a:cs typeface="Noto Sans SC"/>
                <a:sym typeface="Noto Sans SC"/>
              </a:rPr>
              <a:t>Impact: It has supported the long-term unity and prosperity of a vast, multi-ethnic, and unified nation.</a:t>
            </a:r>
            <a:endParaRPr dirty="0"/>
          </a:p>
        </p:txBody>
      </p:sp>
      <p:sp>
        <p:nvSpPr>
          <p:cNvPr id="260" name="Google Shape;260;p24"/>
          <p:cNvSpPr txBox="1"/>
          <p:nvPr/>
        </p:nvSpPr>
        <p:spPr>
          <a:xfrm>
            <a:off x="857250" y="3186112"/>
            <a:ext cx="5050631" cy="300082"/>
          </a:xfrm>
          <a:prstGeom prst="rect">
            <a:avLst/>
          </a:prstGeom>
          <a:noFill/>
          <a:ln>
            <a:noFill/>
          </a:ln>
        </p:spPr>
        <p:txBody>
          <a:bodyPr spcFirstLastPara="1" wrap="square" lIns="0" tIns="0" rIns="0" bIns="0" anchor="t" anchorCtr="0">
            <a:spAutoFit/>
          </a:bodyPr>
          <a:lstStyle/>
          <a:p>
            <a:pPr lvl="0"/>
            <a:r>
              <a:rPr lang="en-US" sz="1950" b="1" dirty="0">
                <a:solidFill>
                  <a:srgbClr val="B8860B"/>
                </a:solidFill>
                <a:latin typeface="Noto Sans SC"/>
                <a:ea typeface="Noto Sans SC"/>
                <a:cs typeface="Noto Sans SC"/>
                <a:sym typeface="Noto Sans SC"/>
              </a:rPr>
              <a:t>Strengthen national authority</a:t>
            </a:r>
            <a:endParaRPr dirty="0"/>
          </a:p>
        </p:txBody>
      </p:sp>
      <p:sp>
        <p:nvSpPr>
          <p:cNvPr id="261" name="Google Shape;261;p24"/>
          <p:cNvSpPr txBox="1"/>
          <p:nvPr/>
        </p:nvSpPr>
        <p:spPr>
          <a:xfrm>
            <a:off x="857250" y="3572375"/>
            <a:ext cx="4810125" cy="369332"/>
          </a:xfrm>
          <a:prstGeom prst="rect">
            <a:avLst/>
          </a:prstGeom>
          <a:noFill/>
          <a:ln>
            <a:noFill/>
          </a:ln>
        </p:spPr>
        <p:txBody>
          <a:bodyPr spcFirstLastPara="1" wrap="square" lIns="0" tIns="0" rIns="0" bIns="0" anchor="t" anchorCtr="0">
            <a:spAutoFit/>
          </a:bodyPr>
          <a:lstStyle/>
          <a:p>
            <a:pPr lvl="0"/>
            <a:r>
              <a:rPr lang="en-GB" sz="1200" dirty="0">
                <a:solidFill>
                  <a:srgbClr val="2C3E50"/>
                </a:solidFill>
                <a:latin typeface="Noto Sans SC"/>
                <a:ea typeface="Noto Sans SC"/>
                <a:cs typeface="Noto Sans SC"/>
                <a:sym typeface="Noto Sans SC"/>
              </a:rPr>
              <a:t>Political authority ensures social order, and all religions must operate within the legal framework.</a:t>
            </a:r>
            <a:endParaRPr dirty="0"/>
          </a:p>
        </p:txBody>
      </p:sp>
      <p:sp>
        <p:nvSpPr>
          <p:cNvPr id="262" name="Google Shape;262;p24"/>
          <p:cNvSpPr txBox="1"/>
          <p:nvPr/>
        </p:nvSpPr>
        <p:spPr>
          <a:xfrm>
            <a:off x="6524625" y="3186112"/>
            <a:ext cx="5050631" cy="300082"/>
          </a:xfrm>
          <a:prstGeom prst="rect">
            <a:avLst/>
          </a:prstGeom>
          <a:noFill/>
          <a:ln>
            <a:noFill/>
          </a:ln>
        </p:spPr>
        <p:txBody>
          <a:bodyPr spcFirstLastPara="1" wrap="square" lIns="0" tIns="0" rIns="0" bIns="0" anchor="t" anchorCtr="0">
            <a:spAutoFit/>
          </a:bodyPr>
          <a:lstStyle/>
          <a:p>
            <a:pPr lvl="0"/>
            <a:r>
              <a:rPr lang="en-US" sz="1950" b="1" dirty="0">
                <a:solidFill>
                  <a:srgbClr val="B8860B"/>
                </a:solidFill>
                <a:latin typeface="Noto Sans SC"/>
                <a:ea typeface="Noto Sans SC"/>
                <a:cs typeface="Noto Sans SC"/>
                <a:sym typeface="Noto Sans SC"/>
              </a:rPr>
              <a:t>Few religious conflict</a:t>
            </a:r>
            <a:endParaRPr dirty="0"/>
          </a:p>
        </p:txBody>
      </p:sp>
      <p:sp>
        <p:nvSpPr>
          <p:cNvPr id="263" name="Google Shape;263;p24"/>
          <p:cNvSpPr txBox="1"/>
          <p:nvPr/>
        </p:nvSpPr>
        <p:spPr>
          <a:xfrm>
            <a:off x="6524625" y="3543299"/>
            <a:ext cx="4810125" cy="369332"/>
          </a:xfrm>
          <a:prstGeom prst="rect">
            <a:avLst/>
          </a:prstGeom>
          <a:noFill/>
          <a:ln>
            <a:noFill/>
          </a:ln>
        </p:spPr>
        <p:txBody>
          <a:bodyPr spcFirstLastPara="1" wrap="square" lIns="0" tIns="0" rIns="0" bIns="0" anchor="t" anchorCtr="0">
            <a:spAutoFit/>
          </a:bodyPr>
          <a:lstStyle/>
          <a:p>
            <a:pPr lvl="0"/>
            <a:r>
              <a:rPr lang="en-GB" sz="1200" dirty="0">
                <a:solidFill>
                  <a:srgbClr val="2C3E50"/>
                </a:solidFill>
                <a:latin typeface="Noto Sans SC"/>
                <a:ea typeface="Noto Sans SC"/>
                <a:cs typeface="Noto Sans SC"/>
                <a:sym typeface="Noto Sans SC"/>
              </a:rPr>
              <a:t>Religious pluralism reduces exclusivity, promotes greater social stability, and minimizes internal friction within a society.</a:t>
            </a:r>
            <a:endParaRPr dirty="0"/>
          </a:p>
        </p:txBody>
      </p:sp>
      <p:sp>
        <p:nvSpPr>
          <p:cNvPr id="264" name="Google Shape;264;p24"/>
          <p:cNvSpPr txBox="1"/>
          <p:nvPr/>
        </p:nvSpPr>
        <p:spPr>
          <a:xfrm>
            <a:off x="762000" y="571500"/>
            <a:ext cx="11401425" cy="484748"/>
          </a:xfrm>
          <a:prstGeom prst="rect">
            <a:avLst/>
          </a:prstGeom>
          <a:noFill/>
          <a:ln>
            <a:noFill/>
          </a:ln>
        </p:spPr>
        <p:txBody>
          <a:bodyPr spcFirstLastPara="1" wrap="square" lIns="0" tIns="0" rIns="0" bIns="0" anchor="t" anchorCtr="0">
            <a:spAutoFit/>
          </a:bodyPr>
          <a:lstStyle/>
          <a:p>
            <a:pPr lvl="0"/>
            <a:r>
              <a:rPr lang="en-GB" sz="3150" b="1" dirty="0">
                <a:solidFill>
                  <a:srgbClr val="0C1E33"/>
                </a:solidFill>
              </a:rPr>
              <a:t>The Steady-State Structure of the Chinese Model</a:t>
            </a:r>
            <a:endParaRPr dirty="0"/>
          </a:p>
        </p:txBody>
      </p:sp>
      <p:sp>
        <p:nvSpPr>
          <p:cNvPr id="265" name="Google Shape;265;p24"/>
          <p:cNvSpPr/>
          <p:nvPr/>
        </p:nvSpPr>
        <p:spPr>
          <a:xfrm>
            <a:off x="571500" y="571500"/>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292"/>
        <p:cNvGrpSpPr/>
        <p:nvPr/>
      </p:nvGrpSpPr>
      <p:grpSpPr>
        <a:xfrm>
          <a:off x="0" y="0"/>
          <a:ext cx="0" cy="0"/>
          <a:chOff x="0" y="0"/>
          <a:chExt cx="0" cy="0"/>
        </a:xfrm>
      </p:grpSpPr>
      <p:pic>
        <p:nvPicPr>
          <p:cNvPr id="293" name="Google Shape;293;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4" name="Google Shape;294;p26" descr="image.png"/>
          <p:cNvPicPr preferRelativeResize="0"/>
          <p:nvPr/>
        </p:nvPicPr>
        <p:blipFill rotWithShape="1">
          <a:blip r:embed="rId4">
            <a:alphaModFix/>
          </a:blip>
          <a:srcRect/>
          <a:stretch/>
        </p:blipFill>
        <p:spPr>
          <a:xfrm>
            <a:off x="571500" y="2626221"/>
            <a:ext cx="5238750" cy="2519957"/>
          </a:xfrm>
          <a:prstGeom prst="rect">
            <a:avLst/>
          </a:prstGeom>
          <a:noFill/>
          <a:ln>
            <a:noFill/>
          </a:ln>
        </p:spPr>
      </p:pic>
      <p:pic>
        <p:nvPicPr>
          <p:cNvPr id="295" name="Google Shape;295;p26" descr="image.png"/>
          <p:cNvPicPr preferRelativeResize="0"/>
          <p:nvPr/>
        </p:nvPicPr>
        <p:blipFill rotWithShape="1">
          <a:blip r:embed="rId4">
            <a:alphaModFix/>
          </a:blip>
          <a:srcRect/>
          <a:stretch/>
        </p:blipFill>
        <p:spPr>
          <a:xfrm>
            <a:off x="6381750" y="2626221"/>
            <a:ext cx="5238750" cy="2519957"/>
          </a:xfrm>
          <a:prstGeom prst="rect">
            <a:avLst/>
          </a:prstGeom>
          <a:noFill/>
          <a:ln>
            <a:noFill/>
          </a:ln>
        </p:spPr>
      </p:pic>
      <p:sp>
        <p:nvSpPr>
          <p:cNvPr id="296" name="Google Shape;296;p26"/>
          <p:cNvSpPr txBox="1"/>
          <p:nvPr/>
        </p:nvSpPr>
        <p:spPr>
          <a:xfrm>
            <a:off x="857250" y="2911971"/>
            <a:ext cx="4900612" cy="300082"/>
          </a:xfrm>
          <a:prstGeom prst="rect">
            <a:avLst/>
          </a:prstGeom>
          <a:noFill/>
          <a:ln>
            <a:noFill/>
          </a:ln>
        </p:spPr>
        <p:txBody>
          <a:bodyPr spcFirstLastPara="1" wrap="square" lIns="0" tIns="0" rIns="0" bIns="0" anchor="t" anchorCtr="0">
            <a:spAutoFit/>
          </a:bodyPr>
          <a:lstStyle/>
          <a:p>
            <a:pPr lvl="0"/>
            <a:r>
              <a:rPr lang="en-GB" sz="1950" b="1" dirty="0">
                <a:solidFill>
                  <a:srgbClr val="B8860B"/>
                </a:solidFill>
                <a:latin typeface="Noto Sans SC"/>
                <a:ea typeface="Noto Sans SC"/>
                <a:cs typeface="Noto Sans SC"/>
                <a:sym typeface="Noto Sans SC"/>
              </a:rPr>
              <a:t>The Pains of Western Modernization</a:t>
            </a:r>
            <a:endParaRPr dirty="0"/>
          </a:p>
        </p:txBody>
      </p:sp>
      <p:sp>
        <p:nvSpPr>
          <p:cNvPr id="297" name="Google Shape;297;p26"/>
          <p:cNvSpPr txBox="1"/>
          <p:nvPr/>
        </p:nvSpPr>
        <p:spPr>
          <a:xfrm>
            <a:off x="6667500" y="2683452"/>
            <a:ext cx="4900612" cy="600164"/>
          </a:xfrm>
          <a:prstGeom prst="rect">
            <a:avLst/>
          </a:prstGeom>
          <a:noFill/>
          <a:ln>
            <a:noFill/>
          </a:ln>
        </p:spPr>
        <p:txBody>
          <a:bodyPr spcFirstLastPara="1" wrap="square" lIns="0" tIns="0" rIns="0" bIns="0" anchor="t" anchorCtr="0">
            <a:spAutoFit/>
          </a:bodyPr>
          <a:lstStyle/>
          <a:p>
            <a:pPr lvl="0"/>
            <a:r>
              <a:rPr lang="en-GB" sz="1950" b="1" dirty="0">
                <a:solidFill>
                  <a:srgbClr val="B8860B"/>
                </a:solidFill>
                <a:latin typeface="Noto Sans SC"/>
                <a:ea typeface="Noto Sans SC"/>
                <a:cs typeface="Noto Sans SC"/>
                <a:sym typeface="Noto Sans SC"/>
              </a:rPr>
              <a:t>China's long-term stability and prosperity</a:t>
            </a:r>
            <a:endParaRPr dirty="0"/>
          </a:p>
        </p:txBody>
      </p:sp>
      <p:sp>
        <p:nvSpPr>
          <p:cNvPr id="298" name="Google Shape;298;p26"/>
          <p:cNvSpPr txBox="1"/>
          <p:nvPr/>
        </p:nvSpPr>
        <p:spPr>
          <a:xfrm>
            <a:off x="1238250" y="3388221"/>
            <a:ext cx="4286250" cy="507831"/>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Long-standing religious conflicts gave rise to international law.</a:t>
            </a:r>
            <a:endParaRPr dirty="0"/>
          </a:p>
        </p:txBody>
      </p:sp>
      <p:sp>
        <p:nvSpPr>
          <p:cNvPr id="299" name="Google Shape;299;p26"/>
          <p:cNvSpPr txBox="1"/>
          <p:nvPr/>
        </p:nvSpPr>
        <p:spPr>
          <a:xfrm>
            <a:off x="1238250" y="3947219"/>
            <a:ext cx="4286250" cy="507831"/>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The power struggle within the church evolved into a civil rights awakening.</a:t>
            </a:r>
            <a:endParaRPr dirty="0"/>
          </a:p>
        </p:txBody>
      </p:sp>
      <p:sp>
        <p:nvSpPr>
          <p:cNvPr id="300" name="Google Shape;300;p26"/>
          <p:cNvSpPr txBox="1"/>
          <p:nvPr/>
        </p:nvSpPr>
        <p:spPr>
          <a:xfrm>
            <a:off x="1238250" y="4506217"/>
            <a:ext cx="4286250" cy="507831"/>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Achieve a leap toward secularization through the separation of church and state.</a:t>
            </a:r>
            <a:endParaRPr dirty="0"/>
          </a:p>
        </p:txBody>
      </p:sp>
      <p:sp>
        <p:nvSpPr>
          <p:cNvPr id="301" name="Google Shape;301;p26"/>
          <p:cNvSpPr txBox="1"/>
          <p:nvPr/>
        </p:nvSpPr>
        <p:spPr>
          <a:xfrm>
            <a:off x="7048500" y="3388221"/>
            <a:ext cx="4286250" cy="507831"/>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Multicultural integration has eliminated the potential for division.</a:t>
            </a:r>
            <a:endParaRPr dirty="0"/>
          </a:p>
        </p:txBody>
      </p:sp>
      <p:sp>
        <p:nvSpPr>
          <p:cNvPr id="302" name="Google Shape;302;p26"/>
          <p:cNvSpPr txBox="1"/>
          <p:nvPr/>
        </p:nvSpPr>
        <p:spPr>
          <a:xfrm>
            <a:off x="7048500" y="3947218"/>
            <a:ext cx="4286250" cy="507831"/>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maintained political unity over an exceptionally long period.</a:t>
            </a:r>
            <a:endParaRPr dirty="0"/>
          </a:p>
        </p:txBody>
      </p:sp>
      <p:sp>
        <p:nvSpPr>
          <p:cNvPr id="303" name="Google Shape;303;p26"/>
          <p:cNvSpPr txBox="1"/>
          <p:nvPr/>
        </p:nvSpPr>
        <p:spPr>
          <a:xfrm>
            <a:off x="7048500" y="4506217"/>
            <a:ext cx="4286250" cy="507831"/>
          </a:xfrm>
          <a:prstGeom prst="rect">
            <a:avLst/>
          </a:prstGeom>
          <a:noFill/>
          <a:ln>
            <a:noFill/>
          </a:ln>
        </p:spPr>
        <p:txBody>
          <a:bodyPr spcFirstLastPara="1" wrap="square" lIns="0" tIns="0" rIns="0" bIns="0" anchor="t" anchorCtr="0">
            <a:spAutoFit/>
          </a:bodyPr>
          <a:lstStyle/>
          <a:p>
            <a:pPr lvl="0"/>
            <a:r>
              <a:rPr lang="en-GB" sz="1650" dirty="0">
                <a:solidFill>
                  <a:srgbClr val="2C3E50"/>
                </a:solidFill>
                <a:latin typeface="Noto Sans SC"/>
                <a:ea typeface="Noto Sans SC"/>
                <a:cs typeface="Noto Sans SC"/>
                <a:sym typeface="Noto Sans SC"/>
              </a:rPr>
              <a:t>The principle of putting people first and prioritizing order has been established.</a:t>
            </a:r>
            <a:endParaRPr dirty="0"/>
          </a:p>
        </p:txBody>
      </p:sp>
      <p:sp>
        <p:nvSpPr>
          <p:cNvPr id="304" name="Google Shape;304;p26"/>
          <p:cNvSpPr txBox="1"/>
          <p:nvPr/>
        </p:nvSpPr>
        <p:spPr>
          <a:xfrm>
            <a:off x="762000" y="571500"/>
            <a:ext cx="11401425" cy="484748"/>
          </a:xfrm>
          <a:prstGeom prst="rect">
            <a:avLst/>
          </a:prstGeom>
          <a:noFill/>
          <a:ln>
            <a:noFill/>
          </a:ln>
        </p:spPr>
        <p:txBody>
          <a:bodyPr spcFirstLastPara="1" wrap="square" lIns="0" tIns="0" rIns="0" bIns="0" anchor="t" anchorCtr="0">
            <a:spAutoFit/>
          </a:bodyPr>
          <a:lstStyle/>
          <a:p>
            <a:pPr lvl="0"/>
            <a:r>
              <a:rPr lang="en-GB" sz="3150" b="1" dirty="0">
                <a:solidFill>
                  <a:srgbClr val="0C1E33"/>
                </a:solidFill>
              </a:rPr>
              <a:t>How Do Relationships Shape Civilization?</a:t>
            </a:r>
            <a:endParaRPr dirty="0"/>
          </a:p>
        </p:txBody>
      </p:sp>
      <p:sp>
        <p:nvSpPr>
          <p:cNvPr id="305" name="Google Shape;305;p26"/>
          <p:cNvSpPr/>
          <p:nvPr/>
        </p:nvSpPr>
        <p:spPr>
          <a:xfrm>
            <a:off x="571500" y="571500"/>
            <a:ext cx="57150" cy="533400"/>
          </a:xfrm>
          <a:prstGeom prst="rect">
            <a:avLst/>
          </a:prstGeom>
          <a:solidFill>
            <a:srgbClr val="B886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06" name="Google Shape;306;p26" descr="image.png"/>
          <p:cNvPicPr preferRelativeResize="0"/>
          <p:nvPr/>
        </p:nvPicPr>
        <p:blipFill rotWithShape="1">
          <a:blip r:embed="rId5">
            <a:alphaModFix/>
          </a:blip>
          <a:srcRect/>
          <a:stretch/>
        </p:blipFill>
        <p:spPr>
          <a:xfrm>
            <a:off x="857250" y="3388221"/>
            <a:ext cx="163115" cy="247650"/>
          </a:xfrm>
          <a:prstGeom prst="rect">
            <a:avLst/>
          </a:prstGeom>
          <a:noFill/>
          <a:ln>
            <a:noFill/>
          </a:ln>
        </p:spPr>
      </p:pic>
      <p:pic>
        <p:nvPicPr>
          <p:cNvPr id="307" name="Google Shape;307;p26" descr="image.png"/>
          <p:cNvPicPr preferRelativeResize="0"/>
          <p:nvPr/>
        </p:nvPicPr>
        <p:blipFill rotWithShape="1">
          <a:blip r:embed="rId5">
            <a:alphaModFix/>
          </a:blip>
          <a:srcRect/>
          <a:stretch/>
        </p:blipFill>
        <p:spPr>
          <a:xfrm>
            <a:off x="857250" y="4033837"/>
            <a:ext cx="163115" cy="247650"/>
          </a:xfrm>
          <a:prstGeom prst="rect">
            <a:avLst/>
          </a:prstGeom>
          <a:noFill/>
          <a:ln>
            <a:noFill/>
          </a:ln>
        </p:spPr>
      </p:pic>
      <p:pic>
        <p:nvPicPr>
          <p:cNvPr id="308" name="Google Shape;308;p26" descr="image.png"/>
          <p:cNvPicPr preferRelativeResize="0"/>
          <p:nvPr/>
        </p:nvPicPr>
        <p:blipFill rotWithShape="1">
          <a:blip r:embed="rId5">
            <a:alphaModFix/>
          </a:blip>
          <a:srcRect/>
          <a:stretch/>
        </p:blipFill>
        <p:spPr>
          <a:xfrm>
            <a:off x="857250" y="4609549"/>
            <a:ext cx="163115" cy="247650"/>
          </a:xfrm>
          <a:prstGeom prst="rect">
            <a:avLst/>
          </a:prstGeom>
          <a:noFill/>
          <a:ln>
            <a:noFill/>
          </a:ln>
        </p:spPr>
      </p:pic>
      <p:pic>
        <p:nvPicPr>
          <p:cNvPr id="309" name="Google Shape;309;p26" descr="image.png"/>
          <p:cNvPicPr preferRelativeResize="0"/>
          <p:nvPr/>
        </p:nvPicPr>
        <p:blipFill rotWithShape="1">
          <a:blip r:embed="rId5">
            <a:alphaModFix/>
          </a:blip>
          <a:srcRect/>
          <a:stretch/>
        </p:blipFill>
        <p:spPr>
          <a:xfrm>
            <a:off x="6667500" y="3388221"/>
            <a:ext cx="163115" cy="247650"/>
          </a:xfrm>
          <a:prstGeom prst="rect">
            <a:avLst/>
          </a:prstGeom>
          <a:noFill/>
          <a:ln>
            <a:noFill/>
          </a:ln>
        </p:spPr>
      </p:pic>
      <p:pic>
        <p:nvPicPr>
          <p:cNvPr id="310" name="Google Shape;310;p26" descr="image.png"/>
          <p:cNvPicPr preferRelativeResize="0"/>
          <p:nvPr/>
        </p:nvPicPr>
        <p:blipFill rotWithShape="1">
          <a:blip r:embed="rId5">
            <a:alphaModFix/>
          </a:blip>
          <a:srcRect/>
          <a:stretch/>
        </p:blipFill>
        <p:spPr>
          <a:xfrm>
            <a:off x="6662831" y="4033837"/>
            <a:ext cx="163115" cy="247650"/>
          </a:xfrm>
          <a:prstGeom prst="rect">
            <a:avLst/>
          </a:prstGeom>
          <a:noFill/>
          <a:ln>
            <a:noFill/>
          </a:ln>
        </p:spPr>
      </p:pic>
      <p:pic>
        <p:nvPicPr>
          <p:cNvPr id="311" name="Google Shape;311;p26" descr="image.png"/>
          <p:cNvPicPr preferRelativeResize="0"/>
          <p:nvPr/>
        </p:nvPicPr>
        <p:blipFill rotWithShape="1">
          <a:blip r:embed="rId5">
            <a:alphaModFix/>
          </a:blip>
          <a:srcRect/>
          <a:stretch/>
        </p:blipFill>
        <p:spPr>
          <a:xfrm>
            <a:off x="6667500" y="4617326"/>
            <a:ext cx="163115" cy="247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3E8"/>
        </a:solidFill>
        <a:effectLst/>
      </p:bgPr>
    </p:bg>
    <p:spTree>
      <p:nvGrpSpPr>
        <p:cNvPr id="1" name="Shape 315"/>
        <p:cNvGrpSpPr/>
        <p:nvPr/>
      </p:nvGrpSpPr>
      <p:grpSpPr>
        <a:xfrm>
          <a:off x="0" y="0"/>
          <a:ext cx="0" cy="0"/>
          <a:chOff x="0" y="0"/>
          <a:chExt cx="0" cy="0"/>
        </a:xfrm>
      </p:grpSpPr>
      <p:pic>
        <p:nvPicPr>
          <p:cNvPr id="316" name="Google Shape;316;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18" name="Google Shape;318;p27"/>
          <p:cNvSpPr txBox="1"/>
          <p:nvPr/>
        </p:nvSpPr>
        <p:spPr>
          <a:xfrm>
            <a:off x="952500" y="1719262"/>
            <a:ext cx="10287000" cy="1938992"/>
          </a:xfrm>
          <a:prstGeom prst="rect">
            <a:avLst/>
          </a:prstGeom>
          <a:noFill/>
          <a:ln>
            <a:noFill/>
          </a:ln>
        </p:spPr>
        <p:txBody>
          <a:bodyPr spcFirstLastPara="1" wrap="square" lIns="0" tIns="0" rIns="0" bIns="0" anchor="t" anchorCtr="0">
            <a:spAutoFit/>
          </a:bodyPr>
          <a:lstStyle/>
          <a:p>
            <a:pPr lvl="0" algn="ctr"/>
            <a:r>
              <a:rPr lang="en-GB" sz="4200" b="1" dirty="0">
                <a:solidFill>
                  <a:srgbClr val="0C1E33"/>
                </a:solidFill>
              </a:rPr>
              <a:t>Different relationships between religion and politics have shaped different paths of civilization.</a:t>
            </a:r>
            <a:endParaRPr b="1" dirty="0"/>
          </a:p>
        </p:txBody>
      </p:sp>
      <p:sp>
        <p:nvSpPr>
          <p:cNvPr id="319" name="Google Shape;319;p27"/>
          <p:cNvSpPr txBox="1"/>
          <p:nvPr/>
        </p:nvSpPr>
        <p:spPr>
          <a:xfrm>
            <a:off x="571500" y="4214812"/>
            <a:ext cx="5650706" cy="2160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dirty="0">
                <a:solidFill>
                  <a:srgbClr val="0C1E33"/>
                </a:solidFill>
                <a:latin typeface="Noto Sans SC"/>
                <a:ea typeface="Noto Sans SC"/>
                <a:sym typeface="Noto Sans SC"/>
              </a:rPr>
              <a:t>Eastern</a:t>
            </a:r>
            <a:endParaRPr dirty="0"/>
          </a:p>
        </p:txBody>
      </p:sp>
      <p:sp>
        <p:nvSpPr>
          <p:cNvPr id="320" name="Google Shape;320;p27"/>
          <p:cNvSpPr txBox="1"/>
          <p:nvPr/>
        </p:nvSpPr>
        <p:spPr>
          <a:xfrm>
            <a:off x="571500" y="4462462"/>
            <a:ext cx="5381625" cy="369332"/>
          </a:xfrm>
          <a:prstGeom prst="rect">
            <a:avLst/>
          </a:prstGeom>
          <a:noFill/>
          <a:ln>
            <a:noFill/>
          </a:ln>
        </p:spPr>
        <p:txBody>
          <a:bodyPr spcFirstLastPara="1" wrap="square" lIns="0" tIns="0" rIns="0" bIns="0" anchor="t" anchorCtr="0">
            <a:spAutoFit/>
          </a:bodyPr>
          <a:lstStyle/>
          <a:p>
            <a:pPr lvl="0"/>
            <a:r>
              <a:rPr lang="en-GB" sz="1200" dirty="0">
                <a:solidFill>
                  <a:srgbClr val="2C3E50"/>
                </a:solidFill>
                <a:latin typeface="Noto Sans SC"/>
                <a:ea typeface="Noto Sans SC"/>
                <a:cs typeface="Noto Sans SC"/>
                <a:sym typeface="Noto Sans SC"/>
              </a:rPr>
              <a:t>The separation of religion and politics put an end to the wars sparked by disputes over truth.</a:t>
            </a:r>
            <a:endParaRPr dirty="0"/>
          </a:p>
        </p:txBody>
      </p:sp>
      <p:sp>
        <p:nvSpPr>
          <p:cNvPr id="321" name="Google Shape;321;p27"/>
          <p:cNvSpPr txBox="1"/>
          <p:nvPr/>
        </p:nvSpPr>
        <p:spPr>
          <a:xfrm>
            <a:off x="5969793" y="4214812"/>
            <a:ext cx="5650706" cy="215444"/>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b="1" dirty="0"/>
              <a:t>China</a:t>
            </a:r>
            <a:endParaRPr b="1" dirty="0"/>
          </a:p>
        </p:txBody>
      </p:sp>
      <p:sp>
        <p:nvSpPr>
          <p:cNvPr id="322" name="Google Shape;322;p27"/>
          <p:cNvSpPr txBox="1"/>
          <p:nvPr/>
        </p:nvSpPr>
        <p:spPr>
          <a:xfrm>
            <a:off x="6238875" y="4462462"/>
            <a:ext cx="5381625" cy="369332"/>
          </a:xfrm>
          <a:prstGeom prst="rect">
            <a:avLst/>
          </a:prstGeom>
          <a:noFill/>
          <a:ln>
            <a:noFill/>
          </a:ln>
        </p:spPr>
        <p:txBody>
          <a:bodyPr spcFirstLastPara="1" wrap="square" lIns="0" tIns="0" rIns="0" bIns="0" anchor="t" anchorCtr="0">
            <a:spAutoFit/>
          </a:bodyPr>
          <a:lstStyle/>
          <a:p>
            <a:pPr lvl="0" algn="r"/>
            <a:r>
              <a:rPr lang="en-GB" sz="1200" dirty="0">
                <a:solidFill>
                  <a:srgbClr val="2C3E50"/>
                </a:solidFill>
                <a:latin typeface="Noto Sans SC"/>
                <a:ea typeface="Noto Sans SC"/>
                <a:cs typeface="Noto Sans SC"/>
                <a:sym typeface="Noto Sans SC"/>
              </a:rPr>
              <a:t>Through the tolerant governance of religion by the state, cultural unity has been maintained for over a thousand years.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16A6AEBF-33E3-A834-48B3-9E333B00410D}"/>
            </a:ext>
          </a:extLst>
        </p:cNvPr>
        <p:cNvGrpSpPr/>
        <p:nvPr/>
      </p:nvGrpSpPr>
      <p:grpSpPr>
        <a:xfrm>
          <a:off x="0" y="0"/>
          <a:ext cx="0" cy="0"/>
          <a:chOff x="0" y="0"/>
          <a:chExt cx="0" cy="0"/>
        </a:xfrm>
      </p:grpSpPr>
      <p:pic>
        <p:nvPicPr>
          <p:cNvPr id="316" name="Google Shape;316;p27" descr="image.png">
            <a:extLst>
              <a:ext uri="{FF2B5EF4-FFF2-40B4-BE49-F238E27FC236}">
                <a16:creationId xmlns:a16="http://schemas.microsoft.com/office/drawing/2014/main" id="{35B9B2A4-A1A3-3482-40F2-EE44C208969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18" name="Google Shape;318;p27">
            <a:extLst>
              <a:ext uri="{FF2B5EF4-FFF2-40B4-BE49-F238E27FC236}">
                <a16:creationId xmlns:a16="http://schemas.microsoft.com/office/drawing/2014/main" id="{F03F7894-7417-683A-D1C5-37CC99DE85C5}"/>
              </a:ext>
            </a:extLst>
          </p:cNvPr>
          <p:cNvSpPr txBox="1"/>
          <p:nvPr/>
        </p:nvSpPr>
        <p:spPr>
          <a:xfrm>
            <a:off x="377114" y="144289"/>
            <a:ext cx="10287000" cy="369332"/>
          </a:xfrm>
          <a:prstGeom prst="rect">
            <a:avLst/>
          </a:prstGeom>
          <a:noFill/>
          <a:ln>
            <a:noFill/>
          </a:ln>
        </p:spPr>
        <p:txBody>
          <a:bodyPr spcFirstLastPara="1" wrap="square" lIns="0" tIns="0" rIns="0" bIns="0" anchor="t" anchorCtr="0">
            <a:spAutoFit/>
          </a:bodyPr>
          <a:lstStyle/>
          <a:p>
            <a:pPr lvl="0"/>
            <a:r>
              <a:rPr lang="en-US" altLang="zh-CN" sz="2400" b="1" dirty="0"/>
              <a:t>Reference</a:t>
            </a:r>
            <a:endParaRPr sz="2400" b="1" dirty="0"/>
          </a:p>
        </p:txBody>
      </p:sp>
      <p:sp>
        <p:nvSpPr>
          <p:cNvPr id="2" name="文本框 1">
            <a:extLst>
              <a:ext uri="{FF2B5EF4-FFF2-40B4-BE49-F238E27FC236}">
                <a16:creationId xmlns:a16="http://schemas.microsoft.com/office/drawing/2014/main" id="{A29B3E12-7AF7-BE4E-ADD9-EF4FE5D6B161}"/>
              </a:ext>
            </a:extLst>
          </p:cNvPr>
          <p:cNvSpPr txBox="1"/>
          <p:nvPr/>
        </p:nvSpPr>
        <p:spPr>
          <a:xfrm>
            <a:off x="304800" y="640913"/>
            <a:ext cx="11582400" cy="5755422"/>
          </a:xfrm>
          <a:prstGeom prst="rect">
            <a:avLst/>
          </a:prstGeom>
          <a:noFill/>
        </p:spPr>
        <p:txBody>
          <a:bodyPr wrap="square" rtlCol="0">
            <a:spAutoFit/>
          </a:bodyPr>
          <a:lstStyle/>
          <a:p>
            <a:pPr algn="just"/>
            <a:r>
              <a:rPr lang="en-GB" sz="1600" dirty="0">
                <a:latin typeface="Times New Roman" panose="02020603050405020304" pitchFamily="18" charset="0"/>
                <a:cs typeface="Times New Roman" panose="02020603050405020304" pitchFamily="18" charset="0"/>
              </a:rPr>
              <a:t>Yao, X. (2015). Regional study: Confucianism and the state. In C. Benjamin (Ed.), The Cambridge World History (pp. 435–456). Cambridge University Press.</a:t>
            </a:r>
          </a:p>
          <a:p>
            <a:pPr algn="just"/>
            <a:endParaRPr lang="en-GB" sz="1600" dirty="0">
              <a:latin typeface="Times New Roman" panose="02020603050405020304" pitchFamily="18" charset="0"/>
              <a:cs typeface="Times New Roman" panose="02020603050405020304" pitchFamily="18" charset="0"/>
            </a:endParaRPr>
          </a:p>
          <a:p>
            <a:pPr algn="just"/>
            <a:r>
              <a:rPr lang="en-GB" sz="1600" dirty="0">
                <a:latin typeface="Times New Roman" panose="02020603050405020304" pitchFamily="18" charset="0"/>
                <a:cs typeface="Times New Roman" panose="02020603050405020304" pitchFamily="18" charset="0"/>
              </a:rPr>
              <a:t>Haynes, J. (Ed.). (2016). Religion and politics in Europe, the Middle East and North Africa. Routledge.</a:t>
            </a:r>
          </a:p>
          <a:p>
            <a:pPr algn="just"/>
            <a:endParaRPr lang="en-GB" sz="1600" dirty="0">
              <a:latin typeface="Times New Roman" panose="02020603050405020304" pitchFamily="18" charset="0"/>
              <a:cs typeface="Times New Roman" panose="02020603050405020304" pitchFamily="18" charset="0"/>
            </a:endParaRPr>
          </a:p>
          <a:p>
            <a:pPr algn="just"/>
            <a:r>
              <a:rPr lang="en-GB" sz="1600" dirty="0">
                <a:latin typeface="Times New Roman" panose="02020603050405020304" pitchFamily="18" charset="0"/>
                <a:cs typeface="Times New Roman" panose="02020603050405020304" pitchFamily="18" charset="0"/>
              </a:rPr>
              <a:t>Hu, S. (2007). Confucianism and contemporary Chinese politics. Journal of Chinese Political Science, 12(2), 165–182. </a:t>
            </a:r>
            <a:r>
              <a:rPr lang="en-GB" sz="1600" dirty="0">
                <a:latin typeface="Times New Roman" panose="02020603050405020304" pitchFamily="18" charset="0"/>
                <a:cs typeface="Times New Roman" panose="02020603050405020304" pitchFamily="18" charset="0"/>
                <a:hlinkClick r:id="rId4"/>
              </a:rPr>
              <a:t>https://doi.org/10.1007/s11366-007-9004-4</a:t>
            </a:r>
            <a:endParaRPr lang="en-GB" sz="1600" dirty="0">
              <a:latin typeface="Times New Roman" panose="02020603050405020304" pitchFamily="18" charset="0"/>
              <a:cs typeface="Times New Roman" panose="02020603050405020304" pitchFamily="18" charset="0"/>
            </a:endParaRPr>
          </a:p>
          <a:p>
            <a:pPr algn="just"/>
            <a:endParaRPr lang="en-GB" sz="1600" dirty="0">
              <a:latin typeface="Times New Roman" panose="02020603050405020304" pitchFamily="18" charset="0"/>
              <a:cs typeface="Times New Roman" panose="02020603050405020304" pitchFamily="18" charset="0"/>
            </a:endParaRPr>
          </a:p>
          <a:p>
            <a:pPr algn="just"/>
            <a:r>
              <a:rPr lang="en-GB" sz="1600" dirty="0" err="1">
                <a:latin typeface="Times New Roman" panose="02020603050405020304" pitchFamily="18" charset="0"/>
                <a:cs typeface="Times New Roman" panose="02020603050405020304" pitchFamily="18" charset="0"/>
              </a:rPr>
              <a:t>Maddicott</a:t>
            </a:r>
            <a:r>
              <a:rPr lang="en-GB" sz="1600" dirty="0">
                <a:latin typeface="Times New Roman" panose="02020603050405020304" pitchFamily="18" charset="0"/>
                <a:cs typeface="Times New Roman" panose="02020603050405020304" pitchFamily="18" charset="0"/>
              </a:rPr>
              <a:t>, J. (2010). The origins of the English Parliament, 924–1327. Oxford University Press.</a:t>
            </a:r>
          </a:p>
          <a:p>
            <a:pPr algn="just"/>
            <a:endParaRPr lang="en-GB" sz="1600" dirty="0">
              <a:latin typeface="Times New Roman" panose="02020603050405020304" pitchFamily="18" charset="0"/>
              <a:cs typeface="Times New Roman" panose="02020603050405020304" pitchFamily="18" charset="0"/>
            </a:endParaRPr>
          </a:p>
          <a:p>
            <a:pPr algn="just"/>
            <a:r>
              <a:rPr lang="en-GB" sz="1600" dirty="0">
                <a:latin typeface="Times New Roman" panose="02020603050405020304" pitchFamily="18" charset="0"/>
                <a:cs typeface="Times New Roman" panose="02020603050405020304" pitchFamily="18" charset="0"/>
              </a:rPr>
              <a:t>Philpott, D. (2000). The religious roots of modern international relations. World Politics, 52(2), 206–245.</a:t>
            </a:r>
          </a:p>
          <a:p>
            <a:pPr algn="just"/>
            <a:endParaRPr lang="en-GB" sz="1600" dirty="0">
              <a:latin typeface="Times New Roman" panose="02020603050405020304" pitchFamily="18" charset="0"/>
              <a:cs typeface="Times New Roman" panose="02020603050405020304" pitchFamily="18" charset="0"/>
            </a:endParaRPr>
          </a:p>
          <a:p>
            <a:pPr algn="just"/>
            <a:r>
              <a:rPr lang="en-GB" sz="1600" dirty="0" err="1">
                <a:latin typeface="Times New Roman" panose="02020603050405020304" pitchFamily="18" charset="0"/>
                <a:cs typeface="Times New Roman" panose="02020603050405020304" pitchFamily="18" charset="0"/>
              </a:rPr>
              <a:t>Poceski</a:t>
            </a:r>
            <a:r>
              <a:rPr lang="en-GB" sz="1600" dirty="0">
                <a:latin typeface="Times New Roman" panose="02020603050405020304" pitchFamily="18" charset="0"/>
                <a:cs typeface="Times New Roman" panose="02020603050405020304" pitchFamily="18" charset="0"/>
              </a:rPr>
              <a:t>, M. (2014). The records of Mazu and the making of Chan Buddhism. Oxford University Press.</a:t>
            </a:r>
          </a:p>
          <a:p>
            <a:pPr algn="just"/>
            <a:endParaRPr lang="en-GB" sz="1600" dirty="0">
              <a:latin typeface="Times New Roman" panose="02020603050405020304" pitchFamily="18" charset="0"/>
              <a:cs typeface="Times New Roman" panose="02020603050405020304" pitchFamily="18" charset="0"/>
            </a:endParaRPr>
          </a:p>
          <a:p>
            <a:pPr algn="just"/>
            <a:r>
              <a:rPr lang="en-GB" sz="1600" dirty="0">
                <a:latin typeface="Times New Roman" panose="02020603050405020304" pitchFamily="18" charset="0"/>
                <a:cs typeface="Times New Roman" panose="02020603050405020304" pitchFamily="18" charset="0"/>
              </a:rPr>
              <a:t>Riley-Smith, J. (2005). The crusades: A history (2nd ed.). Yale University Press.</a:t>
            </a:r>
          </a:p>
          <a:p>
            <a:pPr algn="just"/>
            <a:endParaRPr lang="en-GB" sz="1600" dirty="0">
              <a:latin typeface="Times New Roman" panose="02020603050405020304" pitchFamily="18" charset="0"/>
              <a:cs typeface="Times New Roman" panose="02020603050405020304" pitchFamily="18" charset="0"/>
            </a:endParaRPr>
          </a:p>
          <a:p>
            <a:pPr algn="just"/>
            <a:r>
              <a:rPr lang="en-GB" sz="1600" dirty="0">
                <a:latin typeface="Times New Roman" panose="02020603050405020304" pitchFamily="18" charset="0"/>
                <a:cs typeface="Times New Roman" panose="02020603050405020304" pitchFamily="18" charset="0"/>
              </a:rPr>
              <a:t>Sun, L. (2020). The relation between Confucianism and Chinese politics. Journal of Chinese Humanities, 6(1), 1–20.</a:t>
            </a:r>
          </a:p>
          <a:p>
            <a:pPr algn="just"/>
            <a:endParaRPr lang="en-GB" sz="1600" dirty="0">
              <a:latin typeface="Times New Roman" panose="02020603050405020304" pitchFamily="18" charset="0"/>
              <a:cs typeface="Times New Roman" panose="02020603050405020304" pitchFamily="18" charset="0"/>
            </a:endParaRPr>
          </a:p>
          <a:p>
            <a:pPr algn="just"/>
            <a:r>
              <a:rPr lang="en-GB" sz="1600" dirty="0">
                <a:latin typeface="Times New Roman" panose="02020603050405020304" pitchFamily="18" charset="0"/>
                <a:cs typeface="Times New Roman" panose="02020603050405020304" pitchFamily="18" charset="0"/>
              </a:rPr>
              <a:t>Whaley, J. (2012). Germany and the Holy Roman Empire (Vols. 1–2). Oxford University Press.</a:t>
            </a:r>
          </a:p>
          <a:p>
            <a:pPr algn="just"/>
            <a:endParaRPr lang="en-GB" sz="1600" dirty="0">
              <a:latin typeface="Times New Roman" panose="02020603050405020304" pitchFamily="18" charset="0"/>
              <a:cs typeface="Times New Roman" panose="02020603050405020304" pitchFamily="18" charset="0"/>
            </a:endParaRPr>
          </a:p>
          <a:p>
            <a:pPr algn="just"/>
            <a:r>
              <a:rPr lang="en-GB" sz="1600" dirty="0">
                <a:latin typeface="Times New Roman" panose="02020603050405020304" pitchFamily="18" charset="0"/>
                <a:cs typeface="Times New Roman" panose="02020603050405020304" pitchFamily="18" charset="0"/>
              </a:rPr>
              <a:t>Weber, M. (1951). The religion of China: Confucianism and Taoism (H. H. Gerth, Trans.). Free Press.</a:t>
            </a:r>
          </a:p>
          <a:p>
            <a:pPr algn="just"/>
            <a:endParaRPr lang="en-GB" sz="1600" dirty="0">
              <a:latin typeface="Times New Roman" panose="02020603050405020304" pitchFamily="18" charset="0"/>
              <a:cs typeface="Times New Roman" panose="02020603050405020304" pitchFamily="18" charset="0"/>
            </a:endParaRPr>
          </a:p>
          <a:p>
            <a:pPr algn="just"/>
            <a:r>
              <a:rPr lang="en-GB" sz="1600" dirty="0">
                <a:latin typeface="Times New Roman" panose="02020603050405020304" pitchFamily="18" charset="0"/>
                <a:cs typeface="Times New Roman" panose="02020603050405020304" pitchFamily="18" charset="0"/>
              </a:rPr>
              <a:t>Tilly, C. (1992). Coercion, capital, and European states, AD 990–1992. Blackwell.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695483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1239</Words>
  <Application>Microsoft Office PowerPoint</Application>
  <PresentationFormat>宽屏</PresentationFormat>
  <Paragraphs>94</Paragraphs>
  <Slides>14</Slides>
  <Notes>14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Noto Sans SC</vt:lpstr>
      <vt:lpstr>Arial</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Chan Han</cp:lastModifiedBy>
  <cp:revision>4</cp:revision>
  <dcterms:modified xsi:type="dcterms:W3CDTF">2026-05-20T08:05:23Z</dcterms:modified>
</cp:coreProperties>
</file>