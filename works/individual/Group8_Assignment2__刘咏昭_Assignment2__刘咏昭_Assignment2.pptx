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6" r:id="rId10"/>
    <p:sldId id="262" r:id="rId11"/>
    <p:sldId id="264" r:id="rId12"/>
    <p:sldId id="260" r:id="rId13"/>
    <p:sldId id="261" r:id="rId14"/>
    <p:sldId id="265" r:id="rId15"/>
  </p:sldIdLst>
  <p:sldSz cx="12192000" cy="6858000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7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7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9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Hello everyone. Today, I will explore with you a theme that spans a century: the cross-temporal dialogue between technology and philosophy. We will examine the trajectory of technological civilization through a specific historical snapshot—Bertrand Russell's trip to China in 1920—and reflect on its profound implications for the present.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Our research is structured around three core pillars: a philosophical perspective, the theme of technological civilization, and the specific historical context of 1920. This framework allows us to conduct a focused thought experiment across a century.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 first question is, why did we choose AI as our medium? The answer lies in a powerful metaphor. By using the ultimate efficiency of AI to recreate a historical debate on technology and philosophy, we are not just telling a story; we are performing the theme itself—a dialogue between the cutting-edge technology of today and the profound thoughts of the past.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Next, why focus on 1920? This year was a pivotal moment. In the West, the trauma of World War I led to a profound disillusionment with unbridled technology. In the East, China, reeling from the May Fourth Movement, was desperately seeking the "scientific method" to modernize. This collision of disillusionment and aspiration created a unique historical tension.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Next, why focus on 1920? This year was a pivotal moment. In the West, the trauma of World War I led to a profound disillusionment with unbridled technology. In the East, China, reeling from the May Fourth Movement, was desperately seeking the "scientific method" to modernize. This collision of disillusionment and aspiration created a unique historical tension.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But the enlightenment was not one-sided. Russell himself was deeply influenced by China. Witnessing the horrors of WWI, he found in Chinese philosophy, with its emphasis on life and harmony, a much-needed antidote to the West's tech-driven spiritual crisis. This led him to a crucial insight: technology needs ethical guidance.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So, what is our conclusion? It is a return to Russell's core insight: a symbiosis between technology and philosophy. Technology gives us speed, but philosophy provides the ethical foundation. Without philosophy, technology becomes a tool of oppression. Without technology, philosophy remains empty idealism. We must strive for this balance.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So, what happened in 1920? Bertrand Russell arrived in China. His visit was a pivotal event, a true mutual enlightenment.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He came as both a teacher of Western science and a student of Eastern wisdom, making his journey a perfect embodiment of a civilizational dialogue.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From West to East, Russell brought instrumental rationality. His lectures on mathematical logic and scientific positivism were a revelation for Chinese intellectuals, providing them with a powerful new tool to understand and transform the world, effectively clearing the path for China's modernization.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Therefore, revisiting Russell's cross-temporal dialogue with China today is precisely to rediscover that precious sense of balance in an era of breakneck technological advancement. Thank you.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6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tags" Target="../tags/tag5.xml"/><Relationship Id="rId2" Type="http://schemas.openxmlformats.org/officeDocument/2006/relationships/image" Target="../media/image3.jpe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13.xml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2" Type="http://schemas.openxmlformats.org/officeDocument/2006/relationships/notesSlide" Target="../notesSlides/notesSlide6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18.xml"/><Relationship Id="rId2" Type="http://schemas.openxmlformats.org/officeDocument/2006/relationships/tags" Target="../tags/tag9.xml"/><Relationship Id="rId19" Type="http://schemas.openxmlformats.org/officeDocument/2006/relationships/image" Target="../media/image23.svg"/><Relationship Id="rId18" Type="http://schemas.openxmlformats.org/officeDocument/2006/relationships/image" Target="../media/image22.png"/><Relationship Id="rId17" Type="http://schemas.openxmlformats.org/officeDocument/2006/relationships/tags" Target="../tags/tag17.xml"/><Relationship Id="rId16" Type="http://schemas.openxmlformats.org/officeDocument/2006/relationships/image" Target="../media/image21.svg"/><Relationship Id="rId15" Type="http://schemas.openxmlformats.org/officeDocument/2006/relationships/image" Target="../media/image20.png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61695" y="2644140"/>
            <a:ext cx="1092136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4800" b="1" i="0" u="none" strike="noStrike">
              <a:solidFill>
                <a:srgbClr val="F5F5D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84645" y="360299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01385" y="4142740"/>
            <a:ext cx="1016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48830" y="3785235"/>
            <a:ext cx="6322695" cy="7156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400">
                <a:solidFill>
                  <a:srgbClr val="D4AF37">
                    <a:alpha val="85098"/>
                  </a:srgbClr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Major: Philosophy </a:t>
            </a:r>
            <a:endParaRPr lang="en-US" altLang="zh-CN" sz="2400">
              <a:solidFill>
                <a:srgbClr val="D4AF37">
                  <a:alpha val="85098"/>
                </a:srgbClr>
              </a:solidFill>
              <a:latin typeface="Berlin Sans FB Demi" panose="020E0802020502020306" charset="0"/>
              <a:ea typeface="Poppins"/>
              <a:cs typeface="Berlin Sans FB Demi" panose="020E0802020502020306" charset="0"/>
              <a:sym typeface="Poppins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2400">
                <a:solidFill>
                  <a:srgbClr val="D4AF37">
                    <a:alpha val="85098"/>
                  </a:srgbClr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Theme: Technological Civilization </a:t>
            </a:r>
            <a:endParaRPr lang="en-US" altLang="zh-CN" sz="2400">
              <a:solidFill>
                <a:srgbClr val="D4AF37">
                  <a:alpha val="85098"/>
                </a:srgbClr>
              </a:solidFill>
              <a:latin typeface="Berlin Sans FB Demi" panose="020E0802020502020306" charset="0"/>
              <a:ea typeface="Poppins"/>
              <a:cs typeface="Berlin Sans FB Demi" panose="020E0802020502020306" charset="0"/>
              <a:sym typeface="Poppins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2400">
                <a:solidFill>
                  <a:srgbClr val="D4AF37">
                    <a:alpha val="85098"/>
                  </a:srgbClr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Period: V (Modern China, 1920</a:t>
            </a:r>
            <a:r>
              <a:rPr lang="en-US" altLang="zh-CN" sz="2400" b="1">
                <a:solidFill>
                  <a:srgbClr val="D4AF37">
                    <a:alpha val="85098"/>
                  </a:srgbClr>
                </a:solidFill>
                <a:latin typeface="Berlin Sans FB Demi" panose="020E0802020502020306" charset="0"/>
                <a:ea typeface="SimSun" panose="02010600030101010101" pitchFamily="2" charset="-122"/>
                <a:cs typeface="Berlin Sans FB Demi" panose="020E0802020502020306" charset="0"/>
                <a:sym typeface="Poppins"/>
              </a:rPr>
              <a:t>)</a:t>
            </a:r>
            <a:endParaRPr lang="en-US" altLang="zh-CN" sz="2400" b="1">
              <a:solidFill>
                <a:srgbClr val="D4AF37">
                  <a:alpha val="85098"/>
                </a:srgbClr>
              </a:solidFill>
              <a:latin typeface="Berlin Sans FB Demi" panose="020E0802020502020306" charset="0"/>
              <a:ea typeface="SimSun" panose="02010600030101010101" pitchFamily="2" charset="-122"/>
              <a:cs typeface="Berlin Sans FB Demi" panose="020E0802020502020306" charset="0"/>
              <a:sym typeface="Poppin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00675" y="1615440"/>
            <a:ext cx="9161780" cy="193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5400">
                <a:solidFill>
                  <a:schemeClr val="accent4">
                    <a:lumMod val="20000"/>
                    <a:lumOff val="80000"/>
                  </a:schemeClr>
                </a:solidFill>
                <a:latin typeface="Berlin Sans FB Demi" panose="020E0802020502020306" charset="0"/>
                <a:cs typeface="Berlin Sans FB Demi" panose="020E0802020502020306" charset="0"/>
              </a:rPr>
              <a:t>Source Code of Logic: </a:t>
            </a:r>
            <a:endParaRPr lang="en-US" altLang="zh-CN" sz="5400">
              <a:solidFill>
                <a:schemeClr val="accent4">
                  <a:lumMod val="20000"/>
                  <a:lumOff val="80000"/>
                </a:schemeClr>
              </a:solidFill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en-US" altLang="zh-CN" sz="5400">
                <a:solidFill>
                  <a:schemeClr val="accent4">
                    <a:lumMod val="20000"/>
                    <a:lumOff val="80000"/>
                  </a:schemeClr>
                </a:solidFill>
                <a:latin typeface="Berlin Sans FB Demi" panose="020E0802020502020306" charset="0"/>
                <a:cs typeface="Berlin Sans FB Demi" panose="020E0802020502020306" charset="0"/>
              </a:rPr>
              <a:t>Rebuild 2026</a:t>
            </a:r>
            <a:endParaRPr lang="en-US" altLang="zh-CN" sz="5400">
              <a:solidFill>
                <a:schemeClr val="accent4">
                  <a:lumMod val="20000"/>
                  <a:lumOff val="80000"/>
                </a:schemeClr>
              </a:solidFill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50250" y="4932680"/>
            <a:ext cx="39192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汉仪粗宋简" charset="0"/>
                <a:ea typeface="汉仪粗宋简" charset="0"/>
                <a:cs typeface="汉仪粗宋简" charset="0"/>
              </a:rPr>
              <a:t>刘咏昭</a:t>
            </a:r>
            <a:r>
              <a:rPr lang="en-US" altLang="zh-CN" sz="2400" b="1">
                <a:solidFill>
                  <a:schemeClr val="bg1"/>
                </a:solidFill>
                <a:latin typeface="汉仪粗宋简" charset="0"/>
                <a:ea typeface="汉仪粗宋简" charset="0"/>
                <a:cs typeface="汉仪粗宋简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汉仪粗宋简" charset="0"/>
                <a:ea typeface="汉仪粗宋简" charset="0"/>
                <a:cs typeface="汉仪粗宋简" charset="0"/>
              </a:rPr>
              <a:t>2430031157</a:t>
            </a:r>
            <a:endParaRPr lang="en-US" altLang="zh-CN" sz="2000" b="1">
              <a:solidFill>
                <a:schemeClr val="bg1"/>
              </a:solidFill>
              <a:latin typeface="汉仪粗宋简" charset="0"/>
              <a:ea typeface="汉仪粗宋简" charset="0"/>
              <a:cs typeface="汉仪粗宋简" charset="0"/>
            </a:endParaRPr>
          </a:p>
        </p:txBody>
      </p:sp>
      <p:grpSp>
        <p:nvGrpSpPr>
          <p:cNvPr id="46" name="组合 45"/>
          <p:cNvGrpSpPr/>
          <p:nvPr>
            <p:custDataLst>
              <p:tags r:id="rId1"/>
            </p:custDataLst>
          </p:nvPr>
        </p:nvGrpSpPr>
        <p:grpSpPr>
          <a:xfrm rot="0">
            <a:off x="105410" y="1189990"/>
            <a:ext cx="5262880" cy="3632200"/>
            <a:chOff x="2610" y="4535"/>
            <a:chExt cx="14208" cy="9914"/>
          </a:xfrm>
        </p:grpSpPr>
        <p:sp>
          <p:nvSpPr>
            <p:cNvPr id="47" name="任意多边形: 形状 37"/>
            <p:cNvSpPr/>
            <p:nvPr>
              <p:custDataLst>
                <p:tags r:id="rId2"/>
              </p:custDataLst>
            </p:nvPr>
          </p:nvSpPr>
          <p:spPr>
            <a:xfrm>
              <a:off x="2610" y="4535"/>
              <a:ext cx="14208" cy="9915"/>
            </a:xfrm>
            <a:custGeom>
              <a:avLst/>
              <a:gdLst>
                <a:gd name="connsiteX0" fmla="*/ 156917 w 3219769"/>
                <a:gd name="connsiteY0" fmla="*/ 0 h 2246382"/>
                <a:gd name="connsiteX1" fmla="*/ 1756441 w 3219769"/>
                <a:gd name="connsiteY1" fmla="*/ 0 h 2246382"/>
                <a:gd name="connsiteX2" fmla="*/ 1804390 w 3219769"/>
                <a:gd name="connsiteY2" fmla="*/ 47950 h 2246382"/>
                <a:gd name="connsiteX3" fmla="*/ 3146750 w 3219769"/>
                <a:gd name="connsiteY3" fmla="*/ 47950 h 2246382"/>
                <a:gd name="connsiteX4" fmla="*/ 3192514 w 3219769"/>
                <a:gd name="connsiteY4" fmla="*/ 93713 h 2246382"/>
                <a:gd name="connsiteX5" fmla="*/ 3192514 w 3219769"/>
                <a:gd name="connsiteY5" fmla="*/ 395440 h 2246382"/>
                <a:gd name="connsiteX6" fmla="*/ 3192514 w 3219769"/>
                <a:gd name="connsiteY6" fmla="*/ 886941 h 2246382"/>
                <a:gd name="connsiteX7" fmla="*/ 3219769 w 3219769"/>
                <a:gd name="connsiteY7" fmla="*/ 914170 h 2246382"/>
                <a:gd name="connsiteX8" fmla="*/ 3219769 w 3219769"/>
                <a:gd name="connsiteY8" fmla="*/ 1215897 h 2246382"/>
                <a:gd name="connsiteX9" fmla="*/ 3219769 w 3219769"/>
                <a:gd name="connsiteY9" fmla="*/ 1497116 h 2246382"/>
                <a:gd name="connsiteX10" fmla="*/ 3219769 w 3219769"/>
                <a:gd name="connsiteY10" fmla="*/ 1798843 h 2246382"/>
                <a:gd name="connsiteX11" fmla="*/ 3187633 w 3219769"/>
                <a:gd name="connsiteY11" fmla="*/ 1830979 h 2246382"/>
                <a:gd name="connsiteX12" fmla="*/ 3187633 w 3219769"/>
                <a:gd name="connsiteY12" fmla="*/ 1856688 h 2246382"/>
                <a:gd name="connsiteX13" fmla="*/ 3187633 w 3219769"/>
                <a:gd name="connsiteY13" fmla="*/ 2158415 h 2246382"/>
                <a:gd name="connsiteX14" fmla="*/ 3099640 w 3219769"/>
                <a:gd name="connsiteY14" fmla="*/ 2246382 h 2246382"/>
                <a:gd name="connsiteX15" fmla="*/ 117688 w 3219769"/>
                <a:gd name="connsiteY15" fmla="*/ 2246382 h 2246382"/>
                <a:gd name="connsiteX16" fmla="*/ 687 w 3219769"/>
                <a:gd name="connsiteY16" fmla="*/ 2129406 h 2246382"/>
                <a:gd name="connsiteX17" fmla="*/ 0 w 3219769"/>
                <a:gd name="connsiteY17" fmla="*/ 458618 h 2246382"/>
                <a:gd name="connsiteX18" fmla="*/ 124 w 3219769"/>
                <a:gd name="connsiteY18" fmla="*/ 458494 h 2246382"/>
                <a:gd name="connsiteX19" fmla="*/ 0 w 3219769"/>
                <a:gd name="connsiteY19" fmla="*/ 156891 h 2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19769" h="2246382">
                  <a:moveTo>
                    <a:pt x="156917" y="0"/>
                  </a:moveTo>
                  <a:lnTo>
                    <a:pt x="1756441" y="0"/>
                  </a:lnTo>
                  <a:lnTo>
                    <a:pt x="1804390" y="47950"/>
                  </a:lnTo>
                  <a:lnTo>
                    <a:pt x="3146750" y="47950"/>
                  </a:lnTo>
                  <a:lnTo>
                    <a:pt x="3192514" y="93713"/>
                  </a:lnTo>
                  <a:lnTo>
                    <a:pt x="3192514" y="395440"/>
                  </a:lnTo>
                  <a:lnTo>
                    <a:pt x="3192514" y="886941"/>
                  </a:lnTo>
                  <a:lnTo>
                    <a:pt x="3219769" y="914170"/>
                  </a:lnTo>
                  <a:lnTo>
                    <a:pt x="3219769" y="1215897"/>
                  </a:lnTo>
                  <a:lnTo>
                    <a:pt x="3219769" y="1497116"/>
                  </a:lnTo>
                  <a:lnTo>
                    <a:pt x="3219769" y="1798843"/>
                  </a:lnTo>
                  <a:lnTo>
                    <a:pt x="3187633" y="1830979"/>
                  </a:lnTo>
                  <a:lnTo>
                    <a:pt x="3187633" y="1856688"/>
                  </a:lnTo>
                  <a:lnTo>
                    <a:pt x="3187633" y="2158415"/>
                  </a:lnTo>
                  <a:lnTo>
                    <a:pt x="3099640" y="2246382"/>
                  </a:lnTo>
                  <a:lnTo>
                    <a:pt x="117688" y="2246382"/>
                  </a:lnTo>
                  <a:lnTo>
                    <a:pt x="687" y="2129406"/>
                  </a:lnTo>
                  <a:lnTo>
                    <a:pt x="0" y="458618"/>
                  </a:lnTo>
                  <a:lnTo>
                    <a:pt x="124" y="458494"/>
                  </a:lnTo>
                  <a:lnTo>
                    <a:pt x="0" y="156891"/>
                  </a:lnTo>
                  <a:close/>
                </a:path>
              </a:pathLst>
            </a:custGeom>
            <a:gradFill flip="none" rotWithShape="1">
              <a:gsLst>
                <a:gs pos="47000">
                  <a:schemeClr val="accent1">
                    <a:alpha val="0"/>
                  </a:schemeClr>
                </a:gs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36000"/>
                  </a:schemeClr>
                </a:gs>
              </a:gsLst>
              <a:lin ang="2700000" scaled="1"/>
              <a:tileRect/>
            </a:gradFill>
            <a:ln w="9525" cap="flat">
              <a:solidFill>
                <a:schemeClr val="accent1"/>
              </a:solidFill>
              <a:prstDash val="solid"/>
              <a:miter/>
            </a:ln>
            <a:scene3d>
              <a:camera prst="perspectiveRight"/>
              <a:lightRig rig="threePt" dir="t"/>
            </a:scene3d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38"/>
            <p:cNvSpPr/>
            <p:nvPr>
              <p:custDataLst>
                <p:tags r:id="rId3"/>
              </p:custDataLst>
            </p:nvPr>
          </p:nvSpPr>
          <p:spPr>
            <a:xfrm>
              <a:off x="16626" y="8593"/>
              <a:ext cx="88" cy="3861"/>
            </a:xfrm>
            <a:custGeom>
              <a:avLst/>
              <a:gdLst>
                <a:gd name="connsiteX0" fmla="*/ 814 w 19882"/>
                <a:gd name="connsiteY0" fmla="*/ 0 h 874839"/>
                <a:gd name="connsiteX1" fmla="*/ 19882 w 19882"/>
                <a:gd name="connsiteY1" fmla="*/ 19068 h 874839"/>
                <a:gd name="connsiteX2" fmla="*/ 19882 w 19882"/>
                <a:gd name="connsiteY2" fmla="*/ 310681 h 874839"/>
                <a:gd name="connsiteX3" fmla="*/ 19882 w 19882"/>
                <a:gd name="connsiteY3" fmla="*/ 563345 h 874839"/>
                <a:gd name="connsiteX4" fmla="*/ 19882 w 19882"/>
                <a:gd name="connsiteY4" fmla="*/ 854958 h 874839"/>
                <a:gd name="connsiteX5" fmla="*/ 0 w 19882"/>
                <a:gd name="connsiteY5" fmla="*/ 874839 h 874839"/>
                <a:gd name="connsiteX6" fmla="*/ 407 w 19882"/>
                <a:gd name="connsiteY6" fmla="*/ 582819 h 874839"/>
                <a:gd name="connsiteX7" fmla="*/ 0 w 19882"/>
                <a:gd name="connsiteY7" fmla="*/ 583226 h 87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82" h="874839">
                  <a:moveTo>
                    <a:pt x="814" y="0"/>
                  </a:moveTo>
                  <a:lnTo>
                    <a:pt x="19882" y="19068"/>
                  </a:lnTo>
                  <a:lnTo>
                    <a:pt x="19882" y="310681"/>
                  </a:lnTo>
                  <a:lnTo>
                    <a:pt x="19882" y="563345"/>
                  </a:lnTo>
                  <a:lnTo>
                    <a:pt x="19882" y="854958"/>
                  </a:lnTo>
                  <a:lnTo>
                    <a:pt x="0" y="874839"/>
                  </a:lnTo>
                  <a:lnTo>
                    <a:pt x="407" y="582819"/>
                  </a:lnTo>
                  <a:lnTo>
                    <a:pt x="0" y="583226"/>
                  </a:lnTo>
                  <a:close/>
                </a:path>
              </a:pathLst>
            </a:custGeom>
            <a:solidFill>
              <a:schemeClr val="accent1"/>
            </a:solidFill>
            <a:ln w="6502" cap="flat">
              <a:noFill/>
              <a:prstDash val="solid"/>
              <a:miter/>
            </a:ln>
            <a:scene3d>
              <a:camera prst="perspectiveRight"/>
              <a:lightRig rig="threePt" dir="t"/>
            </a:scene3d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49" name="图片 48" descr="E:/设计图片素材/7900721_.jpg7900721_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 cstate="email"/>
            <a:srcRect l="8557" r="8557"/>
            <a:stretch>
              <a:fillRect/>
            </a:stretch>
          </p:blipFill>
          <p:spPr>
            <a:xfrm>
              <a:off x="3517" y="5300"/>
              <a:ext cx="12396" cy="8384"/>
            </a:xfrm>
            <a:prstGeom prst="snip1Rect">
              <a:avLst>
                <a:gd name="adj" fmla="val 8425"/>
              </a:avLst>
            </a:prstGeom>
            <a:ln>
              <a:solidFill>
                <a:schemeClr val="accent1"/>
              </a:solidFill>
            </a:ln>
            <a:effectLst>
              <a:outerShdw blurRad="419100" dist="127000" dir="5400000" sx="97000" sy="97000" algn="t" rotWithShape="0">
                <a:schemeClr val="accent1">
                  <a:alpha val="41000"/>
                </a:schemeClr>
              </a:outerShdw>
            </a:effectLst>
            <a:scene3d>
              <a:camera prst="perspectiveRight"/>
              <a:lightRig rig="threePt" dir="t"/>
            </a:scene3d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212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39687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Step 1: Why this AI tool?</a:t>
            </a:r>
            <a:endParaRPr lang="en-US" sz="4000" b="1">
              <a:solidFill>
                <a:srgbClr val="D4AF37"/>
              </a:solidFill>
              <a:latin typeface="Berlin Sans FB Demi" panose="020E0802020502020306" charset="0"/>
              <a:ea typeface="Poppins"/>
              <a:cs typeface="Berlin Sans FB Demi" panose="020E0802020502020306" charset="0"/>
              <a:sym typeface="Poppi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06855"/>
            <a:ext cx="10188575" cy="4413250"/>
          </a:xfrm>
          <a:prstGeom prst="roundRect">
            <a:avLst>
              <a:gd name="adj" fmla="val 0"/>
            </a:avLst>
          </a:prstGeom>
          <a:solidFill>
            <a:srgbClr val="1C1C1E">
              <a:alpha val="90000"/>
            </a:srgbClr>
          </a:solidFill>
          <a:ln w="12700" cap="flat" cmpd="sng">
            <a:solidFill>
              <a:srgbClr val="D4AF37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298440" y="3115310"/>
            <a:ext cx="5846445" cy="984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400">
                <a:solidFill>
                  <a:srgbClr val="D4AF37"/>
                </a:solidFill>
                <a:latin typeface="Arial Rounded MT Bold" panose="020F0704030504030204" charset="0"/>
                <a:cs typeface="Arial Rounded MT Bold" panose="020F0704030504030204" charset="0"/>
              </a:rPr>
              <a:t>Visualizing Abstraction</a:t>
            </a:r>
            <a:r>
              <a:rPr lang="en-US" altLang="zh-CN" sz="24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:Transcending realism to express complex philosophical metaphors.  </a:t>
            </a:r>
            <a:endParaRPr lang="en-US" altLang="zh-CN" sz="24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24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2400">
                <a:solidFill>
                  <a:srgbClr val="D4AF37"/>
                </a:solidFill>
                <a:latin typeface="Arial Rounded MT Bold" panose="020F0704030504030204" charset="0"/>
                <a:cs typeface="Arial Rounded MT Bold" panose="020F0704030504030204" charset="0"/>
              </a:rPr>
              <a:t>Humanistic Warmth</a:t>
            </a:r>
            <a:r>
              <a:rPr lang="en-US" altLang="zh-CN" sz="24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: Balancing cold digital data with artistic light and shadow.</a:t>
            </a:r>
            <a:endParaRPr lang="en-US" altLang="zh-CN" sz="24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572250" y="3769995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endParaRPr lang="en-US" sz="1100"/>
          </a:p>
        </p:txBody>
      </p:sp>
      <p:pic>
        <p:nvPicPr>
          <p:cNvPr id="18" name="图片 17"/>
          <p:cNvPicPr/>
          <p:nvPr/>
        </p:nvPicPr>
        <p:blipFill>
          <a:blip r:embed="rId2"/>
          <a:stretch>
            <a:fillRect/>
          </a:stretch>
        </p:blipFill>
        <p:spPr>
          <a:xfrm>
            <a:off x="889000" y="1994535"/>
            <a:ext cx="3645535" cy="235648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402715" y="4552950"/>
            <a:ext cx="3419475" cy="448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>
                <a:solidFill>
                  <a:srgbClr val="D4AF37"/>
                </a:solidFill>
                <a:latin typeface="Arial Rounded MT Bold" panose="020F0704030504030204" charset="0"/>
                <a:ea typeface="汉仪粗宋简" charset="0"/>
                <a:cs typeface="Arial Rounded MT Bold" panose="020F0704030504030204" charset="0"/>
              </a:rPr>
              <a:t>Makoto Shinkai style</a:t>
            </a:r>
            <a:endParaRPr lang="en-US" altLang="zh-CN" sz="1800">
              <a:solidFill>
                <a:srgbClr val="D4AF37"/>
              </a:solidFill>
              <a:latin typeface="Arial Rounded MT Bold" panose="020F0704030504030204" charset="0"/>
              <a:ea typeface="汉仪粗宋简" charset="0"/>
              <a:cs typeface="Arial Rounded MT Bold" panose="020F0704030504030204" charset="0"/>
            </a:endParaRPr>
          </a:p>
        </p:txBody>
      </p:sp>
      <p:pic>
        <p:nvPicPr>
          <p:cNvPr id="20" name="图片 19" descr="眼睛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895" y="2044065"/>
            <a:ext cx="418465" cy="418465"/>
          </a:xfrm>
          <a:prstGeom prst="rect">
            <a:avLst/>
          </a:prstGeom>
        </p:spPr>
      </p:pic>
      <p:pic>
        <p:nvPicPr>
          <p:cNvPr id="21" name="图片 20" descr="人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7895" y="3825875"/>
            <a:ext cx="44704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212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Step 1: Why this AI tool?</a:t>
            </a:r>
            <a:endParaRPr lang="en-US" sz="4000" b="1" i="0" u="none" strike="noStrike">
              <a:solidFill>
                <a:srgbClr val="D4AF37"/>
              </a:solidFill>
              <a:latin typeface="Berlin Sans FB Demi" panose="020E0802020502020306" charset="0"/>
              <a:ea typeface="Poppins"/>
              <a:cs typeface="Berlin Sans FB Demi" panose="020E0802020502020306" charset="0"/>
              <a:sym typeface="Poppins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2005" y="1534795"/>
            <a:ext cx="3198495" cy="4302125"/>
          </a:xfrm>
          <a:prstGeom prst="roundRect">
            <a:avLst>
              <a:gd name="adj" fmla="val 5925"/>
            </a:avLst>
          </a:prstGeom>
          <a:solidFill>
            <a:srgbClr val="1E1E23">
              <a:alpha val="85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894080" y="2821305"/>
            <a:ext cx="2700655" cy="8566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Midjourney</a:t>
            </a:r>
            <a:endParaRPr lang="en-US" sz="16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600" b="0" i="0" u="none" strike="noStrike">
                <a:solidFill>
                  <a:srgbClr val="D4AF37">
                    <a:alpha val="80000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（</a:t>
            </a:r>
            <a:r>
              <a:rPr lang="en-US" altLang="zh-CN" sz="1600" b="0" i="0" u="none" strike="noStrike">
                <a:solidFill>
                  <a:srgbClr val="D4AF37">
                    <a:alpha val="80000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Visual Engine</a:t>
            </a:r>
            <a:r>
              <a:rPr lang="zh-CN" altLang="en-US" sz="1600" b="0" i="0" u="none" strike="noStrike">
                <a:solidFill>
                  <a:srgbClr val="D4AF37">
                    <a:alpha val="80000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）</a:t>
            </a:r>
            <a:endParaRPr lang="zh-CN" altLang="en-US" sz="1600" b="0" i="0" u="none" strike="noStrike">
              <a:solidFill>
                <a:srgbClr val="D4AF37">
                  <a:alpha val="80000"/>
                </a:srgbClr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391660" y="1534160"/>
            <a:ext cx="3370580" cy="4303395"/>
          </a:xfrm>
          <a:prstGeom prst="roundRect">
            <a:avLst>
              <a:gd name="adj" fmla="val 5925"/>
            </a:avLst>
          </a:prstGeom>
          <a:solidFill>
            <a:srgbClr val="1E1E23">
              <a:alpha val="85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>
            <a:off x="4564380" y="2886710"/>
            <a:ext cx="2958465" cy="5803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MiniMax</a:t>
            </a:r>
            <a:endParaRPr lang="en-US" sz="1600">
              <a:solidFill>
                <a:srgbClr val="D4AF37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600" b="0" i="0" u="none" strike="noStrike">
                <a:solidFill>
                  <a:srgbClr val="D4AF37">
                    <a:alpha val="80000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（</a:t>
            </a:r>
            <a:r>
              <a:rPr lang="en-US" altLang="zh-CN" sz="1600" b="0" i="0" u="none" strike="noStrike">
                <a:solidFill>
                  <a:srgbClr val="D4AF37">
                    <a:alpha val="80000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Audio Engine</a:t>
            </a:r>
            <a:r>
              <a:rPr lang="zh-CN" altLang="en-US" sz="1600" b="0" i="0" u="none" strike="noStrike">
                <a:solidFill>
                  <a:srgbClr val="D4AF37">
                    <a:alpha val="80000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）</a:t>
            </a:r>
            <a:endParaRPr lang="zh-CN" altLang="en-US" sz="1600" b="0" i="0" u="none" strike="noStrike">
              <a:solidFill>
                <a:srgbClr val="D4AF37">
                  <a:alpha val="80000"/>
                </a:srgbClr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86500" y="2670175"/>
            <a:ext cx="1460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 b="0" i="0" u="none" strike="noStrike">
              <a:solidFill>
                <a:srgbClr val="D1D5DB">
                  <a:alpha val="7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95920" y="1534160"/>
            <a:ext cx="3515360" cy="4302760"/>
          </a:xfrm>
          <a:prstGeom prst="roundRect">
            <a:avLst>
              <a:gd name="adj" fmla="val 5925"/>
            </a:avLst>
          </a:prstGeom>
          <a:solidFill>
            <a:srgbClr val="1E1E23">
              <a:alpha val="85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图片 19"/>
          <p:cNvPicPr/>
          <p:nvPr/>
        </p:nvPicPr>
        <p:blipFill>
          <a:blip r:embed="rId4"/>
          <a:stretch>
            <a:fillRect/>
          </a:stretch>
        </p:blipFill>
        <p:spPr>
          <a:xfrm>
            <a:off x="1572895" y="1651635"/>
            <a:ext cx="1342390" cy="124206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5"/>
          <a:stretch>
            <a:fillRect/>
          </a:stretch>
        </p:blipFill>
        <p:spPr>
          <a:xfrm>
            <a:off x="5367020" y="1651635"/>
            <a:ext cx="1246505" cy="1235075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6"/>
          <a:stretch>
            <a:fillRect/>
          </a:stretch>
        </p:blipFill>
        <p:spPr>
          <a:xfrm>
            <a:off x="9065260" y="1626870"/>
            <a:ext cx="1196340" cy="1194435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586470" y="2287905"/>
            <a:ext cx="2158365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D4AF37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JingYing</a:t>
            </a:r>
            <a:endParaRPr lang="en-US" sz="1600" b="1">
              <a:solidFill>
                <a:srgbClr val="D4AF37"/>
              </a:solidFill>
              <a:latin typeface="Arial Rounded MT Bold" panose="020F0704030504030204" charset="0"/>
              <a:ea typeface="Poppins"/>
              <a:cs typeface="Arial Rounded MT Bold" panose="020F0704030504030204" charset="0"/>
              <a:sym typeface="Poppins"/>
            </a:endParaRPr>
          </a:p>
          <a:p>
            <a:pPr indent="0" algn="ctr">
              <a:lnSpc>
                <a:spcPct val="120000"/>
              </a:lnSpc>
              <a:defRPr/>
            </a:pPr>
            <a:r>
              <a:rPr lang="en-US" sz="1600" b="0" i="0" u="none" strike="noStrike">
                <a:solidFill>
                  <a:srgbClr val="D4AF37">
                    <a:alpha val="74902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(</a:t>
            </a:r>
            <a:r>
              <a:rPr lang="en-US" altLang="zh-CN" sz="1600" b="0" i="0" u="none" strike="noStrike">
                <a:solidFill>
                  <a:srgbClr val="D4AF37">
                    <a:alpha val="74902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Narrative Engine)</a:t>
            </a:r>
            <a:endParaRPr lang="en-US" altLang="zh-CN" sz="1600" b="0" i="0" u="none" strike="noStrike">
              <a:solidFill>
                <a:srgbClr val="D4AF37">
                  <a:alpha val="74902"/>
                </a:srgbClr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62025" y="3619500"/>
            <a:ext cx="3038475" cy="176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What：AI Image Generator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Advantage：Master cinematic lighting &amp; stylization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Role</a:t>
            </a:r>
            <a:r>
              <a:rPr lang="zh-CN" altLang="en-US" sz="1600">
                <a:solidFill>
                  <a:schemeClr val="bg1"/>
                </a:solidFill>
                <a:latin typeface="Arial Rounded MT Bold" panose="020F0704030504030204" charset="0"/>
                <a:ea typeface="SimSun" panose="02010600030101010101" pitchFamily="2" charset="-122"/>
                <a:cs typeface="Arial Rounded MT Bold" panose="020F0704030504030204" charset="0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Unify 1920 &amp; 2026 into a seamless style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64380" y="3467100"/>
            <a:ext cx="30524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What：Audio Synthesis AI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Advantage：Realistic breathing &amp; high emotional nuance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Role：</a:t>
            </a:r>
            <a:r>
              <a:rPr lang="zh-CN" altLang="en-US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 </a:t>
            </a:r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Revive the emotional voice and soul of historical figures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180705" y="3457575"/>
            <a:ext cx="34340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What：Video Editing Software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Advantage：Precision keyframes, extensions &amp; audio syncing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Role：Chrono-stitcher, transforming static assets into a flowing film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Step 2: Why this period?</a:t>
            </a:r>
            <a:endParaRPr lang="en-US" sz="4000" b="1" i="0" u="none" strike="noStrike">
              <a:solidFill>
                <a:srgbClr val="D4AF37"/>
              </a:solidFill>
              <a:latin typeface="Berlin Sans FB Demi" panose="020E0802020502020306" charset="0"/>
              <a:ea typeface="Poppins"/>
              <a:cs typeface="Berlin Sans FB Demi" panose="020E0802020502020306" charset="0"/>
              <a:sym typeface="Poppi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98830" y="2205355"/>
            <a:ext cx="5182235" cy="265557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498850" y="2289175"/>
            <a:ext cx="2578735" cy="24866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60000"/>
              </a:lnSpc>
              <a:defRPr/>
            </a:pPr>
            <a:r>
              <a:rPr lang="en-US" altLang="zh-CN" sz="1600" b="1" i="0" u="none" strike="noStrike">
                <a:solidFill>
                  <a:srgbClr val="D4AF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WEST: Disillusionment:</a:t>
            </a:r>
            <a:endParaRPr lang="en-US" altLang="zh-CN" sz="1600" b="1" i="0" u="none" strike="noStrike">
              <a:solidFill>
                <a:srgbClr val="D4AF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60000"/>
              </a:lnSpc>
              <a:buClr>
                <a:srgbClr val="FFFFFF"/>
              </a:buClr>
              <a:defRPr/>
            </a:pPr>
            <a:r>
              <a:rPr lang="en-US" altLang="zh-CN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Post-WWI traum</a:t>
            </a:r>
            <a:endParaRPr lang="en-US" altLang="zh-CN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60000"/>
              </a:lnSpc>
              <a:buClr>
                <a:srgbClr val="FFFFFF"/>
              </a:buClr>
              <a:defRPr/>
            </a:pPr>
            <a:r>
              <a:rPr lang="en-US" altLang="zh-CN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Unchecked technology as bloody iron</a:t>
            </a:r>
            <a:endParaRPr lang="en-US" altLang="zh-CN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86170" y="2205355"/>
            <a:ext cx="5249545" cy="265049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020810" y="2362835"/>
            <a:ext cx="268986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0000"/>
              </a:lnSpc>
              <a:defRPr/>
            </a:pPr>
            <a:r>
              <a:rPr lang="en-US" altLang="zh-CN" sz="1600" b="0" i="0" u="none" strike="noStrike">
                <a:solidFill>
                  <a:srgbClr val="D4AF37"/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EAST: Thirst for Logic</a:t>
            </a:r>
            <a:endParaRPr lang="en-US" altLang="zh-CN" sz="1600" b="0" i="0" u="none" strike="noStrike">
              <a:solidFill>
                <a:srgbClr val="D4AF37"/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  <a:p>
            <a:pPr indent="0" algn="l">
              <a:lnSpc>
                <a:spcPct val="130000"/>
              </a:lnSpc>
              <a:buClr>
                <a:srgbClr val="FFFFFF"/>
              </a:buClr>
              <a:defRPr/>
            </a:pPr>
            <a:r>
              <a:rPr lang="en-US" altLang="zh-CN" sz="1600" b="0" i="0" u="none" strike="noStrike">
                <a:solidFill>
                  <a:schemeClr val="bg1"/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May Fourth era </a:t>
            </a:r>
            <a:endParaRPr lang="en-US" altLang="zh-CN" sz="1600" b="0" i="0" u="none" strike="noStrike">
              <a:solidFill>
                <a:schemeClr val="bg1"/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  <a:p>
            <a:pPr indent="0" algn="l">
              <a:lnSpc>
                <a:spcPct val="130000"/>
              </a:lnSpc>
              <a:buClr>
                <a:srgbClr val="FFFFFF"/>
              </a:buClr>
              <a:defRPr/>
            </a:pPr>
            <a:r>
              <a:rPr lang="en-US" altLang="zh-CN" sz="1600" b="0" i="0" u="none" strike="noStrike">
                <a:solidFill>
                  <a:schemeClr val="bg1"/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Urgently seeking "Mr. Science" for national survival</a:t>
            </a:r>
            <a:endParaRPr lang="en-US" altLang="zh-CN" sz="1600" b="0" i="0" u="none" strike="noStrike">
              <a:solidFill>
                <a:schemeClr val="bg1"/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98830" y="131699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>
                <a:solidFill>
                  <a:schemeClr val="bg1">
                    <a:alpha val="85098"/>
                  </a:schemeClr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Period V: </a:t>
            </a:r>
            <a:r>
              <a:rPr lang="en-US" sz="2200" b="1" i="0" u="none" strike="noStrike">
                <a:solidFill>
                  <a:schemeClr val="bg1"/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1920, The Crossroads of Civilizational Collision</a:t>
            </a:r>
            <a:endParaRPr lang="en-US" sz="2200" b="1" i="0" u="none" strike="noStrike">
              <a:solidFill>
                <a:schemeClr val="bg1"/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2678430"/>
            <a:ext cx="2491740" cy="17087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760" y="2988945"/>
            <a:ext cx="2533015" cy="1426210"/>
          </a:xfrm>
          <a:prstGeom prst="rect">
            <a:avLst/>
          </a:prstGeom>
        </p:spPr>
      </p:pic>
      <p:sp>
        <p:nvSpPr>
          <p:cNvPr id="14" name="AutoShape 6"/>
          <p:cNvSpPr/>
          <p:nvPr/>
        </p:nvSpPr>
        <p:spPr>
          <a:xfrm>
            <a:off x="1986915" y="5169535"/>
            <a:ext cx="8291830" cy="1082675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1600">
                <a:solidFill>
                  <a:srgbClr val="D4AF37"/>
                </a:solidFill>
                <a:latin typeface="Arial Rounded MT Bold" panose="020F0704030504030204" charset="0"/>
                <a:cs typeface="Arial Rounded MT Bold" panose="020F0704030504030204" charset="0"/>
              </a:rPr>
              <a:t>The Core Significance:</a:t>
            </a:r>
            <a:endParaRPr lang="zh-CN" altLang="en-US" sz="1600">
              <a:solidFill>
                <a:srgbClr val="D4AF37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defRPr/>
            </a:pPr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No single civilization can govern modern technology alone, it requires a cross-civilizational ethical framework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54305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390525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Step 3: What happened?</a:t>
            </a:r>
            <a:r>
              <a:rPr lang="en-US" altLang="zh-CN" sz="4000" b="1" i="0" u="none" strike="noStrike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- Mutual Learning</a:t>
            </a:r>
            <a:endParaRPr lang="en-US" altLang="zh-CN" sz="4000" b="1" i="0" u="none" strike="noStrike">
              <a:solidFill>
                <a:srgbClr val="D4AF37"/>
              </a:solidFill>
              <a:latin typeface="Berlin Sans FB Demi" panose="020E0802020502020306" charset="0"/>
              <a:ea typeface="Poppins"/>
              <a:cs typeface="Berlin Sans FB Demi" panose="020E0802020502020306" charset="0"/>
              <a:sym typeface="Poppi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83565" y="3698240"/>
            <a:ext cx="5342255" cy="2872105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90625" y="3651885"/>
            <a:ext cx="4735195" cy="848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60000"/>
              </a:lnSpc>
              <a:defRPr/>
            </a:pPr>
            <a:r>
              <a:rPr lang="en-US" altLang="zh-CN" sz="1600" b="1" i="0" u="none" strike="noStrike">
                <a:solidFill>
                  <a:srgbClr val="D4AF37"/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WEST         EAST :Importing the “Engine" </a:t>
            </a:r>
            <a:endParaRPr lang="en-US" altLang="zh-CN" sz="1600" b="1" i="0" u="none" strike="noStrike">
              <a:solidFill>
                <a:srgbClr val="D4AF37"/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  <a:p>
            <a:pPr indent="0" algn="l">
              <a:lnSpc>
                <a:spcPct val="160000"/>
              </a:lnSpc>
              <a:defRPr/>
            </a:pPr>
            <a:endParaRPr lang="en-US" altLang="zh-CN" sz="1600" b="1" i="0" u="none" strike="noStrike">
              <a:solidFill>
                <a:srgbClr val="D4AF37"/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66180" y="3698240"/>
            <a:ext cx="5249545" cy="2872105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34125" y="3429000"/>
            <a:ext cx="4692650" cy="973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0000"/>
              </a:lnSpc>
              <a:defRPr/>
            </a:pPr>
            <a:r>
              <a:rPr lang="en-US" altLang="zh-CN" sz="1600" b="0" i="0" u="none" strike="noStrike">
                <a:solidFill>
                  <a:srgbClr val="D4AF37"/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EAST        WEST | Finding the "Antidote" </a:t>
            </a:r>
            <a:endParaRPr lang="en-US" altLang="zh-CN" sz="1600" b="0" i="0" u="none" strike="noStrike">
              <a:solidFill>
                <a:srgbClr val="D4AF37"/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47725" y="103886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chemeClr val="bg1"/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—— A TWO-WAY ENLIGHTENMENT</a:t>
            </a:r>
            <a:endParaRPr lang="en-US" altLang="zh-CN" sz="1800" b="1" i="0" u="none" strike="noStrike">
              <a:solidFill>
                <a:schemeClr val="bg1"/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573530"/>
            <a:ext cx="3164840" cy="19316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575" y="1498600"/>
            <a:ext cx="3104515" cy="193040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1866900" y="3936365"/>
            <a:ext cx="314960" cy="6350"/>
          </a:xfrm>
          <a:prstGeom prst="straightConnector1">
            <a:avLst/>
          </a:prstGeom>
          <a:ln>
            <a:solidFill>
              <a:srgbClr val="D4AF3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7347585" y="3936365"/>
            <a:ext cx="314960" cy="6350"/>
          </a:xfrm>
          <a:prstGeom prst="straightConnector1">
            <a:avLst/>
          </a:prstGeom>
          <a:ln>
            <a:solidFill>
              <a:srgbClr val="D4AF3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98830" y="4091940"/>
            <a:ext cx="48660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The Encounter: Russell brought mathematical logic &amp; scientific positivism.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The Input: Mathematical Logic &amp; Scientific Positivism.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The Influence: Shattered traditional intuitive paradigms, providing the cognitive infrastructure for China's industrialization.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95720" y="4006215"/>
            <a:ext cx="5297170" cy="2478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The Encounter: Russell witnessed China's "reverence for life" clashing with the West's post-WWI "means-over-ends" materialism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The Input: The Eastern philosophy of "reverence for life" and natural harmony.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The Influence: Cured the Western blind spot where "means override ends," providing the ethical anchor against alienation.</a:t>
            </a:r>
            <a:endParaRPr lang="en-US" altLang="zh-CN" sz="16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93420" y="3556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Step 3: What happened?—</a:t>
            </a:r>
            <a:r>
              <a:rPr lang="en-US" altLang="zh-CN" sz="3600">
                <a:solidFill>
                  <a:srgbClr val="D4AF37"/>
                </a:solidFill>
                <a:latin typeface="Berlin Sans FB Demi" panose="020E0802020502020306" charset="0"/>
                <a:cs typeface="Berlin Sans FB Demi" panose="020E0802020502020306" charset="0"/>
              </a:rPr>
              <a:t>The Disciplinary Depth</a:t>
            </a:r>
            <a:endParaRPr lang="en-US" altLang="zh-CN" sz="3600">
              <a:solidFill>
                <a:srgbClr val="D4AF37"/>
              </a:solidFill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667000"/>
            <a:ext cx="5588000" cy="1206500"/>
          </a:xfrm>
          <a:prstGeom prst="roundRect">
            <a:avLst>
              <a:gd name="adj" fmla="val 8421"/>
            </a:avLst>
          </a:prstGeom>
          <a:solidFill>
            <a:srgbClr val="292929">
              <a:alpha val="90000"/>
            </a:srgbClr>
          </a:solidFill>
          <a:ln w="12700" cap="flat" cmpd="sng">
            <a:solidFill>
              <a:srgbClr val="D4AF37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525905" y="2794000"/>
            <a:ext cx="4824095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b="0" i="0" u="none" strike="noStrike">
                <a:solidFill>
                  <a:srgbClr val="D4AF37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EASTERN LIFE </a:t>
            </a:r>
            <a:endParaRPr lang="zh-CN" altLang="en-US" b="0" i="0" u="none" strike="noStrike">
              <a:solidFill>
                <a:srgbClr val="D4AF37"/>
              </a:solidFill>
              <a:latin typeface="Arial Rounded MT Bold" panose="020F0704030504030204" charset="0"/>
              <a:ea typeface="Poppins"/>
              <a:cs typeface="Arial Rounded MT Bold" panose="020F0704030504030204" charset="0"/>
              <a:sym typeface="Poppins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b="0" i="0" u="none" strike="noStrike">
                <a:solidFill>
                  <a:srgbClr val="E0E0E0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The Direction </a:t>
            </a:r>
            <a:r>
              <a:rPr lang="zh-CN" altLang="en-US" b="0" i="0" u="none" strike="noStrike">
                <a:solidFill>
                  <a:srgbClr val="E0E0E0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: </a:t>
            </a:r>
            <a:r>
              <a:rPr lang="en-US" altLang="zh-CN" b="0" i="0" u="none" strike="noStrike">
                <a:solidFill>
                  <a:srgbClr val="E0E0E0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Reverence for life &amp; natural harmony.</a:t>
            </a:r>
            <a:endParaRPr lang="en-US" altLang="zh-CN" b="0" i="0" u="none" strike="noStrike">
              <a:solidFill>
                <a:srgbClr val="E0E0E0"/>
              </a:solidFill>
              <a:latin typeface="Arial Rounded MT Bold" panose="020F0704030504030204" charset="0"/>
              <a:ea typeface="Poppins"/>
              <a:cs typeface="Arial Rounded MT Bold" panose="020F0704030504030204" charset="0"/>
              <a:sym typeface="Poppins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b="0" i="0" u="none" strike="noStrike">
                <a:solidFill>
                  <a:srgbClr val="E0E0E0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The Focus: Human essence as the ultimate end, not a tool.</a:t>
            </a:r>
            <a:endParaRPr lang="en-US" altLang="zh-CN" b="0" i="0" u="none" strike="noStrike">
              <a:solidFill>
                <a:srgbClr val="E0E0E0"/>
              </a:solidFill>
              <a:latin typeface="Arial Rounded MT Bold" panose="020F0704030504030204" charset="0"/>
              <a:ea typeface="Poppins"/>
              <a:cs typeface="Arial Rounded MT Bold" panose="020F0704030504030204" charset="0"/>
              <a:sym typeface="Poppins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762000" y="4000500"/>
            <a:ext cx="5588000" cy="1206500"/>
          </a:xfrm>
          <a:prstGeom prst="roundRect">
            <a:avLst>
              <a:gd name="adj" fmla="val 8421"/>
            </a:avLst>
          </a:prstGeom>
          <a:solidFill>
            <a:srgbClr val="292929">
              <a:alpha val="90000"/>
            </a:srgbClr>
          </a:solidFill>
          <a:ln w="12700" cap="flat" cmpd="sng">
            <a:solidFill>
              <a:srgbClr val="D4AF37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3925" y="4271010"/>
            <a:ext cx="601980" cy="60198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587500" y="415925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b="0" i="0" u="none" strike="noStrike">
                <a:solidFill>
                  <a:srgbClr val="D4AF37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OLD PARADIGM | Epistemology</a:t>
            </a:r>
            <a:endParaRPr lang="en-US" altLang="zh-CN" b="0" i="0" u="none" strike="noStrike">
              <a:solidFill>
                <a:srgbClr val="D4AF37"/>
              </a:solidFill>
              <a:latin typeface="Arial Rounded MT Bold" panose="020F0704030504030204" charset="0"/>
              <a:ea typeface="Poppins"/>
              <a:cs typeface="Arial Rounded MT Bold" panose="020F0704030504030204" charset="0"/>
              <a:sym typeface="Poppins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b="0" i="0" u="none" strike="noStrike">
                <a:solidFill>
                  <a:srgbClr val="E0E0E0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 "What the world is"           Defining empirical facts and logical frameworks.</a:t>
            </a:r>
            <a:endParaRPr lang="en-US" altLang="zh-CN" b="0" i="0" u="none" strike="noStrike">
              <a:solidFill>
                <a:srgbClr val="E0E0E0"/>
              </a:solidFill>
              <a:latin typeface="Arial Rounded MT Bold" panose="020F0704030504030204" charset="0"/>
              <a:ea typeface="Poppins"/>
              <a:cs typeface="Arial Rounded MT Bold" panose="020F0704030504030204" charset="0"/>
              <a:sym typeface="Poppins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b="0" i="0" u="none" strike="noStrike">
              <a:solidFill>
                <a:srgbClr val="E0E0E0"/>
              </a:solidFill>
              <a:latin typeface="Arial Rounded MT Bold" panose="020F0704030504030204" charset="0"/>
              <a:ea typeface="Poppins"/>
              <a:cs typeface="Arial Rounded MT Bold" panose="020F0704030504030204" charset="0"/>
              <a:sym typeface="Poppins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270500"/>
            <a:ext cx="5588000" cy="1206500"/>
          </a:xfrm>
          <a:prstGeom prst="roundRect">
            <a:avLst>
              <a:gd name="adj" fmla="val 8421"/>
            </a:avLst>
          </a:prstGeom>
          <a:solidFill>
            <a:srgbClr val="292929">
              <a:alpha val="90000"/>
            </a:srgbClr>
          </a:solidFill>
          <a:ln w="12700" cap="flat" cmpd="sng">
            <a:solidFill>
              <a:srgbClr val="D4AF37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640070"/>
            <a:ext cx="455930" cy="45593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5905" y="5397500"/>
            <a:ext cx="4929505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b="0" i="0" u="none" strike="noStrike">
                <a:solidFill>
                  <a:srgbClr val="D4AF37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NEW PARADIGM | Technological Ethics</a:t>
            </a:r>
            <a:endParaRPr lang="en-US" altLang="zh-CN" b="0" i="0" u="none" strike="noStrike">
              <a:solidFill>
                <a:srgbClr val="D4AF37"/>
              </a:solidFill>
              <a:latin typeface="Arial Rounded MT Bold" panose="020F0704030504030204" charset="0"/>
              <a:ea typeface="Poppins"/>
              <a:cs typeface="Arial Rounded MT Bold" panose="020F0704030504030204" charset="0"/>
              <a:sym typeface="Poppins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b="0" i="0" u="none" strike="noStrike">
                <a:solidFill>
                  <a:srgbClr val="E0E0E0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"Where technology takes us"           Questioning boundaries, control, and human essence.</a:t>
            </a:r>
            <a:endParaRPr lang="en-US" altLang="zh-CN" b="0" i="0" u="none" strike="noStrike">
              <a:solidFill>
                <a:srgbClr val="E0E0E0"/>
              </a:solidFill>
              <a:latin typeface="Arial Rounded MT Bold" panose="020F0704030504030204" charset="0"/>
              <a:ea typeface="Poppins"/>
              <a:cs typeface="Arial Rounded MT Bold" panose="020F0704030504030204" charset="0"/>
              <a:sym typeface="Poppins"/>
            </a:endParaRPr>
          </a:p>
        </p:txBody>
      </p:sp>
      <p:pic>
        <p:nvPicPr>
          <p:cNvPr id="14" name="Picture 14" descr="C:/Users/ASUS/Pictures/Screenshots/屏幕截图 2026-05-16 213532.png屏幕截图 2026-05-16 213532"/>
          <p:cNvPicPr>
            <a:picLocks noChangeAspect="1"/>
          </p:cNvPicPr>
          <p:nvPr/>
        </p:nvPicPr>
        <p:blipFill>
          <a:blip r:embed="rId11"/>
          <a:srcRect l="27452" t="-3030" r="9321" b="3030"/>
          <a:stretch>
            <a:fillRect/>
          </a:stretch>
        </p:blipFill>
        <p:spPr>
          <a:xfrm>
            <a:off x="6792595" y="1790700"/>
            <a:ext cx="4699000" cy="4191000"/>
          </a:xfrm>
          <a:prstGeom prst="rect">
            <a:avLst/>
          </a:prstGeom>
          <a:noFill/>
          <a:ln w="25400" cap="flat" cmpd="sng">
            <a:solidFill>
              <a:srgbClr val="D4AF3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5"/>
          <p:cNvSpPr/>
          <p:nvPr>
            <p:custDataLst>
              <p:tags r:id="rId12"/>
            </p:custDataLst>
          </p:nvPr>
        </p:nvSpPr>
        <p:spPr>
          <a:xfrm>
            <a:off x="762000" y="1333500"/>
            <a:ext cx="5588000" cy="1206500"/>
          </a:xfrm>
          <a:prstGeom prst="roundRect">
            <a:avLst>
              <a:gd name="adj" fmla="val 8421"/>
            </a:avLst>
          </a:prstGeom>
          <a:solidFill>
            <a:srgbClr val="292929">
              <a:alpha val="90000"/>
            </a:srgbClr>
          </a:solidFill>
          <a:ln w="12700" cap="flat" cmpd="sng">
            <a:solidFill>
              <a:srgbClr val="D4AF37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defRPr/>
            </a:pP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1525905" y="1498600"/>
            <a:ext cx="415480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/>
            </a:pPr>
            <a:r>
              <a:rPr lang="en-US" altLang="zh-CN">
                <a:solidFill>
                  <a:srgbClr val="D4AF37"/>
                </a:solidFill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WESTERN LOGIC</a:t>
            </a:r>
            <a:endParaRPr lang="zh-CN" altLang="en-US">
              <a:solidFill>
                <a:srgbClr val="D4AF37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l">
              <a:defRPr/>
            </a:pPr>
            <a:r>
              <a:rPr lang="en-US" altLang="zh-CN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The Engine :Mathematical logic &amp; positivism.</a:t>
            </a: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l">
              <a:defRPr/>
            </a:pPr>
            <a:r>
              <a:rPr lang="en-US" altLang="zh-CN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The Focus: Maximize efficiency and liberate material productivity.</a:t>
            </a: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zh-CN" altLang="en-US"/>
          </a:p>
        </p:txBody>
      </p:sp>
      <p:pic>
        <p:nvPicPr>
          <p:cNvPr id="19" name="图片 18" descr="机器人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2500" y="1634490"/>
            <a:ext cx="520700" cy="520700"/>
          </a:xfrm>
          <a:prstGeom prst="rect">
            <a:avLst/>
          </a:prstGeom>
        </p:spPr>
      </p:pic>
      <p:pic>
        <p:nvPicPr>
          <p:cNvPr id="20" name="图片 19" descr="人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8855" y="3069590"/>
            <a:ext cx="453390" cy="453390"/>
          </a:xfrm>
          <a:prstGeom prst="rect">
            <a:avLst/>
          </a:prstGeom>
        </p:spPr>
      </p:pic>
      <p:cxnSp>
        <p:nvCxnSpPr>
          <p:cNvPr id="21" name="直接箭头连接符 20"/>
          <p:cNvCxnSpPr/>
          <p:nvPr>
            <p:custDataLst>
              <p:tags r:id="rId20"/>
            </p:custDataLst>
          </p:nvPr>
        </p:nvCxnSpPr>
        <p:spPr>
          <a:xfrm>
            <a:off x="3323590" y="4499610"/>
            <a:ext cx="389255" cy="571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4093845" y="5906770"/>
            <a:ext cx="389255" cy="571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695325"/>
            <a:ext cx="1168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Step 3: What happened?—</a:t>
            </a:r>
            <a:r>
              <a:rPr lang="en-US" altLang="zh-CN" sz="4000">
                <a:solidFill>
                  <a:srgbClr val="D4AF37"/>
                </a:solidFill>
                <a:latin typeface="Berlin Sans FB Demi" panose="020E0802020502020306" charset="0"/>
                <a:cs typeface="Berlin Sans FB Demi" panose="020E0802020502020306" charset="0"/>
              </a:rPr>
              <a:t>The Ultimate Synthesis</a:t>
            </a:r>
            <a:endParaRPr lang="en-US" altLang="zh-CN" sz="4000">
              <a:solidFill>
                <a:srgbClr val="D4AF37"/>
              </a:solidFill>
              <a:latin typeface="Berlin Sans FB Demi" panose="020E0802020502020306" charset="0"/>
              <a:cs typeface="Berlin Sans FB Demi" panose="020E0802020502020306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9455" y="2259330"/>
            <a:ext cx="6715125" cy="1319530"/>
          </a:xfrm>
          <a:prstGeom prst="roundRect">
            <a:avLst>
              <a:gd name="adj" fmla="val 0"/>
            </a:avLst>
          </a:prstGeom>
          <a:solidFill>
            <a:srgbClr val="232328">
              <a:alpha val="90000"/>
            </a:srgbClr>
          </a:solidFill>
          <a:ln w="12700" cap="flat" cmpd="sng">
            <a:solidFill>
              <a:srgbClr val="D4AF3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635" y="2412365"/>
            <a:ext cx="637413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altLang="zh-CN">
                <a:solidFill>
                  <a:srgbClr val="D4AF37"/>
                </a:solidFill>
                <a:latin typeface="Arial Rounded MT Bold" panose="020F0704030504030204" charset="0"/>
                <a:cs typeface="Arial Rounded MT Bold" panose="020F0704030504030204" charset="0"/>
              </a:rPr>
              <a:t>THE ETHICAL MATRIX: THE FATE OF CIVILIZATION</a:t>
            </a:r>
            <a:endParaRPr lang="zh-CN" altLang="en-US">
              <a:solidFill>
                <a:srgbClr val="D4AF37"/>
              </a:solidFill>
              <a:latin typeface="Arial Rounded MT Bold" panose="020F0704030504030204" charset="0"/>
              <a:ea typeface="SimSun" panose="02010600030101010101" pitchFamily="2" charset="-122"/>
              <a:cs typeface="Arial Rounded MT Bold" panose="020F0704030504030204" charset="0"/>
            </a:endParaRPr>
          </a:p>
          <a:p>
            <a:pPr indent="0" algn="ctr">
              <a:lnSpc>
                <a:spcPct val="108000"/>
              </a:lnSpc>
              <a:defRPr/>
            </a:pPr>
            <a:r>
              <a:rPr lang="en-US" altLang="zh-CN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Instrumental Logic (How) + Ethical Philosophy (Why) = Sustainable Flow</a:t>
            </a: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93420" y="4240530"/>
            <a:ext cx="3243580" cy="1270000"/>
          </a:xfrm>
          <a:prstGeom prst="roundRect">
            <a:avLst>
              <a:gd name="adj" fmla="val 0"/>
            </a:avLst>
          </a:prstGeom>
          <a:solidFill>
            <a:srgbClr val="2D2D32">
              <a:alpha val="85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635" y="4382770"/>
            <a:ext cx="2985135" cy="9201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⚠</a:t>
            </a:r>
            <a:r>
              <a:rPr lang="en-US" sz="1800" b="1" i="0" u="none" strike="noStrik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altLang="zh-CN" sz="18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Speed without Direction         Algorithmic Alienation</a:t>
            </a:r>
            <a:endParaRPr lang="en-US" altLang="zh-CN" sz="18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166870" y="4240530"/>
            <a:ext cx="3175000" cy="1270000"/>
          </a:xfrm>
          <a:prstGeom prst="roundRect">
            <a:avLst>
              <a:gd name="adj" fmla="val 0"/>
            </a:avLst>
          </a:prstGeom>
          <a:solidFill>
            <a:srgbClr val="2D2D32">
              <a:alpha val="85000"/>
            </a:srgbClr>
          </a:solidFill>
          <a:ln w="12700" cap="flat" cmpd="sng">
            <a:solidFill>
              <a:srgbClr val="D4AF3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21175" y="4382770"/>
            <a:ext cx="2942590" cy="984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💡</a:t>
            </a:r>
            <a:r>
              <a:rPr lang="en-US" sz="1600" b="1" i="0" u="none" strike="noStrike">
                <a:solidFill>
                  <a:schemeClr val="bg1"/>
                </a:solidFill>
                <a:latin typeface="Arial Rounded MT Bold" panose="020F0704030504030204" charset="0"/>
                <a:ea typeface="Poppins"/>
                <a:cs typeface="Arial Rounded MT Bold" panose="020F0704030504030204" charset="0"/>
                <a:sym typeface="Poppins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Direction without           Speed Empty Talk</a:t>
            </a:r>
            <a:endParaRPr lang="en-US" altLang="zh-CN" sz="20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altLang="zh-CN" sz="2000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 l="26079" t="-323" r="15386" b="-233"/>
          <a:stretch>
            <a:fillRect/>
          </a:stretch>
        </p:blipFill>
        <p:spPr>
          <a:xfrm>
            <a:off x="7571740" y="2032000"/>
            <a:ext cx="4062095" cy="3556000"/>
          </a:xfrm>
          <a:prstGeom prst="rect">
            <a:avLst/>
          </a:prstGeom>
          <a:noFill/>
          <a:ln w="25400" cap="flat" cmpd="sng">
            <a:solidFill>
              <a:srgbClr val="D4AF3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cxnSp>
        <p:nvCxnSpPr>
          <p:cNvPr id="14" name="直接箭头连接符 13"/>
          <p:cNvCxnSpPr/>
          <p:nvPr/>
        </p:nvCxnSpPr>
        <p:spPr>
          <a:xfrm flipV="1">
            <a:off x="1978025" y="4801235"/>
            <a:ext cx="395605" cy="635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6817360" y="4547235"/>
            <a:ext cx="395605" cy="635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414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Step 4: </a:t>
            </a:r>
            <a:r>
              <a:rPr lang="en-US" altLang="zh-CN" sz="4000" b="1" i="0" u="none" strike="noStrike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What It Means Today?</a:t>
            </a:r>
            <a:endParaRPr lang="en-US" altLang="zh-CN" sz="4000" b="1" i="0" u="none" strike="noStrike">
              <a:solidFill>
                <a:srgbClr val="D4AF37"/>
              </a:solidFill>
              <a:latin typeface="Berlin Sans FB Demi" panose="020E0802020502020306" charset="0"/>
              <a:ea typeface="Poppins"/>
              <a:cs typeface="Berlin Sans FB Demi" panose="020E0802020502020306" charset="0"/>
              <a:sym typeface="Poppins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8953" t="40" r="20011" b="-258"/>
          <a:stretch>
            <a:fillRect/>
          </a:stretch>
        </p:blipFill>
        <p:spPr>
          <a:xfrm>
            <a:off x="1579880" y="1467485"/>
            <a:ext cx="3064510" cy="2196465"/>
          </a:xfrm>
          <a:prstGeom prst="rect">
            <a:avLst/>
          </a:prstGeom>
          <a:noFill/>
          <a:ln w="25400" cap="flat" cmpd="sng">
            <a:solidFill>
              <a:srgbClr val="D4AF37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961255" y="1689100"/>
            <a:ext cx="6534150" cy="3916680"/>
          </a:xfrm>
          <a:prstGeom prst="roundRect">
            <a:avLst>
              <a:gd name="adj" fmla="val 0"/>
            </a:avLst>
          </a:prstGeom>
          <a:solidFill>
            <a:srgbClr val="0F0F0F">
              <a:alpha val="80000"/>
            </a:srgbClr>
          </a:solidFill>
          <a:ln w="12700" cap="flat" cmpd="sng">
            <a:solidFill>
              <a:srgbClr val="D4AF3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1600">
                <a:solidFill>
                  <a:srgbClr val="D4AF37"/>
                </a:solidFill>
                <a:latin typeface="Arial Rounded MT Bold" panose="020F0704030504030204" charset="0"/>
                <a:cs typeface="Arial Rounded MT Bold" panose="020F0704030504030204" charset="0"/>
              </a:rPr>
              <a:t>THE NEW CRISIS: ALGORITHM ALIENATION</a:t>
            </a:r>
            <a:endParaRPr lang="en-US" altLang="zh-CN" sz="1600">
              <a:solidFill>
                <a:srgbClr val="D4AF37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defRPr/>
            </a:pPr>
            <a:endParaRPr lang="en-US" altLang="zh-CN" sz="1600">
              <a:solidFill>
                <a:srgbClr val="D4AF37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defRPr/>
            </a:pPr>
            <a:r>
              <a:rPr lang="en-US" altLang="zh-CN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SDG 9 CRITIQUE </a:t>
            </a:r>
            <a:r>
              <a:rPr lang="zh-CN" altLang="en-US">
                <a:solidFill>
                  <a:schemeClr val="bg1"/>
                </a:solidFill>
                <a:latin typeface="Arial Rounded MT Bold" panose="020F0704030504030204" charset="0"/>
                <a:ea typeface="SimSun" panose="02010600030101010101" pitchFamily="2" charset="-122"/>
                <a:cs typeface="Arial Rounded MT Bold" panose="020F0704030504030204" charset="0"/>
              </a:rPr>
              <a:t>：</a:t>
            </a:r>
            <a:endParaRPr lang="zh-CN" altLang="en-US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defRPr/>
            </a:pP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defRPr/>
            </a:pPr>
            <a:r>
              <a:rPr lang="en-US" altLang="zh-CN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System Alert: "Human emotions classified as redundant parameters."</a:t>
            </a: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defRPr/>
            </a:pP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defRPr/>
            </a:pPr>
            <a:r>
              <a:rPr lang="en-US" altLang="zh-CN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Pure efficiency-driven infrastructure lacks an ethical evaluation framework.</a:t>
            </a: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defRPr/>
            </a:pP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SDG 10 WARNING </a:t>
            </a:r>
            <a:r>
              <a:rPr lang="zh-CN" altLang="en-US">
                <a:solidFill>
                  <a:schemeClr val="bg1"/>
                </a:solidFill>
                <a:latin typeface="Arial Rounded MT Bold" panose="020F0704030504030204" charset="0"/>
                <a:ea typeface="SimSun" panose="02010600030101010101" pitchFamily="2" charset="-122"/>
                <a:cs typeface="Arial Rounded MT Bold" panose="020F0704030504030204" charset="0"/>
              </a:rPr>
              <a:t>：</a:t>
            </a: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System Alert: "Stripping workers of their right to rest."</a:t>
            </a: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lnSpc>
                <a:spcPct val="120000"/>
              </a:lnSpc>
              <a:defRPr/>
            </a:pP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Technology multiplies social stratification when serving unconstrained capital.</a:t>
            </a:r>
            <a:endParaRPr lang="en-US" altLang="zh-CN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15" name="Picture 5"/>
          <p:cNvPicPr>
            <a:picLocks noChangeAspect="1"/>
          </p:cNvPicPr>
          <p:nvPr/>
        </p:nvPicPr>
        <p:blipFill>
          <a:blip r:embed="rId3"/>
          <a:srcRect l="11712" r="11712"/>
          <a:stretch>
            <a:fillRect/>
          </a:stretch>
        </p:blipFill>
        <p:spPr>
          <a:xfrm>
            <a:off x="1510030" y="3923665"/>
            <a:ext cx="3203575" cy="2296160"/>
          </a:xfrm>
          <a:prstGeom prst="rect">
            <a:avLst/>
          </a:prstGeom>
          <a:noFill/>
          <a:ln w="25400" cap="flat" cmpd="sng">
            <a:solidFill>
              <a:srgbClr val="D4AF37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21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Step 4: </a:t>
            </a:r>
            <a:r>
              <a:rPr lang="en-US" altLang="zh-CN" sz="3600" b="1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What It Means Today?</a:t>
            </a:r>
            <a:endParaRPr lang="en-US" altLang="zh-CN" sz="3600" b="1">
              <a:solidFill>
                <a:srgbClr val="D4AF37"/>
              </a:solidFill>
              <a:latin typeface="Berlin Sans FB Demi" panose="020E0802020502020306" charset="0"/>
              <a:ea typeface="Poppins"/>
              <a:cs typeface="Berlin Sans FB Demi" panose="020E0802020502020306" charset="0"/>
              <a:sym typeface="Poppin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25170" y="1651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232328">
              <a:alpha val="85000"/>
            </a:srgbClr>
          </a:solidFill>
          <a:ln w="12700" cap="flat" cmpd="sng">
            <a:solidFill>
              <a:srgbClr val="D4AF37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0000"/>
              </a:lnSpc>
              <a:defRPr/>
            </a:pPr>
            <a:r>
              <a:rPr lang="en-US" altLang="zh-CN" sz="1800" b="0" i="0" u="none" strike="noStrike">
                <a:solidFill>
                  <a:srgbClr val="D4AF37">
                    <a:alpha val="90196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SDG 9        SDG 10 </a:t>
            </a:r>
            <a:endParaRPr lang="en-US" altLang="zh-CN" sz="1800" b="0" i="0" u="none" strike="noStrike">
              <a:solidFill>
                <a:srgbClr val="D4AF37">
                  <a:alpha val="90196"/>
                </a:srgbClr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  <a:p>
            <a:pPr indent="0" algn="l">
              <a:lnSpc>
                <a:spcPct val="120000"/>
              </a:lnSpc>
              <a:defRPr/>
            </a:pPr>
            <a:r>
              <a:rPr lang="en-US" altLang="zh-CN" sz="1800" b="0" i="0" u="none" strike="noStrike">
                <a:solidFill>
                  <a:srgbClr val="DCDCDC">
                    <a:alpha val="90196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Responsible Infrastructure (SDG 9) naturally eliminates Algorithmic Inequality (SDG 10)</a:t>
            </a:r>
            <a:endParaRPr lang="en-US" altLang="zh-CN" sz="1800" b="0" i="0" u="none" strike="noStrike">
              <a:solidFill>
                <a:srgbClr val="DCDCDC">
                  <a:alpha val="90196"/>
                </a:srgbClr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839845"/>
            <a:ext cx="5334000" cy="1651000"/>
          </a:xfrm>
          <a:prstGeom prst="roundRect">
            <a:avLst>
              <a:gd name="adj" fmla="val 0"/>
            </a:avLst>
          </a:prstGeom>
          <a:solidFill>
            <a:srgbClr val="232328">
              <a:alpha val="85000"/>
            </a:srgbClr>
          </a:solidFill>
          <a:ln w="12700" cap="flat" cmpd="sng">
            <a:solidFill>
              <a:srgbClr val="D4AF37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4158615"/>
            <a:ext cx="4953000" cy="1499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0000"/>
              </a:lnSpc>
              <a:defRPr/>
            </a:pPr>
            <a:r>
              <a:rPr lang="en-US" altLang="zh-CN" sz="1800" b="0" i="0" u="none" strike="noStrike">
                <a:solidFill>
                  <a:srgbClr val="D4AF37">
                    <a:alpha val="90196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THE CIVILIZATIONAL PROMISE</a:t>
            </a:r>
            <a:r>
              <a:rPr lang="en-US" altLang="zh-CN" sz="1800" b="0" i="0" u="none" strike="noStrike">
                <a:solidFill>
                  <a:srgbClr val="DCDCDC">
                    <a:alpha val="90196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 </a:t>
            </a:r>
            <a:endParaRPr lang="zh-CN" altLang="en-US" sz="1800" b="0" i="0" u="none" strike="noStrike">
              <a:solidFill>
                <a:srgbClr val="DCDCDC">
                  <a:alpha val="90196"/>
                </a:srgbClr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  <a:p>
            <a:pPr indent="0" algn="l">
              <a:lnSpc>
                <a:spcPct val="120000"/>
              </a:lnSpc>
              <a:defRPr/>
            </a:pPr>
            <a:r>
              <a:rPr lang="en-US" altLang="zh-CN" sz="1800" b="0" i="0" u="none" strike="noStrike">
                <a:solidFill>
                  <a:srgbClr val="DCDCDC">
                    <a:alpha val="90196"/>
                  </a:srgbClr>
                </a:solidFill>
                <a:latin typeface="Arial Rounded MT Bold" panose="020F0704030504030204" charset="0"/>
                <a:ea typeface="Noto Sans SC" panose="020B0200000000000000" charset="-122"/>
                <a:cs typeface="Arial Rounded MT Bold" panose="020F0704030504030204" charset="0"/>
                <a:sym typeface="Noto Sans SC" panose="020B0200000000000000" charset="-122"/>
              </a:rPr>
              <a:t>Technology is the tool for human liberation, not a mechanism for human subjugation.</a:t>
            </a:r>
            <a:endParaRPr lang="en-US" altLang="zh-CN" sz="1800" b="0" i="0" u="none" strike="noStrike">
              <a:solidFill>
                <a:srgbClr val="DCDCDC">
                  <a:alpha val="90196"/>
                </a:srgbClr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altLang="zh-CN" sz="1800" b="0" i="0" u="none" strike="noStrike">
              <a:solidFill>
                <a:srgbClr val="DCDCDC">
                  <a:alpha val="90196"/>
                </a:srgbClr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altLang="zh-CN" sz="1800" b="0" i="0" u="none" strike="noStrike">
              <a:solidFill>
                <a:srgbClr val="DCDCDC">
                  <a:alpha val="90196"/>
                </a:srgbClr>
              </a:solidFill>
              <a:latin typeface="Arial Rounded MT Bold" panose="020F0704030504030204" charset="0"/>
              <a:ea typeface="Noto Sans SC" panose="020B0200000000000000" charset="-122"/>
              <a:cs typeface="Arial Rounded MT Bold" panose="020F0704030504030204" charset="0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5979" r="5979"/>
          <a:stretch>
            <a:fillRect/>
          </a:stretch>
        </p:blipFill>
        <p:spPr>
          <a:xfrm>
            <a:off x="6604000" y="2096135"/>
            <a:ext cx="4826000" cy="3048000"/>
          </a:xfrm>
          <a:prstGeom prst="rect">
            <a:avLst/>
          </a:prstGeom>
          <a:noFill/>
          <a:ln w="25400" cap="flat" cmpd="sng">
            <a:solidFill>
              <a:srgbClr val="D4AF37">
                <a:alpha val="100000"/>
              </a:srgbClr>
            </a:solidFill>
            <a:prstDash val="solid"/>
            <a:round/>
          </a:ln>
        </p:spPr>
      </p:pic>
      <p:cxnSp>
        <p:nvCxnSpPr>
          <p:cNvPr id="12" name="直接箭头连接符 11"/>
          <p:cNvCxnSpPr/>
          <p:nvPr/>
        </p:nvCxnSpPr>
        <p:spPr>
          <a:xfrm>
            <a:off x="1718310" y="2154555"/>
            <a:ext cx="314960" cy="0"/>
          </a:xfrm>
          <a:prstGeom prst="straightConnector1">
            <a:avLst/>
          </a:prstGeom>
          <a:ln>
            <a:solidFill>
              <a:srgbClr val="D4AF3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31005" y="3352800"/>
            <a:ext cx="3816985" cy="762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906270" y="230187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D4AF37"/>
                </a:solidFill>
                <a:latin typeface="Berlin Sans FB Demi" panose="020E0802020502020306" charset="0"/>
                <a:ea typeface="Poppins"/>
                <a:cs typeface="Berlin Sans FB Demi" panose="020E0802020502020306" charset="0"/>
                <a:sym typeface="Poppins"/>
              </a:rPr>
              <a:t>Thank You</a:t>
            </a:r>
            <a:endParaRPr lang="en-US" sz="7200" b="1" i="0" u="none" strike="noStrike">
              <a:solidFill>
                <a:srgbClr val="D4AF37"/>
              </a:solidFill>
              <a:latin typeface="Berlin Sans FB Demi" panose="020E0802020502020306" charset="0"/>
              <a:ea typeface="Poppins"/>
              <a:cs typeface="Berlin Sans FB Demi" panose="020E0802020502020306" charset="0"/>
              <a:sym typeface="Poppin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IC_EFFECT" val="1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69_1*i*1"/>
  <p:tag name="KSO_WM_TEMPLATE_CATEGORY" val="custom"/>
  <p:tag name="KSO_WM_TEMPLATE_INDEX" val="20238569"/>
  <p:tag name="KSO_WM_UNIT_LAYERLEVEL" val="1"/>
  <p:tag name="KSO_WM_TAG_VERSION" val="3.0"/>
  <p:tag name="KSO_WM_UNIT_PIC_EFFECT" val="1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8569_1*i*2"/>
  <p:tag name="KSO_WM_TEMPLATE_CATEGORY" val="custom"/>
  <p:tag name="KSO_WM_TEMPLATE_INDEX" val="20238569"/>
  <p:tag name="KSO_WM_UNIT_LAYERLEVEL" val="1"/>
  <p:tag name="KSO_WM_TAG_VERSION" val="3.0"/>
  <p:tag name="KSO_WM_UNIT_PIC_EFFECT" val="1"/>
</p:tagLst>
</file>

<file path=ppt/tags/tag4.xml><?xml version="1.0" encoding="utf-8"?>
<p:tagLst xmlns:p="http://schemas.openxmlformats.org/presentationml/2006/main">
  <p:tag name="KSO_WM_BEAUTIFY_FLAG" val="#wm#"/>
  <p:tag name="KSO_WM_UNIT_VALUE" val="1478*2185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8569_1*d*1"/>
  <p:tag name="KSO_WM_TEMPLATE_CATEGORY" val="custom"/>
  <p:tag name="KSO_WM_TEMPLATE_INDEX" val="20238569"/>
  <p:tag name="KSO_WM_UNIT_LAYERLEVEL" val="1"/>
  <p:tag name="KSO_WM_TAG_VERSION" val="3.0"/>
  <p:tag name="KSO_WM_UNIT_PIC_EFFECT" val="1"/>
</p:tagLst>
</file>

<file path=ppt/tags/tag5.xml><?xml version="1.0" encoding="utf-8"?>
<p:tagLst xmlns:p="http://schemas.openxmlformats.org/presentationml/2006/main">
  <p:tag name="KSO_DOCER_RESOURCE_TRACE_INFO" val="{&quot;id&quot;:&quot;50059366&quot;,&quot;origin&quot;:0,&quot;type&quot;:&quot;icons&quot;,&quot;user&quot;:&quot;647783070&quot;}"/>
</p:tagLst>
</file>

<file path=ppt/tags/tag6.xml><?xml version="1.0" encoding="utf-8"?>
<p:tagLst xmlns:p="http://schemas.openxmlformats.org/presentationml/2006/main">
  <p:tag name="KSO_DOCER_RESOURCE_TRACE_INFO" val="{&quot;id&quot;:&quot;50022177&quot;,&quot;origin&quot;:0,&quot;type&quot;:&quot;icons&quot;,&quot;user&quot;:&quot;647783070&quot;}"/>
</p:tagLst>
</file>

<file path=ppt/tags/tag7.xml><?xml version="1.0" encoding="utf-8"?>
<p:tagLst xmlns:p="http://schemas.openxmlformats.org/presentationml/2006/main">
  <p:tag name="KSO_WM_DIAGRAM_VIRTUALLY_FRAME" val="{&quot;height&quot;:382.65,&quot;left&quot;:30.7,&quot;top&quot;:107.35,&quot;width&quot;:439.3}"/>
</p:tagLst>
</file>

<file path=ppt/tags/tag8.xml><?xml version="1.0" encoding="utf-8"?>
<p:tagLst xmlns:p="http://schemas.openxmlformats.org/presentationml/2006/main">
  <p:tag name="KSO_WM_DIAGRAM_VIRTUALLY_FRAME" val="{&quot;height&quot;:382.65,&quot;left&quot;:30.7,&quot;top&quot;:107.35,&quot;width&quot;:439.3}"/>
</p:tagLst>
</file>

<file path=ppt/tags/tag9.xml><?xml version="1.0" encoding="utf-8"?>
<p:tagLst xmlns:p="http://schemas.openxmlformats.org/presentationml/2006/main">
  <p:tag name="KSO_WM_DIAGRAM_VIRTUALLY_FRAME" val="{&quot;height&quot;:305,&quot;left&quot;:60,&quot;top&quot;:105,&quot;width&quot;:639}"/>
</p:tagLst>
</file>

<file path=ppt/tags/tag10.xml><?xml version="1.0" encoding="utf-8"?>
<p:tagLst xmlns:p="http://schemas.openxmlformats.org/presentationml/2006/main">
  <p:tag name="KSO_WM_DIAGRAM_VIRTUALLY_FRAME" val="{&quot;height&quot;:305,&quot;left&quot;:60,&quot;top&quot;:105,&quot;width&quot;:639}"/>
</p:tagLst>
</file>

<file path=ppt/tags/tag11.xml><?xml version="1.0" encoding="utf-8"?>
<p:tagLst xmlns:p="http://schemas.openxmlformats.org/presentationml/2006/main">
  <p:tag name="KSO_WM_DIAGRAM_VIRTUALLY_FRAME" val="{&quot;height&quot;:305,&quot;left&quot;:60,&quot;top&quot;:105,&quot;width&quot;:639}"/>
</p:tagLst>
</file>

<file path=ppt/tags/tag12.xml><?xml version="1.0" encoding="utf-8"?>
<p:tagLst xmlns:p="http://schemas.openxmlformats.org/presentationml/2006/main">
  <p:tag name="KSO_WM_DIAGRAM_VIRTUALLY_FRAME" val="{&quot;height&quot;:305,&quot;left&quot;:60,&quot;top&quot;:105,&quot;width&quot;:639}"/>
</p:tagLst>
</file>

<file path=ppt/tags/tag13.xml><?xml version="1.0" encoding="utf-8"?>
<p:tagLst xmlns:p="http://schemas.openxmlformats.org/presentationml/2006/main">
  <p:tag name="KSO_WM_DIAGRAM_VIRTUALLY_FRAME" val="{&quot;height&quot;:305,&quot;left&quot;:60,&quot;top&quot;:105,&quot;width&quot;:639}"/>
</p:tagLst>
</file>

<file path=ppt/tags/tag14.xml><?xml version="1.0" encoding="utf-8"?>
<p:tagLst xmlns:p="http://schemas.openxmlformats.org/presentationml/2006/main">
  <p:tag name="KSO_WM_DIAGRAM_VIRTUALLY_FRAME" val="{&quot;height&quot;:305,&quot;left&quot;:60,&quot;top&quot;:105,&quot;width&quot;:639}"/>
</p:tagLst>
</file>

<file path=ppt/tags/tag15.xml><?xml version="1.0" encoding="utf-8"?>
<p:tagLst xmlns:p="http://schemas.openxmlformats.org/presentationml/2006/main">
  <p:tag name="KSO_WM_DIAGRAM_VIRTUALLY_FRAME" val="{&quot;height&quot;:305,&quot;left&quot;:60,&quot;top&quot;:105,&quot;width&quot;:639}"/>
</p:tagLst>
</file>

<file path=ppt/tags/tag16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647783070&quot;}"/>
  <p:tag name="KSO_WM_DIAGRAM_VIRTUALLY_FRAME" val="{&quot;height&quot;:305,&quot;left&quot;:60,&quot;top&quot;:105,&quot;width&quot;:639}"/>
</p:tagLst>
</file>

<file path=ppt/tags/tag17.xml><?xml version="1.0" encoding="utf-8"?>
<p:tagLst xmlns:p="http://schemas.openxmlformats.org/presentationml/2006/main">
  <p:tag name="KSO_DOCER_RESOURCE_TRACE_INFO" val="{&quot;id&quot;:&quot;50022177&quot;,&quot;origin&quot;:0,&quot;type&quot;:&quot;icons&quot;,&quot;user&quot;:&quot;647783070&quot;}"/>
  <p:tag name="KSO_WM_DIAGRAM_VIRTUALLY_FRAME" val="{&quot;height&quot;:305,&quot;left&quot;:60,&quot;top&quot;:105,&quot;width&quot;:639}"/>
</p:tagLst>
</file>

<file path=ppt/tags/tag18.xml><?xml version="1.0" encoding="utf-8"?>
<p:tagLst xmlns:p="http://schemas.openxmlformats.org/presentationml/2006/main">
  <p:tag name="KSO_WM_DIAGRAM_VIRTUALLY_FRAME" val="{&quot;height&quot;:305,&quot;left&quot;:60,&quot;top&quot;:105,&quot;width&quot;:639}"/>
</p:tagLst>
</file>

<file path=ppt/tags/tag19.xml><?xml version="1.0" encoding="utf-8"?>
<p:tagLst xmlns:p="http://schemas.openxmlformats.org/presentationml/2006/main">
  <p:tag name="resource_record_key" val="{&quot;10&quot;:[50059366,20215287,50062345,50022177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3363</Words>
  <Application>WPS 演示</Application>
  <PresentationFormat/>
  <Paragraphs>139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Arial</vt:lpstr>
      <vt:lpstr>Poppins</vt:lpstr>
      <vt:lpstr>Berlin Sans FB Demi</vt:lpstr>
      <vt:lpstr>Segoe Print</vt:lpstr>
      <vt:lpstr>汉仪粗宋简</vt:lpstr>
      <vt:lpstr>Arial Rounded MT Bold</vt:lpstr>
      <vt:lpstr>Noto Sans SC</vt:lpstr>
      <vt:lpstr>Microsoft YaHei</vt:lpstr>
      <vt:lpstr>Arial Unicode MS</vt:lpstr>
      <vt:lpstr>Poppins</vt:lpstr>
      <vt:lpstr>A new day begins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777.</cp:lastModifiedBy>
  <cp:revision>7</cp:revision>
  <dcterms:created xsi:type="dcterms:W3CDTF">2026-05-16T11:17:00Z</dcterms:created>
  <dcterms:modified xsi:type="dcterms:W3CDTF">2026-05-18T08:43:50Z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14319D4A85F344AFB7078B57FA053426_13</vt:lpwstr>
  </property>
  <property fmtid="{D5CDD505-2E9C-101B-9397-08002B2CF9AE}" pid="3" name="KSOProductBuildVer">
    <vt:lpwstr>2052-12.1.0.26375</vt:lpwstr>
  </property>
</Properties>
</file>