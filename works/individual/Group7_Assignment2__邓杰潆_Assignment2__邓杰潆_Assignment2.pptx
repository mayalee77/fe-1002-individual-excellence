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5" r:id="rId10"/>
    <p:sldId id="262" r:id="rId11"/>
    <p:sldId id="264" r:id="rId12"/>
    <p:sldId id="263"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autoAdjust="0"/>
  </p:normalViewPr>
  <p:slideViewPr>
    <p:cSldViewPr snapToGrid="0" snapToObjects="1">
      <p:cViewPr varScale="1">
        <p:scale>
          <a:sx n="84" d="100"/>
          <a:sy n="84" d="100"/>
        </p:scale>
        <p:origin x="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would like to present my AI visual work titled “Under the Same Sky: Astronomy as a Bridge of Civilizational Dialogue.” My drawn major is Astronomy, and my civilizational theme is Humanistic Civilization. My main argument is that astronomy was not only a scientific discipline, but also a humanistic bridge. Through calendar reform, translation, and astronomical observation, different civilizations learned how to communicate, build trust, and understand one another under the same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coordinates are Astronomy, Humanistic Civilization, and the late Ming to early Qing period. I chose this period because it shows a clear encounter between Chinese and European astronomical knowledge. The key point is not just that European science entered China. More importantly, astronomy became a language through which different cultures discussed time, order, authority, and knowledge. So my visual work tries to turn a scientific history into a humanistic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Times New Roman" panose="02020603050405020304"/>
              </a:rPr>
              <a:t>First, I used ChatGPT and Pika because they helped me express both the scientific and humanistic parts of my topic. ChatGPT was useful for developing the concept, refining the English prompt, and generating the main symbolic image. Pika was useful for turning the still image into a short moving visual. My process was simple: I wrote and adjusted the prompt in ChatGPT, generated the image, uploaded it to Pika, and used a low-motion animation setting. I wanted only subtle motion, such as twinkling stars, flowing light on the bridge, and a softly glowing AI screen. This keeps the focus on the argument rather than making the image too dramatic.</a:t>
            </a:r>
            <a:endParaRPr sz="1100">
              <a:latin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 chose the late Ming and early Qing period because it clearly shows the intersection between astronomy and Humanistic Civilization. During this time, China and Europe had meaningful contact through Jesuit missionaries and Chinese scholars. European astronomy and mathematics were introduced into China, but Chinese scholars did not simply receive them passively. They compared, translated, selected, and adapted this knowledge according to Chinese needs. This period is useful for my topic because the encounter was scientific, but it also involved culture, language, institutions,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Times New Roman" panose="02020603050405020304"/>
              </a:rPr>
              <a:t>Third, what happened in this historical case? Chinese and European astronomy both studied the sky, but they organized it in different ways. In Ming China, astronomers used systems such as the Twenty-Eight Lunar Mansions, or Ershiba Xiu, and the Three Enclosures, or Sanyuan. These were connected with star officials, calendars, rituals, agriculture, and the authority to define time. European astronomy used ideas such as the zodiac, classical constellations, celestial maps, mathematical tables, and later telescope-based observation. When Jesuit scholars and Chinese scholars worked on calendar reform, they were not only comparing instruments. They were also translating different ways of reading the same sky. So this was not a simple story of Western science replacing Chinese knowledge. It was a process of translation, testing, negotiation, and mutual adjustment.</a:t>
            </a:r>
            <a:endParaRPr sz="1100">
              <a:latin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Times New Roman" panose="02020603050405020304"/>
              </a:rPr>
              <a:t>In the image, the left side represents Chinese astronomy. The armillary sphere, calendar scrolls, and star charts point to the Chinese tradition of observing and organizing the sky, including the Twenty-Eight Lunar Mansions and star officials. The right side represents European astronomy. The telescope, celestial maps, zodiac and classical constellations, and mathematical diagrams show another way of mapping the heavens. Above them, there is one shared night sky. I wanted to show that different civilizations may use different names, instruments, and systems, but they are still looking at the same universe. The bridge of books and star maps shows exchange rather than separation, and the modern students in the foreground connect this historical exchange with today’s AI-supported cultural learning.</a:t>
            </a:r>
            <a:endParaRPr sz="1100">
              <a:latin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a:latin typeface="Times New Roman" panose="02020603050405020304"/>
              </a:rPr>
              <a:t>In the image, the left side represents Chinese astronomy. The armillary sphere, calendar scrolls, and star charts point to the Chinese tradition of observing and organizing the sky, including the Twenty-Eight Lunar Mansions and star officials. The right side represents European astronomy. The telescope, celestial maps, zodiac and classical constellations, and mathematical diagrams show another way of mapping the heavens. Above them, there is one shared night sky. I wanted to show that different civilizations may use different names, instruments, and systems, but they are still looking at the same universe. The bridge of books and star maps shows exchange rather than separation, and the modern students in the foreground connect this historical exchange with today’s AI-supported cultural learning.</a:t>
            </a:r>
            <a:endParaRPr sz="1100">
              <a:latin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this case still matters today. In the theme of Humanistic Civilization, the key question is not only how knowledge spreads, but how knowledge is understood across cultures. Today, AI, global education, and digital platforms allow scientific knowledge to travel very quickly. However, speed does not always mean understanding. If knowledge is shared without cultural respect, it may become one-way communication or may simplify local traditions. This historical case reminds us that science is universal, but scientific communication is always cultural. Astronomy teaches people about the universe, but it can also teach civilizations how to listen to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my visual work argues that astronomy is not only about stars and planets. It is also about human beings, cultural dialogue, and the shared search for meaning under the same sky. The historical exchange between Chinese and European astronomy shows that knowledge becomes more powerful when it is translated with respect and understood through dialogue.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my visual work argues that astronomy is not only about stars and planets. It is also about human beings, cultural dialogue, and the shared search for meaning under the same sky. The historical exchange between Chinese and European astronomy shows that knowledge becomes more powerful when it is translated with respect and understood through dialogue.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pic>
        <p:nvPicPr>
          <p:cNvPr id="2" name="Image 0" descr="/mnt/data/under_the_same_sky_bridging_civilizations.png"/>
          <p:cNvPicPr>
            <a:picLocks noChangeAspect="1"/>
          </p:cNvPicPr>
          <p:nvPr/>
        </p:nvPicPr>
        <p:blipFill>
          <a:blip r:embed="rId1"/>
          <a:stretch>
            <a:fillRect/>
          </a:stretch>
        </p:blipFill>
        <p:spPr>
          <a:xfrm>
            <a:off x="0" y="-1143000"/>
            <a:ext cx="12191695" cy="9144000"/>
          </a:xfrm>
          <a:prstGeom prst="rect">
            <a:avLst/>
          </a:prstGeom>
        </p:spPr>
      </p:pic>
      <p:sp>
        <p:nvSpPr>
          <p:cNvPr id="3" name="Shape 0"/>
          <p:cNvSpPr/>
          <p:nvPr/>
        </p:nvSpPr>
        <p:spPr>
          <a:xfrm>
            <a:off x="0" y="0"/>
            <a:ext cx="12191695" cy="6858000"/>
          </a:xfrm>
          <a:prstGeom prst="rect">
            <a:avLst/>
          </a:prstGeom>
          <a:solidFill>
            <a:srgbClr val="000000">
              <a:alpha val="55000"/>
            </a:srgbClr>
          </a:solidFill>
          <a:ln w="12700">
            <a:solidFill>
              <a:srgbClr val="000000">
                <a:alpha val="0"/>
              </a:srgbClr>
            </a:solidFill>
            <a:prstDash val="solid"/>
          </a:ln>
        </p:spPr>
        <p:txBody>
          <a:bodyPr/>
          <a:lstStyle/>
          <a:p/>
        </p:txBody>
      </p:sp>
      <p:sp>
        <p:nvSpPr>
          <p:cNvPr id="4" name="Shape 1"/>
          <p:cNvSpPr/>
          <p:nvPr/>
        </p:nvSpPr>
        <p:spPr>
          <a:xfrm>
            <a:off x="0" y="4343400"/>
            <a:ext cx="12191695" cy="2514600"/>
          </a:xfrm>
          <a:prstGeom prst="rect">
            <a:avLst/>
          </a:prstGeom>
          <a:solidFill>
            <a:srgbClr val="071A2E">
              <a:alpha val="92000"/>
            </a:srgbClr>
          </a:solidFill>
          <a:ln w="12700">
            <a:solidFill>
              <a:srgbClr val="071A2E">
                <a:alpha val="0"/>
              </a:srgbClr>
            </a:solidFill>
            <a:prstDash val="solid"/>
          </a:ln>
        </p:spPr>
        <p:txBody>
          <a:bodyPr/>
          <a:lstStyle/>
          <a:p/>
        </p:txBody>
      </p:sp>
      <p:sp>
        <p:nvSpPr>
          <p:cNvPr id="5" name="Text 2"/>
          <p:cNvSpPr/>
          <p:nvPr/>
        </p:nvSpPr>
        <p:spPr>
          <a:xfrm>
            <a:off x="658368" y="4590288"/>
            <a:ext cx="8778240" cy="594360"/>
          </a:xfrm>
          <a:prstGeom prst="rect">
            <a:avLst/>
          </a:prstGeom>
          <a:noFill/>
        </p:spPr>
        <p:txBody>
          <a:bodyPr wrap="square" lIns="0" tIns="0" rIns="0" bIns="0" rtlCol="0" anchor="ctr"/>
          <a:lstStyle/>
          <a:p>
            <a:pPr marL="0" indent="0">
              <a:buNone/>
            </a:pPr>
            <a:r>
              <a:rPr lang="en-US" sz="3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Under the Same Sky</a:t>
            </a:r>
            <a:endParaRPr lang="en-US" sz="3400" dirty="0"/>
          </a:p>
        </p:txBody>
      </p:sp>
      <p:sp>
        <p:nvSpPr>
          <p:cNvPr id="6" name="Shape 3"/>
          <p:cNvSpPr/>
          <p:nvPr/>
        </p:nvSpPr>
        <p:spPr>
          <a:xfrm>
            <a:off x="685800" y="5248656"/>
            <a:ext cx="1920240" cy="0"/>
          </a:xfrm>
          <a:prstGeom prst="line">
            <a:avLst/>
          </a:prstGeom>
          <a:noFill/>
          <a:ln w="38100">
            <a:solidFill>
              <a:srgbClr val="D4A24C"/>
            </a:solidFill>
            <a:prstDash val="solid"/>
          </a:ln>
        </p:spPr>
        <p:txBody>
          <a:bodyPr/>
          <a:lstStyle/>
          <a:p/>
        </p:txBody>
      </p:sp>
      <p:sp>
        <p:nvSpPr>
          <p:cNvPr id="7" name="Text 4"/>
          <p:cNvSpPr/>
          <p:nvPr/>
        </p:nvSpPr>
        <p:spPr>
          <a:xfrm>
            <a:off x="685800" y="5431536"/>
            <a:ext cx="8961120" cy="384048"/>
          </a:xfrm>
          <a:prstGeom prst="rect">
            <a:avLst/>
          </a:prstGeom>
          <a:noFill/>
        </p:spPr>
        <p:txBody>
          <a:bodyPr wrap="square" lIns="0" tIns="0" rIns="0" bIns="0" rtlCol="0" anchor="ctr"/>
          <a:lstStyle/>
          <a:p>
            <a:pPr marL="0" indent="0">
              <a:buNone/>
            </a:pPr>
            <a:r>
              <a:rPr lang="en-US" sz="2000"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Astronomy as a Bridge of Civilizational Dialogue</a:t>
            </a:r>
            <a:endParaRPr lang="en-US" sz="2000" dirty="0"/>
          </a:p>
        </p:txBody>
      </p:sp>
      <p:sp>
        <p:nvSpPr>
          <p:cNvPr id="8" name="Text 5"/>
          <p:cNvSpPr/>
          <p:nvPr/>
        </p:nvSpPr>
        <p:spPr>
          <a:xfrm>
            <a:off x="685800" y="5907024"/>
            <a:ext cx="7132320" cy="228600"/>
          </a:xfrm>
          <a:prstGeom prst="rect">
            <a:avLst/>
          </a:prstGeom>
          <a:noFill/>
        </p:spPr>
        <p:txBody>
          <a:bodyPr wrap="square" lIns="0" tIns="0" rIns="0" bIns="0" rtlCol="0" anchor="ctr"/>
          <a:lstStyle/>
          <a:p>
            <a:pPr marL="0" indent="0">
              <a:buNone/>
            </a:pPr>
            <a:r>
              <a:rPr lang="en-US" sz="1250"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Astronomy × Humanistic Civilization | Oral Presentation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sp>
        <p:nvSpPr>
          <p:cNvPr id="2" name="Text 0"/>
          <p:cNvSpPr/>
          <p:nvPr/>
        </p:nvSpPr>
        <p:spPr>
          <a:xfrm>
            <a:off x="594360" y="438912"/>
            <a:ext cx="8961120" cy="347472"/>
          </a:xfrm>
          <a:prstGeom prst="rect">
            <a:avLst/>
          </a:prstGeom>
          <a:noFill/>
        </p:spPr>
        <p:txBody>
          <a:bodyPr wrap="square" lIns="0" tIns="0" rIns="0" bIns="0" rtlCol="0" anchor="ctr"/>
          <a:lstStyle/>
          <a:p>
            <a:pPr marL="0" indent="0">
              <a:buNone/>
            </a:pPr>
            <a:r>
              <a:rPr lang="en-US" sz="25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Research Coordinates</a:t>
            </a:r>
            <a:endParaRPr lang="en-US" sz="2500" dirty="0"/>
          </a:p>
        </p:txBody>
      </p:sp>
      <p:sp>
        <p:nvSpPr>
          <p:cNvPr id="3" name="Shape 1"/>
          <p:cNvSpPr/>
          <p:nvPr/>
        </p:nvSpPr>
        <p:spPr>
          <a:xfrm>
            <a:off x="594360" y="850392"/>
            <a:ext cx="1005840" cy="0"/>
          </a:xfrm>
          <a:prstGeom prst="line">
            <a:avLst/>
          </a:prstGeom>
          <a:noFill/>
          <a:ln w="25400">
            <a:solidFill>
              <a:srgbClr val="D4A24C"/>
            </a:solidFill>
            <a:prstDash val="solid"/>
          </a:ln>
        </p:spPr>
        <p:txBody>
          <a:bodyPr/>
          <a:lstStyle/>
          <a:p/>
        </p:txBody>
      </p:sp>
      <p:sp>
        <p:nvSpPr>
          <p:cNvPr id="4" name="Text 2"/>
          <p:cNvSpPr/>
          <p:nvPr/>
        </p:nvSpPr>
        <p:spPr>
          <a:xfrm>
            <a:off x="1737360" y="749808"/>
            <a:ext cx="8686800" cy="201168"/>
          </a:xfrm>
          <a:prstGeom prst="rect">
            <a:avLst/>
          </a:prstGeom>
          <a:noFill/>
        </p:spPr>
        <p:txBody>
          <a:bodyPr wrap="square" lIns="0" tIns="0" rIns="0" bIns="0" rtlCol="0" anchor="ctr"/>
          <a:lstStyle/>
          <a:p>
            <a:pPr marL="0" indent="0">
              <a:buNone/>
            </a:pPr>
            <a:r>
              <a:rPr lang="en-US" sz="1100"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From a historical encounter to a contemporary humanistic question</a:t>
            </a:r>
            <a:endParaRPr lang="en-US" sz="1100" dirty="0"/>
          </a:p>
        </p:txBody>
      </p:sp>
      <p:sp>
        <p:nvSpPr>
          <p:cNvPr id="5" name="Shape 3"/>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6" name="Text 4"/>
          <p:cNvSpPr/>
          <p:nvPr/>
        </p:nvSpPr>
        <p:spPr>
          <a:xfrm>
            <a:off x="11448288" y="6556248"/>
            <a:ext cx="320040" cy="164592"/>
          </a:xfrm>
          <a:prstGeom prst="rect">
            <a:avLst/>
          </a:prstGeom>
          <a:noFill/>
        </p:spPr>
        <p:txBody>
          <a:bodyPr wrap="square" lIns="0" tIns="0" rIns="0" bIns="0" rtlCol="0" anchor="ctr"/>
          <a:lstStyle/>
          <a:p>
            <a:pPr marL="0" indent="0" algn="r">
              <a:buNone/>
            </a:pPr>
            <a:r>
              <a:rPr lang="en-US" sz="800"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800" dirty="0"/>
          </a:p>
        </p:txBody>
      </p:sp>
      <p:sp>
        <p:nvSpPr>
          <p:cNvPr id="7" name="Shape 5"/>
          <p:cNvSpPr/>
          <p:nvPr/>
        </p:nvSpPr>
        <p:spPr>
          <a:xfrm>
            <a:off x="713232" y="1325880"/>
            <a:ext cx="3246120" cy="1417320"/>
          </a:xfrm>
          <a:prstGeom prst="roundRect">
            <a:avLst>
              <a:gd name="adj" fmla="val 7742"/>
            </a:avLst>
          </a:prstGeom>
          <a:solidFill>
            <a:srgbClr val="0E2944"/>
          </a:solidFill>
          <a:ln w="13970">
            <a:solidFill>
              <a:srgbClr val="D4A24C">
                <a:alpha val="58000"/>
              </a:srgbClr>
            </a:solidFill>
            <a:prstDash val="solid"/>
          </a:ln>
        </p:spPr>
        <p:txBody>
          <a:bodyPr/>
          <a:lstStyle/>
          <a:p/>
        </p:txBody>
      </p:sp>
      <p:sp>
        <p:nvSpPr>
          <p:cNvPr id="8" name="Text 6"/>
          <p:cNvSpPr/>
          <p:nvPr/>
        </p:nvSpPr>
        <p:spPr>
          <a:xfrm>
            <a:off x="914400" y="149047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Drawn Major</a:t>
            </a:r>
            <a:endParaRPr lang="en-US" sz="1600" dirty="0"/>
          </a:p>
        </p:txBody>
      </p:sp>
      <p:sp>
        <p:nvSpPr>
          <p:cNvPr id="9" name="Text 7"/>
          <p:cNvSpPr/>
          <p:nvPr/>
        </p:nvSpPr>
        <p:spPr>
          <a:xfrm>
            <a:off x="914400" y="1892808"/>
            <a:ext cx="2843784" cy="685800"/>
          </a:xfrm>
          <a:prstGeom prst="rect">
            <a:avLst/>
          </a:prstGeom>
          <a:noFill/>
        </p:spPr>
        <p:txBody>
          <a:bodyPr wrap="square" lIns="381" tIns="381" rIns="381" bIns="381" rtlCol="0" anchor="t">
            <a:no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Astronomy</a:t>
            </a:r>
            <a:endParaRPr lang="en-US" sz="1600" dirty="0"/>
          </a:p>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Observation · calendars · star maps · instruments</a:t>
            </a:r>
            <a:endParaRPr lang="en-US" sz="1600" dirty="0"/>
          </a:p>
        </p:txBody>
      </p:sp>
      <p:sp>
        <p:nvSpPr>
          <p:cNvPr id="10" name="Shape 8"/>
          <p:cNvSpPr/>
          <p:nvPr/>
        </p:nvSpPr>
        <p:spPr>
          <a:xfrm>
            <a:off x="4462272" y="1325880"/>
            <a:ext cx="3246120" cy="1417320"/>
          </a:xfrm>
          <a:prstGeom prst="roundRect">
            <a:avLst>
              <a:gd name="adj" fmla="val 7742"/>
            </a:avLst>
          </a:prstGeom>
          <a:solidFill>
            <a:srgbClr val="0E2944"/>
          </a:solidFill>
          <a:ln w="13970">
            <a:solidFill>
              <a:srgbClr val="D4A24C">
                <a:alpha val="58000"/>
              </a:srgbClr>
            </a:solidFill>
            <a:prstDash val="solid"/>
          </a:ln>
        </p:spPr>
        <p:txBody>
          <a:bodyPr/>
          <a:lstStyle/>
          <a:p/>
        </p:txBody>
      </p:sp>
      <p:sp>
        <p:nvSpPr>
          <p:cNvPr id="11" name="Text 9"/>
          <p:cNvSpPr/>
          <p:nvPr/>
        </p:nvSpPr>
        <p:spPr>
          <a:xfrm>
            <a:off x="4663440" y="149047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Civilizational Theme</a:t>
            </a:r>
            <a:endParaRPr lang="en-US" sz="1600" dirty="0"/>
          </a:p>
        </p:txBody>
      </p:sp>
      <p:sp>
        <p:nvSpPr>
          <p:cNvPr id="12" name="Text 10"/>
          <p:cNvSpPr/>
          <p:nvPr/>
        </p:nvSpPr>
        <p:spPr>
          <a:xfrm>
            <a:off x="4663440" y="1892808"/>
            <a:ext cx="2843784" cy="685800"/>
          </a:xfrm>
          <a:prstGeom prst="rect">
            <a:avLst/>
          </a:prstGeom>
          <a:noFill/>
        </p:spPr>
        <p:txBody>
          <a:bodyPr wrap="square" lIns="381" tIns="381" rIns="381" bIns="381" rtlCol="0" anchor="t">
            <a:no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Humanistic Civilization</a:t>
            </a:r>
            <a:endParaRPr lang="en-US" sz="1600" dirty="0"/>
          </a:p>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Dialogue · education · cultural understanding</a:t>
            </a:r>
            <a:endParaRPr lang="en-US" sz="1600" dirty="0"/>
          </a:p>
        </p:txBody>
      </p:sp>
      <p:sp>
        <p:nvSpPr>
          <p:cNvPr id="13" name="Shape 11"/>
          <p:cNvSpPr/>
          <p:nvPr/>
        </p:nvSpPr>
        <p:spPr>
          <a:xfrm>
            <a:off x="8211312" y="1325880"/>
            <a:ext cx="3246120" cy="1417320"/>
          </a:xfrm>
          <a:prstGeom prst="roundRect">
            <a:avLst>
              <a:gd name="adj" fmla="val 7742"/>
            </a:avLst>
          </a:prstGeom>
          <a:solidFill>
            <a:srgbClr val="0E2944"/>
          </a:solidFill>
          <a:ln w="13970">
            <a:solidFill>
              <a:srgbClr val="D4A24C">
                <a:alpha val="58000"/>
              </a:srgbClr>
            </a:solidFill>
            <a:prstDash val="solid"/>
          </a:ln>
        </p:spPr>
        <p:txBody>
          <a:bodyPr/>
          <a:lstStyle/>
          <a:p/>
        </p:txBody>
      </p:sp>
      <p:sp>
        <p:nvSpPr>
          <p:cNvPr id="14" name="Text 12"/>
          <p:cNvSpPr/>
          <p:nvPr/>
        </p:nvSpPr>
        <p:spPr>
          <a:xfrm>
            <a:off x="8412480" y="149047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Historical Period</a:t>
            </a:r>
            <a:endParaRPr lang="en-US" sz="1600" dirty="0"/>
          </a:p>
        </p:txBody>
      </p:sp>
      <p:sp>
        <p:nvSpPr>
          <p:cNvPr id="15" name="Text 13"/>
          <p:cNvSpPr/>
          <p:nvPr/>
        </p:nvSpPr>
        <p:spPr>
          <a:xfrm>
            <a:off x="8412480" y="1892808"/>
            <a:ext cx="2843784" cy="685800"/>
          </a:xfrm>
          <a:prstGeom prst="rect">
            <a:avLst/>
          </a:prstGeom>
          <a:noFill/>
        </p:spPr>
        <p:txBody>
          <a:bodyPr wrap="square" lIns="381" tIns="381" rIns="381" bIns="381" rtlCol="0" anchor="t">
            <a:no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Late Ming – Early Qing</a:t>
            </a:r>
            <a:endParaRPr lang="en-US" sz="1600" dirty="0"/>
          </a:p>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Across the Age of Exploration and early Modern China</a:t>
            </a:r>
            <a:endParaRPr lang="en-US" sz="1600" dirty="0"/>
          </a:p>
        </p:txBody>
      </p:sp>
      <p:sp>
        <p:nvSpPr>
          <p:cNvPr id="16" name="Shape 14"/>
          <p:cNvSpPr/>
          <p:nvPr/>
        </p:nvSpPr>
        <p:spPr>
          <a:xfrm>
            <a:off x="2542032" y="3063240"/>
            <a:ext cx="0" cy="548640"/>
          </a:xfrm>
          <a:prstGeom prst="line">
            <a:avLst/>
          </a:prstGeom>
          <a:noFill/>
          <a:ln w="19050">
            <a:solidFill>
              <a:srgbClr val="D4A24C"/>
            </a:solidFill>
            <a:prstDash val="solid"/>
            <a:headEnd type="none"/>
            <a:tailEnd type="triangle"/>
          </a:ln>
        </p:spPr>
        <p:txBody>
          <a:bodyPr/>
          <a:lstStyle/>
          <a:p/>
        </p:txBody>
      </p:sp>
      <p:sp>
        <p:nvSpPr>
          <p:cNvPr id="17" name="Shape 15"/>
          <p:cNvSpPr/>
          <p:nvPr/>
        </p:nvSpPr>
        <p:spPr>
          <a:xfrm>
            <a:off x="6108192" y="3063240"/>
            <a:ext cx="0" cy="548640"/>
          </a:xfrm>
          <a:prstGeom prst="line">
            <a:avLst/>
          </a:prstGeom>
          <a:noFill/>
          <a:ln w="19050">
            <a:solidFill>
              <a:srgbClr val="D4A24C"/>
            </a:solidFill>
            <a:prstDash val="solid"/>
            <a:tailEnd type="triangle"/>
          </a:ln>
        </p:spPr>
        <p:txBody>
          <a:bodyPr/>
          <a:lstStyle/>
          <a:p/>
        </p:txBody>
      </p:sp>
      <p:sp>
        <p:nvSpPr>
          <p:cNvPr id="18" name="Shape 16"/>
          <p:cNvSpPr/>
          <p:nvPr/>
        </p:nvSpPr>
        <p:spPr>
          <a:xfrm>
            <a:off x="9857232" y="3063240"/>
            <a:ext cx="0" cy="548640"/>
          </a:xfrm>
          <a:prstGeom prst="line">
            <a:avLst/>
          </a:prstGeom>
          <a:noFill/>
          <a:ln w="19050">
            <a:solidFill>
              <a:srgbClr val="D4A24C"/>
            </a:solidFill>
            <a:prstDash val="solid"/>
            <a:tailEnd type="triangle"/>
          </a:ln>
        </p:spPr>
        <p:txBody>
          <a:bodyPr/>
          <a:lstStyle/>
          <a:p/>
        </p:txBody>
      </p:sp>
      <p:sp>
        <p:nvSpPr>
          <p:cNvPr id="19" name="Shape 17"/>
          <p:cNvSpPr/>
          <p:nvPr/>
        </p:nvSpPr>
        <p:spPr>
          <a:xfrm>
            <a:off x="1078992" y="3767328"/>
            <a:ext cx="10058400" cy="1691640"/>
          </a:xfrm>
          <a:prstGeom prst="roundRect">
            <a:avLst>
              <a:gd name="adj" fmla="val 8108"/>
            </a:avLst>
          </a:prstGeom>
          <a:solidFill>
            <a:srgbClr val="102D4A"/>
          </a:solidFill>
          <a:ln w="15240">
            <a:solidFill>
              <a:srgbClr val="D4A24C">
                <a:alpha val="70000"/>
              </a:srgbClr>
            </a:solidFill>
            <a:prstDash val="solid"/>
          </a:ln>
        </p:spPr>
        <p:txBody>
          <a:bodyPr/>
          <a:lstStyle/>
          <a:p/>
        </p:txBody>
      </p:sp>
      <p:sp>
        <p:nvSpPr>
          <p:cNvPr id="20" name="Text 18"/>
          <p:cNvSpPr/>
          <p:nvPr/>
        </p:nvSpPr>
        <p:spPr>
          <a:xfrm>
            <a:off x="1371600" y="4041648"/>
            <a:ext cx="1828800" cy="292608"/>
          </a:xfrm>
          <a:prstGeom prst="rect">
            <a:avLst/>
          </a:prstGeom>
          <a:noFill/>
        </p:spPr>
        <p:txBody>
          <a:bodyPr wrap="square" lIns="0" tIns="0" rIns="0" bIns="0" rtlCol="0" anchor="ctr"/>
          <a:lstStyle/>
          <a:p>
            <a:pPr marL="0" indent="0">
              <a:buNone/>
            </a:pPr>
            <a:r>
              <a:rPr lang="en-US" sz="17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Core Argument</a:t>
            </a:r>
            <a:endParaRPr lang="en-US" sz="1700" dirty="0"/>
          </a:p>
        </p:txBody>
      </p:sp>
      <p:sp>
        <p:nvSpPr>
          <p:cNvPr id="21" name="Text 19"/>
          <p:cNvSpPr/>
          <p:nvPr/>
        </p:nvSpPr>
        <p:spPr>
          <a:xfrm>
            <a:off x="1371600" y="4498848"/>
            <a:ext cx="9326880" cy="594360"/>
          </a:xfrm>
          <a:prstGeom prst="rect">
            <a:avLst/>
          </a:prstGeom>
          <a:noFill/>
        </p:spPr>
        <p:txBody>
          <a:bodyPr wrap="square" lIns="0" tIns="0" rIns="0" bIns="0" rtlCol="0" anchor="ctr">
            <a:normAutofit/>
          </a:bodyPr>
          <a:lstStyle/>
          <a:p>
            <a:pPr marL="0" indent="0">
              <a:buNone/>
            </a:pPr>
            <a:r>
              <a:rPr lang="en-US" sz="1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Astronomy was not only a science of stars and planets. In this historical encounter, it became a bridge for translation, trust, and cross-cultural understanding.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sp>
        <p:nvSpPr>
          <p:cNvPr id="2" name="Text 0"/>
          <p:cNvSpPr/>
          <p:nvPr/>
        </p:nvSpPr>
        <p:spPr>
          <a:xfrm>
            <a:off x="594360" y="438912"/>
            <a:ext cx="8961120" cy="347472"/>
          </a:xfrm>
          <a:prstGeom prst="rect">
            <a:avLst/>
          </a:prstGeom>
          <a:noFill/>
        </p:spPr>
        <p:txBody>
          <a:bodyPr wrap="square" lIns="0" tIns="0" rIns="0" bIns="0" rtlCol="0" anchor="ctr"/>
          <a:lstStyle/>
          <a:p>
            <a:r>
              <a:rPr sz="2400" b="1">
                <a:solidFill>
                  <a:srgbClr val="FFFFFF"/>
                </a:solidFill>
                <a:latin typeface="Times New Roman" panose="02020603050405020304"/>
              </a:rPr>
              <a:t>1. Why These AI Tools?</a:t>
            </a:r>
            <a:endParaRPr sz="2400" b="1">
              <a:solidFill>
                <a:srgbClr val="FFFFFF"/>
              </a:solidFill>
              <a:latin typeface="Times New Roman" panose="02020603050405020304"/>
            </a:endParaRPr>
          </a:p>
        </p:txBody>
      </p:sp>
      <p:sp>
        <p:nvSpPr>
          <p:cNvPr id="3" name="Shape 1"/>
          <p:cNvSpPr/>
          <p:nvPr/>
        </p:nvSpPr>
        <p:spPr>
          <a:xfrm>
            <a:off x="594360" y="850392"/>
            <a:ext cx="1005840" cy="0"/>
          </a:xfrm>
          <a:prstGeom prst="line">
            <a:avLst/>
          </a:prstGeom>
          <a:noFill/>
          <a:ln w="25400">
            <a:solidFill>
              <a:srgbClr val="D4A24C"/>
            </a:solidFill>
            <a:prstDash val="solid"/>
          </a:ln>
        </p:spPr>
        <p:txBody>
          <a:bodyPr/>
          <a:lstStyle/>
          <a:p/>
        </p:txBody>
      </p:sp>
      <p:sp>
        <p:nvSpPr>
          <p:cNvPr id="4" name="Text 2"/>
          <p:cNvSpPr/>
          <p:nvPr/>
        </p:nvSpPr>
        <p:spPr>
          <a:xfrm>
            <a:off x="1737360" y="749808"/>
            <a:ext cx="8686800" cy="201168"/>
          </a:xfrm>
          <a:prstGeom prst="rect">
            <a:avLst/>
          </a:prstGeom>
          <a:noFill/>
        </p:spPr>
        <p:txBody>
          <a:bodyPr wrap="square" lIns="0" tIns="0" rIns="0" bIns="0" rtlCol="0" anchor="ctr"/>
          <a:lstStyle/>
          <a:p>
            <a:r>
              <a:rPr sz="1100" b="0">
                <a:solidFill>
                  <a:srgbClr val="F5F0DC"/>
                </a:solidFill>
                <a:latin typeface="Times New Roman" panose="02020603050405020304"/>
              </a:rPr>
              <a:t>ChatGPT + Pika: from concept to moving visual</a:t>
            </a:r>
            <a:endParaRPr sz="1100" b="0">
              <a:solidFill>
                <a:srgbClr val="F5F0DC"/>
              </a:solidFill>
              <a:latin typeface="Times New Roman" panose="02020603050405020304"/>
            </a:endParaRPr>
          </a:p>
        </p:txBody>
      </p:sp>
      <p:sp>
        <p:nvSpPr>
          <p:cNvPr id="5" name="Shape 3"/>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6" name="Text 4"/>
          <p:cNvSpPr/>
          <p:nvPr/>
        </p:nvSpPr>
        <p:spPr>
          <a:xfrm>
            <a:off x="11448288" y="6556248"/>
            <a:ext cx="320040" cy="164592"/>
          </a:xfrm>
          <a:prstGeom prst="rect">
            <a:avLst/>
          </a:prstGeom>
          <a:noFill/>
        </p:spPr>
        <p:txBody>
          <a:bodyPr wrap="square" lIns="0" tIns="0" rIns="0" bIns="0" rtlCol="0" anchor="ctr"/>
          <a:lstStyle/>
          <a:p>
            <a:pPr marL="0" indent="0" algn="r">
              <a:buNone/>
            </a:pPr>
            <a:r>
              <a:rPr lang="en-US" sz="900" b="0" dirty="0">
                <a:solidFill>
                  <a:srgbClr val="F5F0DC"/>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800" dirty="0"/>
          </a:p>
        </p:txBody>
      </p:sp>
      <p:pic>
        <p:nvPicPr>
          <p:cNvPr id="7" name="Image 0" descr="/mnt/data/image(10).png"/>
          <p:cNvPicPr>
            <a:picLocks noChangeAspect="1"/>
          </p:cNvPicPr>
          <p:nvPr/>
        </p:nvPicPr>
        <p:blipFill>
          <a:blip r:embed="rId1"/>
          <a:stretch>
            <a:fillRect/>
          </a:stretch>
        </p:blipFill>
        <p:spPr>
          <a:xfrm>
            <a:off x="685800" y="1298448"/>
            <a:ext cx="4663440" cy="3191256"/>
          </a:xfrm>
          <a:prstGeom prst="rect">
            <a:avLst/>
          </a:prstGeom>
        </p:spPr>
      </p:pic>
      <p:sp>
        <p:nvSpPr>
          <p:cNvPr id="8" name="Shape 5"/>
          <p:cNvSpPr/>
          <p:nvPr/>
        </p:nvSpPr>
        <p:spPr>
          <a:xfrm>
            <a:off x="685800" y="1298448"/>
            <a:ext cx="4663440" cy="3191256"/>
          </a:xfrm>
          <a:prstGeom prst="roundRect">
            <a:avLst>
              <a:gd name="adj" fmla="val 2865"/>
            </a:avLst>
          </a:prstGeom>
          <a:solidFill>
            <a:srgbClr val="000000">
              <a:alpha val="0"/>
            </a:srgbClr>
          </a:solidFill>
          <a:ln w="15240">
            <a:solidFill>
              <a:srgbClr val="D4A24C">
                <a:alpha val="80000"/>
              </a:srgbClr>
            </a:solidFill>
            <a:prstDash val="solid"/>
          </a:ln>
        </p:spPr>
        <p:txBody>
          <a:bodyPr/>
          <a:lstStyle/>
          <a:p/>
        </p:txBody>
      </p:sp>
      <p:sp>
        <p:nvSpPr>
          <p:cNvPr id="9" name="Shape 6"/>
          <p:cNvSpPr/>
          <p:nvPr/>
        </p:nvSpPr>
        <p:spPr>
          <a:xfrm>
            <a:off x="5715000" y="1243584"/>
            <a:ext cx="5440680" cy="1024128"/>
          </a:xfrm>
          <a:prstGeom prst="roundRect">
            <a:avLst>
              <a:gd name="adj" fmla="val 10714"/>
            </a:avLst>
          </a:prstGeom>
          <a:solidFill>
            <a:srgbClr val="0E2944"/>
          </a:solidFill>
          <a:ln w="13970">
            <a:solidFill>
              <a:srgbClr val="D4A24C">
                <a:alpha val="58000"/>
              </a:srgbClr>
            </a:solidFill>
            <a:prstDash val="solid"/>
          </a:ln>
        </p:spPr>
        <p:txBody>
          <a:bodyPr/>
          <a:lstStyle/>
          <a:p/>
        </p:txBody>
      </p:sp>
      <p:sp>
        <p:nvSpPr>
          <p:cNvPr id="10" name="Text 7"/>
          <p:cNvSpPr/>
          <p:nvPr/>
        </p:nvSpPr>
        <p:spPr>
          <a:xfrm>
            <a:off x="5916168" y="1408176"/>
            <a:ext cx="5038344" cy="292608"/>
          </a:xfrm>
          <a:prstGeom prst="rect">
            <a:avLst/>
          </a:prstGeom>
          <a:noFill/>
        </p:spPr>
        <p:txBody>
          <a:bodyPr wrap="square" lIns="0" tIns="0" rIns="0" bIns="0" rtlCol="0" anchor="ctr"/>
          <a:lstStyle/>
          <a:p>
            <a:r>
              <a:rPr sz="1800" b="1">
                <a:solidFill>
                  <a:srgbClr val="D6B156"/>
                </a:solidFill>
                <a:latin typeface="Times New Roman" panose="02020603050405020304"/>
              </a:rPr>
              <a:t>ChatGPT</a:t>
            </a:r>
            <a:endParaRPr sz="1800" b="1">
              <a:solidFill>
                <a:srgbClr val="D6B156"/>
              </a:solidFill>
              <a:latin typeface="Times New Roman" panose="02020603050405020304"/>
            </a:endParaRPr>
          </a:p>
        </p:txBody>
      </p:sp>
      <p:sp>
        <p:nvSpPr>
          <p:cNvPr id="11" name="Text 8"/>
          <p:cNvSpPr/>
          <p:nvPr/>
        </p:nvSpPr>
        <p:spPr>
          <a:xfrm>
            <a:off x="5916168" y="1810512"/>
            <a:ext cx="5038344" cy="292608"/>
          </a:xfrm>
          <a:prstGeom prst="rect">
            <a:avLst/>
          </a:prstGeom>
          <a:noFill/>
        </p:spPr>
        <p:txBody>
          <a:bodyPr wrap="square" lIns="381" tIns="381" rIns="381" bIns="381" rtlCol="0" anchor="t">
            <a:normAutofit/>
          </a:bodyPr>
          <a:lstStyle/>
          <a:p>
            <a:r>
              <a:rPr sz="1300" b="0">
                <a:solidFill>
                  <a:srgbClr val="FFFFFF"/>
                </a:solidFill>
                <a:latin typeface="Times New Roman" panose="02020603050405020304"/>
              </a:rPr>
              <a:t>Concept design, prompt refinement, and main symbolic image generation.</a:t>
            </a:r>
            <a:endParaRPr sz="1300" b="0">
              <a:solidFill>
                <a:srgbClr val="FFFFFF"/>
              </a:solidFill>
              <a:latin typeface="Times New Roman" panose="02020603050405020304"/>
            </a:endParaRPr>
          </a:p>
        </p:txBody>
      </p:sp>
      <p:sp>
        <p:nvSpPr>
          <p:cNvPr id="12" name="Shape 9"/>
          <p:cNvSpPr/>
          <p:nvPr/>
        </p:nvSpPr>
        <p:spPr>
          <a:xfrm>
            <a:off x="5715000" y="2496312"/>
            <a:ext cx="5440680" cy="1024128"/>
          </a:xfrm>
          <a:prstGeom prst="roundRect">
            <a:avLst>
              <a:gd name="adj" fmla="val 10714"/>
            </a:avLst>
          </a:prstGeom>
          <a:solidFill>
            <a:srgbClr val="0E2944"/>
          </a:solidFill>
          <a:ln w="13970">
            <a:solidFill>
              <a:srgbClr val="D4A24C">
                <a:alpha val="58000"/>
              </a:srgbClr>
            </a:solidFill>
            <a:prstDash val="solid"/>
          </a:ln>
        </p:spPr>
        <p:txBody>
          <a:bodyPr/>
          <a:lstStyle/>
          <a:p/>
        </p:txBody>
      </p:sp>
      <p:sp>
        <p:nvSpPr>
          <p:cNvPr id="13" name="Text 10"/>
          <p:cNvSpPr/>
          <p:nvPr/>
        </p:nvSpPr>
        <p:spPr>
          <a:xfrm>
            <a:off x="5916168" y="2660904"/>
            <a:ext cx="5038344" cy="292608"/>
          </a:xfrm>
          <a:prstGeom prst="rect">
            <a:avLst/>
          </a:prstGeom>
          <a:noFill/>
        </p:spPr>
        <p:txBody>
          <a:bodyPr wrap="square" lIns="0" tIns="0" rIns="0" bIns="0" rtlCol="0" anchor="ctr"/>
          <a:lstStyle/>
          <a:p>
            <a:r>
              <a:rPr sz="1800" b="1">
                <a:solidFill>
                  <a:srgbClr val="D6B156"/>
                </a:solidFill>
                <a:latin typeface="Times New Roman" panose="02020603050405020304"/>
              </a:rPr>
              <a:t>Pika</a:t>
            </a:r>
            <a:endParaRPr sz="1800" b="1">
              <a:solidFill>
                <a:srgbClr val="D6B156"/>
              </a:solidFill>
              <a:latin typeface="Times New Roman" panose="02020603050405020304"/>
            </a:endParaRPr>
          </a:p>
        </p:txBody>
      </p:sp>
      <p:sp>
        <p:nvSpPr>
          <p:cNvPr id="14" name="Text 11"/>
          <p:cNvSpPr/>
          <p:nvPr/>
        </p:nvSpPr>
        <p:spPr>
          <a:xfrm>
            <a:off x="5916168" y="3063240"/>
            <a:ext cx="5038344" cy="292608"/>
          </a:xfrm>
          <a:prstGeom prst="rect">
            <a:avLst/>
          </a:prstGeom>
          <a:noFill/>
        </p:spPr>
        <p:txBody>
          <a:bodyPr wrap="square" lIns="381" tIns="381" rIns="381" bIns="381" rtlCol="0" anchor="t">
            <a:normAutofit fontScale="92500"/>
          </a:bodyPr>
          <a:lstStyle/>
          <a:p>
            <a:r>
              <a:rPr sz="1300" b="0">
                <a:solidFill>
                  <a:srgbClr val="FFFFFF"/>
                </a:solidFill>
                <a:latin typeface="Times New Roman" panose="02020603050405020304"/>
              </a:rPr>
              <a:t>Image-to-video animation: subtle star movement, flowing light, and screen glow.</a:t>
            </a:r>
            <a:endParaRPr sz="1300" b="0">
              <a:solidFill>
                <a:srgbClr val="FFFFFF"/>
              </a:solidFill>
              <a:latin typeface="Times New Roman" panose="02020603050405020304"/>
            </a:endParaRPr>
          </a:p>
        </p:txBody>
      </p:sp>
      <p:sp>
        <p:nvSpPr>
          <p:cNvPr id="15" name="Shape 12"/>
          <p:cNvSpPr/>
          <p:nvPr/>
        </p:nvSpPr>
        <p:spPr>
          <a:xfrm>
            <a:off x="5715000" y="3749040"/>
            <a:ext cx="5440680" cy="1024128"/>
          </a:xfrm>
          <a:prstGeom prst="roundRect">
            <a:avLst>
              <a:gd name="adj" fmla="val 10714"/>
            </a:avLst>
          </a:prstGeom>
          <a:solidFill>
            <a:srgbClr val="0E2944"/>
          </a:solidFill>
          <a:ln w="13970">
            <a:solidFill>
              <a:srgbClr val="D4A24C">
                <a:alpha val="58000"/>
              </a:srgbClr>
            </a:solidFill>
            <a:prstDash val="solid"/>
          </a:ln>
        </p:spPr>
        <p:txBody>
          <a:bodyPr/>
          <a:lstStyle/>
          <a:p/>
        </p:txBody>
      </p:sp>
      <p:sp>
        <p:nvSpPr>
          <p:cNvPr id="16" name="Text 13"/>
          <p:cNvSpPr/>
          <p:nvPr/>
        </p:nvSpPr>
        <p:spPr>
          <a:xfrm>
            <a:off x="5916168" y="3913632"/>
            <a:ext cx="5038344" cy="292608"/>
          </a:xfrm>
          <a:prstGeom prst="rect">
            <a:avLst/>
          </a:prstGeom>
          <a:noFill/>
        </p:spPr>
        <p:txBody>
          <a:bodyPr wrap="square" lIns="0" tIns="0" rIns="0" bIns="0" rtlCol="0" anchor="ctr"/>
          <a:lstStyle/>
          <a:p>
            <a:r>
              <a:rPr sz="1800" b="1">
                <a:solidFill>
                  <a:srgbClr val="D6B156"/>
                </a:solidFill>
                <a:latin typeface="Times New Roman" panose="02020603050405020304"/>
              </a:rPr>
              <a:t>Simple workflow</a:t>
            </a:r>
            <a:endParaRPr sz="1800" b="1">
              <a:solidFill>
                <a:srgbClr val="D6B156"/>
              </a:solidFill>
              <a:latin typeface="Times New Roman" panose="02020603050405020304"/>
            </a:endParaRPr>
          </a:p>
        </p:txBody>
      </p:sp>
      <p:sp>
        <p:nvSpPr>
          <p:cNvPr id="17" name="Text 14"/>
          <p:cNvSpPr/>
          <p:nvPr/>
        </p:nvSpPr>
        <p:spPr>
          <a:xfrm>
            <a:off x="5916168" y="4315968"/>
            <a:ext cx="5038344" cy="292608"/>
          </a:xfrm>
          <a:prstGeom prst="rect">
            <a:avLst/>
          </a:prstGeom>
          <a:noFill/>
        </p:spPr>
        <p:txBody>
          <a:bodyPr wrap="square" lIns="381" tIns="381" rIns="381" bIns="381" rtlCol="0" anchor="t">
            <a:normAutofit fontScale="85000" lnSpcReduction="10000"/>
          </a:bodyPr>
          <a:lstStyle/>
          <a:p>
            <a:r>
              <a:rPr sz="1300" b="0">
                <a:solidFill>
                  <a:srgbClr val="FFFFFF"/>
                </a:solidFill>
                <a:latin typeface="Times New Roman" panose="02020603050405020304"/>
              </a:rPr>
              <a:t>Prompt → generate image → upload image to Pika → choose low-motion animation.</a:t>
            </a:r>
            <a:endParaRPr sz="1300" b="0">
              <a:solidFill>
                <a:srgbClr val="FFFFFF"/>
              </a:solidFill>
              <a:latin typeface="Times New Roman" panose="02020603050405020304"/>
            </a:endParaRPr>
          </a:p>
        </p:txBody>
      </p:sp>
      <p:sp>
        <p:nvSpPr>
          <p:cNvPr id="18" name="Shape 15"/>
          <p:cNvSpPr/>
          <p:nvPr/>
        </p:nvSpPr>
        <p:spPr>
          <a:xfrm>
            <a:off x="1828800" y="5074920"/>
            <a:ext cx="8549640" cy="594360"/>
          </a:xfrm>
          <a:prstGeom prst="roundRect">
            <a:avLst>
              <a:gd name="adj" fmla="val 15385"/>
            </a:avLst>
          </a:prstGeom>
          <a:solidFill>
            <a:srgbClr val="D4A24C">
              <a:alpha val="93000"/>
            </a:srgbClr>
          </a:solidFill>
          <a:ln w="12700">
            <a:solidFill>
              <a:srgbClr val="D4A24C">
                <a:alpha val="0"/>
              </a:srgbClr>
            </a:solidFill>
            <a:prstDash val="solid"/>
          </a:ln>
        </p:spPr>
        <p:txBody>
          <a:bodyPr/>
          <a:lstStyle/>
          <a:p/>
        </p:txBody>
      </p:sp>
      <p:sp>
        <p:nvSpPr>
          <p:cNvPr id="19" name="Text 16"/>
          <p:cNvSpPr/>
          <p:nvPr/>
        </p:nvSpPr>
        <p:spPr>
          <a:xfrm>
            <a:off x="2057400" y="5248656"/>
            <a:ext cx="8092440" cy="210312"/>
          </a:xfrm>
          <a:prstGeom prst="rect">
            <a:avLst/>
          </a:prstGeom>
          <a:noFill/>
        </p:spPr>
        <p:txBody>
          <a:bodyPr wrap="square" lIns="0" tIns="0" rIns="0" bIns="0" rtlCol="0" anchor="ctr"/>
          <a:lstStyle/>
          <a:p>
            <a:r>
              <a:rPr sz="1500" b="0">
                <a:solidFill>
                  <a:srgbClr val="0E1E2D"/>
                </a:solidFill>
                <a:latin typeface="Times New Roman" panose="02020603050405020304"/>
              </a:rPr>
              <a:t>ChatGPT helps design the visual argument; Pika turns the still image into a calm cinematic visual.</a:t>
            </a:r>
            <a:endParaRPr sz="1500" b="0">
              <a:solidFill>
                <a:srgbClr val="0E1E2D"/>
              </a:solidFill>
              <a:latin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sp>
        <p:nvSpPr>
          <p:cNvPr id="2" name="Text 0"/>
          <p:cNvSpPr/>
          <p:nvPr/>
        </p:nvSpPr>
        <p:spPr>
          <a:xfrm>
            <a:off x="594360" y="438912"/>
            <a:ext cx="8961120" cy="347472"/>
          </a:xfrm>
          <a:prstGeom prst="rect">
            <a:avLst/>
          </a:prstGeom>
          <a:noFill/>
        </p:spPr>
        <p:txBody>
          <a:bodyPr wrap="square" lIns="0" tIns="0" rIns="0" bIns="0" rtlCol="0" anchor="ctr"/>
          <a:lstStyle/>
          <a:p>
            <a:pPr marL="0" indent="0">
              <a:buNone/>
            </a:pPr>
            <a:r>
              <a:rPr lang="en-US" sz="25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 Why This Period?</a:t>
            </a:r>
            <a:endParaRPr lang="en-US" sz="2500" dirty="0"/>
          </a:p>
        </p:txBody>
      </p:sp>
      <p:sp>
        <p:nvSpPr>
          <p:cNvPr id="3" name="Shape 1"/>
          <p:cNvSpPr/>
          <p:nvPr/>
        </p:nvSpPr>
        <p:spPr>
          <a:xfrm>
            <a:off x="594360" y="850392"/>
            <a:ext cx="1005840" cy="0"/>
          </a:xfrm>
          <a:prstGeom prst="line">
            <a:avLst/>
          </a:prstGeom>
          <a:noFill/>
          <a:ln w="25400">
            <a:solidFill>
              <a:srgbClr val="D4A24C"/>
            </a:solidFill>
            <a:prstDash val="solid"/>
          </a:ln>
        </p:spPr>
        <p:txBody>
          <a:bodyPr/>
          <a:lstStyle/>
          <a:p/>
        </p:txBody>
      </p:sp>
      <p:sp>
        <p:nvSpPr>
          <p:cNvPr id="4" name="Text 2"/>
          <p:cNvSpPr/>
          <p:nvPr/>
        </p:nvSpPr>
        <p:spPr>
          <a:xfrm>
            <a:off x="1737360" y="749808"/>
            <a:ext cx="8686800" cy="201168"/>
          </a:xfrm>
          <a:prstGeom prst="rect">
            <a:avLst/>
          </a:prstGeom>
          <a:noFill/>
        </p:spPr>
        <p:txBody>
          <a:bodyPr wrap="square" lIns="0" tIns="0" rIns="0" bIns="0" rtlCol="0" anchor="ctr"/>
          <a:lstStyle/>
          <a:p>
            <a:pPr marL="0" indent="0">
              <a:buNone/>
            </a:pPr>
            <a:r>
              <a:rPr lang="en-US" sz="1100"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Late Ming and early Qing China: a strong case of astronomical exchange</a:t>
            </a:r>
            <a:endParaRPr lang="en-US" sz="1100" dirty="0"/>
          </a:p>
        </p:txBody>
      </p:sp>
      <p:sp>
        <p:nvSpPr>
          <p:cNvPr id="5" name="Shape 3"/>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6" name="Text 4"/>
          <p:cNvSpPr/>
          <p:nvPr/>
        </p:nvSpPr>
        <p:spPr>
          <a:xfrm>
            <a:off x="11448288" y="6556248"/>
            <a:ext cx="320040" cy="164592"/>
          </a:xfrm>
          <a:prstGeom prst="rect">
            <a:avLst/>
          </a:prstGeom>
          <a:noFill/>
        </p:spPr>
        <p:txBody>
          <a:bodyPr wrap="square" lIns="0" tIns="0" rIns="0" bIns="0" rtlCol="0" anchor="ctr"/>
          <a:lstStyle/>
          <a:p>
            <a:pPr marL="0" indent="0" algn="r">
              <a:buNone/>
            </a:pPr>
            <a:r>
              <a:rPr lang="en-US" sz="800"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800" dirty="0"/>
          </a:p>
        </p:txBody>
      </p:sp>
      <p:sp>
        <p:nvSpPr>
          <p:cNvPr id="7" name="Shape 5"/>
          <p:cNvSpPr/>
          <p:nvPr/>
        </p:nvSpPr>
        <p:spPr>
          <a:xfrm>
            <a:off x="1234440" y="2834640"/>
            <a:ext cx="9738360" cy="0"/>
          </a:xfrm>
          <a:prstGeom prst="line">
            <a:avLst/>
          </a:prstGeom>
          <a:noFill/>
          <a:ln w="38100">
            <a:solidFill>
              <a:srgbClr val="D4A24C"/>
            </a:solidFill>
            <a:prstDash val="solid"/>
          </a:ln>
        </p:spPr>
        <p:txBody>
          <a:bodyPr/>
          <a:lstStyle/>
          <a:p/>
        </p:txBody>
      </p:sp>
      <p:sp>
        <p:nvSpPr>
          <p:cNvPr id="8" name="Shape 6"/>
          <p:cNvSpPr/>
          <p:nvPr/>
        </p:nvSpPr>
        <p:spPr>
          <a:xfrm>
            <a:off x="1371600" y="2670048"/>
            <a:ext cx="347472" cy="347472"/>
          </a:xfrm>
          <a:prstGeom prst="ellipse">
            <a:avLst/>
          </a:prstGeom>
          <a:solidFill>
            <a:srgbClr val="D4A24C"/>
          </a:solidFill>
          <a:ln w="12700">
            <a:solidFill>
              <a:srgbClr val="D4A24C"/>
            </a:solidFill>
            <a:prstDash val="solid"/>
          </a:ln>
        </p:spPr>
        <p:txBody>
          <a:bodyPr/>
          <a:lstStyle/>
          <a:p/>
        </p:txBody>
      </p:sp>
      <p:sp>
        <p:nvSpPr>
          <p:cNvPr id="9" name="Text 7"/>
          <p:cNvSpPr/>
          <p:nvPr/>
        </p:nvSpPr>
        <p:spPr>
          <a:xfrm>
            <a:off x="868680" y="2039112"/>
            <a:ext cx="1417320" cy="310896"/>
          </a:xfrm>
          <a:prstGeom prst="rect">
            <a:avLst/>
          </a:prstGeom>
          <a:noFill/>
        </p:spPr>
        <p:txBody>
          <a:bodyPr wrap="square" lIns="0" tIns="0" rIns="0" bIns="0" rtlCol="0" anchor="ctr"/>
          <a:lstStyle/>
          <a:p>
            <a:pPr marL="0" indent="0" algn="ctr">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Late Ming</a:t>
            </a:r>
            <a:endParaRPr lang="en-US" sz="1600" dirty="0"/>
          </a:p>
        </p:txBody>
      </p:sp>
      <p:sp>
        <p:nvSpPr>
          <p:cNvPr id="10" name="Text 8"/>
          <p:cNvSpPr/>
          <p:nvPr/>
        </p:nvSpPr>
        <p:spPr>
          <a:xfrm>
            <a:off x="502920" y="3246120"/>
            <a:ext cx="2103120" cy="713232"/>
          </a:xfrm>
          <a:prstGeom prst="rect">
            <a:avLst/>
          </a:prstGeom>
          <a:noFill/>
        </p:spPr>
        <p:txBody>
          <a:bodyPr wrap="square" lIns="0" tIns="0" rIns="0" bIns="0" rtlCol="0" anchor="ctr">
            <a:normAutofit/>
          </a:bodyPr>
          <a:lstStyle/>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Need for calendar reform</a:t>
            </a:r>
            <a:endParaRPr lang="en-US" sz="1140" dirty="0"/>
          </a:p>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and more accurate calculations</a:t>
            </a:r>
            <a:endParaRPr lang="en-US" sz="1140" dirty="0"/>
          </a:p>
        </p:txBody>
      </p:sp>
      <p:sp>
        <p:nvSpPr>
          <p:cNvPr id="11" name="Shape 9"/>
          <p:cNvSpPr/>
          <p:nvPr/>
        </p:nvSpPr>
        <p:spPr>
          <a:xfrm>
            <a:off x="3886200" y="2670048"/>
            <a:ext cx="347472" cy="347472"/>
          </a:xfrm>
          <a:prstGeom prst="ellipse">
            <a:avLst/>
          </a:prstGeom>
          <a:solidFill>
            <a:srgbClr val="D4A24C"/>
          </a:solidFill>
          <a:ln w="12700">
            <a:solidFill>
              <a:srgbClr val="D4A24C"/>
            </a:solidFill>
            <a:prstDash val="solid"/>
          </a:ln>
        </p:spPr>
        <p:txBody>
          <a:bodyPr/>
          <a:lstStyle/>
          <a:p/>
        </p:txBody>
      </p:sp>
      <p:sp>
        <p:nvSpPr>
          <p:cNvPr id="12" name="Text 10"/>
          <p:cNvSpPr/>
          <p:nvPr/>
        </p:nvSpPr>
        <p:spPr>
          <a:xfrm>
            <a:off x="3383280" y="2039112"/>
            <a:ext cx="1417320" cy="310896"/>
          </a:xfrm>
          <a:prstGeom prst="rect">
            <a:avLst/>
          </a:prstGeom>
          <a:noFill/>
        </p:spPr>
        <p:txBody>
          <a:bodyPr wrap="square" lIns="0" tIns="0" rIns="0" bIns="0" rtlCol="0" anchor="ctr"/>
          <a:lstStyle/>
          <a:p>
            <a:pPr marL="0" indent="0" algn="ctr">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Jesuit Contact</a:t>
            </a:r>
            <a:endParaRPr lang="en-US" sz="1600" dirty="0"/>
          </a:p>
        </p:txBody>
      </p:sp>
      <p:sp>
        <p:nvSpPr>
          <p:cNvPr id="13" name="Text 11"/>
          <p:cNvSpPr/>
          <p:nvPr/>
        </p:nvSpPr>
        <p:spPr>
          <a:xfrm>
            <a:off x="3017520" y="3246120"/>
            <a:ext cx="2103120" cy="713232"/>
          </a:xfrm>
          <a:prstGeom prst="rect">
            <a:avLst/>
          </a:prstGeom>
          <a:noFill/>
        </p:spPr>
        <p:txBody>
          <a:bodyPr wrap="square" lIns="0" tIns="0" rIns="0" bIns="0" rtlCol="0" anchor="ctr">
            <a:normAutofit/>
          </a:bodyPr>
          <a:lstStyle/>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European astronomy, mathematics</a:t>
            </a:r>
            <a:endParaRPr lang="en-US" sz="1140" dirty="0"/>
          </a:p>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and instruments entered China</a:t>
            </a:r>
            <a:endParaRPr lang="en-US" sz="1140" dirty="0"/>
          </a:p>
        </p:txBody>
      </p:sp>
      <p:sp>
        <p:nvSpPr>
          <p:cNvPr id="14" name="Shape 12"/>
          <p:cNvSpPr/>
          <p:nvPr/>
        </p:nvSpPr>
        <p:spPr>
          <a:xfrm>
            <a:off x="6446520" y="2670048"/>
            <a:ext cx="347472" cy="347472"/>
          </a:xfrm>
          <a:prstGeom prst="ellipse">
            <a:avLst/>
          </a:prstGeom>
          <a:solidFill>
            <a:srgbClr val="D4A24C"/>
          </a:solidFill>
          <a:ln w="12700">
            <a:solidFill>
              <a:srgbClr val="D4A24C"/>
            </a:solidFill>
            <a:prstDash val="solid"/>
          </a:ln>
        </p:spPr>
        <p:txBody>
          <a:bodyPr/>
          <a:lstStyle/>
          <a:p/>
        </p:txBody>
      </p:sp>
      <p:sp>
        <p:nvSpPr>
          <p:cNvPr id="15" name="Text 13"/>
          <p:cNvSpPr/>
          <p:nvPr/>
        </p:nvSpPr>
        <p:spPr>
          <a:xfrm>
            <a:off x="5943600" y="2039112"/>
            <a:ext cx="1417320" cy="310896"/>
          </a:xfrm>
          <a:prstGeom prst="rect">
            <a:avLst/>
          </a:prstGeom>
          <a:noFill/>
        </p:spPr>
        <p:txBody>
          <a:bodyPr wrap="square" lIns="0" tIns="0" rIns="0" bIns="0" rtlCol="0" anchor="ctr"/>
          <a:lstStyle/>
          <a:p>
            <a:pPr marL="0" indent="0" algn="ctr">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Chinese Scholars</a:t>
            </a:r>
            <a:endParaRPr lang="en-US" sz="1600" dirty="0"/>
          </a:p>
        </p:txBody>
      </p:sp>
      <p:sp>
        <p:nvSpPr>
          <p:cNvPr id="16" name="Text 14"/>
          <p:cNvSpPr/>
          <p:nvPr/>
        </p:nvSpPr>
        <p:spPr>
          <a:xfrm>
            <a:off x="5577840" y="3246120"/>
            <a:ext cx="2103120" cy="713232"/>
          </a:xfrm>
          <a:prstGeom prst="rect">
            <a:avLst/>
          </a:prstGeom>
          <a:noFill/>
        </p:spPr>
        <p:txBody>
          <a:bodyPr wrap="square" lIns="0" tIns="0" rIns="0" bIns="0" rtlCol="0" anchor="ctr">
            <a:normAutofit/>
          </a:bodyPr>
          <a:lstStyle/>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Translation, comparison,</a:t>
            </a:r>
            <a:endParaRPr lang="en-US" sz="1140" dirty="0"/>
          </a:p>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selection and adaptation</a:t>
            </a:r>
            <a:endParaRPr lang="en-US" sz="1140" dirty="0"/>
          </a:p>
        </p:txBody>
      </p:sp>
      <p:sp>
        <p:nvSpPr>
          <p:cNvPr id="17" name="Shape 15"/>
          <p:cNvSpPr/>
          <p:nvPr/>
        </p:nvSpPr>
        <p:spPr>
          <a:xfrm>
            <a:off x="9052560" y="2670048"/>
            <a:ext cx="347472" cy="347472"/>
          </a:xfrm>
          <a:prstGeom prst="ellipse">
            <a:avLst/>
          </a:prstGeom>
          <a:solidFill>
            <a:srgbClr val="D4A24C"/>
          </a:solidFill>
          <a:ln w="12700">
            <a:solidFill>
              <a:srgbClr val="D4A24C"/>
            </a:solidFill>
            <a:prstDash val="solid"/>
          </a:ln>
        </p:spPr>
        <p:txBody>
          <a:bodyPr/>
          <a:lstStyle/>
          <a:p/>
        </p:txBody>
      </p:sp>
      <p:sp>
        <p:nvSpPr>
          <p:cNvPr id="18" name="Text 16"/>
          <p:cNvSpPr/>
          <p:nvPr/>
        </p:nvSpPr>
        <p:spPr>
          <a:xfrm>
            <a:off x="8549640" y="2039112"/>
            <a:ext cx="1417320" cy="310896"/>
          </a:xfrm>
          <a:prstGeom prst="rect">
            <a:avLst/>
          </a:prstGeom>
          <a:noFill/>
        </p:spPr>
        <p:txBody>
          <a:bodyPr wrap="square" lIns="0" tIns="0" rIns="0" bIns="0" rtlCol="0" anchor="ctr"/>
          <a:lstStyle/>
          <a:p>
            <a:pPr marL="0" indent="0" algn="ctr">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Early Qing</a:t>
            </a:r>
            <a:endParaRPr lang="en-US" sz="1600" dirty="0"/>
          </a:p>
        </p:txBody>
      </p:sp>
      <p:sp>
        <p:nvSpPr>
          <p:cNvPr id="19" name="Text 17"/>
          <p:cNvSpPr/>
          <p:nvPr/>
        </p:nvSpPr>
        <p:spPr>
          <a:xfrm>
            <a:off x="8183880" y="3246120"/>
            <a:ext cx="2103120" cy="713232"/>
          </a:xfrm>
          <a:prstGeom prst="rect">
            <a:avLst/>
          </a:prstGeom>
          <a:noFill/>
        </p:spPr>
        <p:txBody>
          <a:bodyPr wrap="square" lIns="0" tIns="0" rIns="0" bIns="0" rtlCol="0" anchor="ctr">
            <a:normAutofit/>
          </a:bodyPr>
          <a:lstStyle/>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Astronomical work became part</a:t>
            </a:r>
            <a:endParaRPr lang="en-US" sz="1140" dirty="0"/>
          </a:p>
          <a:p>
            <a:pPr marL="0" indent="0" algn="ctr">
              <a:buNone/>
            </a:pPr>
            <a:r>
              <a:rPr lang="en-US" sz="114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of official institutions</a:t>
            </a:r>
            <a:endParaRPr lang="en-US" sz="1140" dirty="0"/>
          </a:p>
        </p:txBody>
      </p:sp>
      <p:sp>
        <p:nvSpPr>
          <p:cNvPr id="20" name="Shape 18"/>
          <p:cNvSpPr/>
          <p:nvPr/>
        </p:nvSpPr>
        <p:spPr>
          <a:xfrm>
            <a:off x="1508760" y="4709160"/>
            <a:ext cx="9144000" cy="868680"/>
          </a:xfrm>
          <a:prstGeom prst="roundRect">
            <a:avLst>
              <a:gd name="adj" fmla="val 12632"/>
            </a:avLst>
          </a:prstGeom>
          <a:solidFill>
            <a:srgbClr val="0E2944"/>
          </a:solidFill>
          <a:ln w="13970">
            <a:solidFill>
              <a:srgbClr val="D4A24C">
                <a:alpha val="58000"/>
              </a:srgbClr>
            </a:solidFill>
            <a:prstDash val="solid"/>
          </a:ln>
        </p:spPr>
        <p:txBody>
          <a:bodyPr/>
          <a:lstStyle/>
          <a:p/>
        </p:txBody>
      </p:sp>
      <p:sp>
        <p:nvSpPr>
          <p:cNvPr id="21" name="Text 19"/>
          <p:cNvSpPr/>
          <p:nvPr/>
        </p:nvSpPr>
        <p:spPr>
          <a:xfrm>
            <a:off x="1709928" y="4873752"/>
            <a:ext cx="8741664" cy="292608"/>
          </a:xfrm>
          <a:prstGeom prst="rect">
            <a:avLst/>
          </a:prstGeom>
          <a:noFill/>
        </p:spPr>
        <p:txBody>
          <a:bodyPr wrap="square" lIns="0" tIns="0" rIns="0" bIns="0" rtlCol="0" anchor="ctr"/>
          <a:lstStyle/>
          <a:p>
            <a:pPr marL="0" indent="0">
              <a:buNone/>
            </a:pPr>
            <a:r>
              <a:rPr lang="en-US" sz="155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Why it fits the assignment</a:t>
            </a:r>
            <a:endParaRPr lang="en-US" sz="1550" dirty="0"/>
          </a:p>
        </p:txBody>
      </p:sp>
      <p:sp>
        <p:nvSpPr>
          <p:cNvPr id="22" name="Text 20"/>
          <p:cNvSpPr/>
          <p:nvPr/>
        </p:nvSpPr>
        <p:spPr>
          <a:xfrm>
            <a:off x="1682496" y="5102352"/>
            <a:ext cx="8741664" cy="137160"/>
          </a:xfrm>
          <a:prstGeom prst="rect">
            <a:avLst/>
          </a:prstGeom>
          <a:noFill/>
        </p:spPr>
        <p:txBody>
          <a:bodyPr wrap="square" lIns="381" tIns="381" rIns="381" bIns="381" rtlCol="0" anchor="t">
            <a:noAutofit/>
          </a:bodyPr>
          <a:lstStyle/>
          <a:p>
            <a:pPr marL="0" indent="0">
              <a:buNone/>
            </a:pPr>
            <a:r>
              <a:rPr lang="en-US" sz="14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This period shows a real cross-civilizational encounter: astronomy was translated, tested, debated, and connected to society.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sp>
        <p:nvSpPr>
          <p:cNvPr id="2" name="Text 0"/>
          <p:cNvSpPr/>
          <p:nvPr/>
        </p:nvSpPr>
        <p:spPr>
          <a:xfrm>
            <a:off x="594360" y="438912"/>
            <a:ext cx="8961120" cy="347472"/>
          </a:xfrm>
          <a:prstGeom prst="rect">
            <a:avLst/>
          </a:prstGeom>
          <a:noFill/>
        </p:spPr>
        <p:txBody>
          <a:bodyPr wrap="square" lIns="0" tIns="0" rIns="0" bIns="0" rtlCol="0" anchor="ctr"/>
          <a:lstStyle/>
          <a:p>
            <a:pPr marL="0" indent="0">
              <a:buNone/>
            </a:pPr>
            <a:r>
              <a:rPr lang="en-US" sz="2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 What Happened?</a:t>
            </a:r>
            <a:endParaRPr lang="en-US" sz="2500" dirty="0"/>
          </a:p>
        </p:txBody>
      </p:sp>
      <p:sp>
        <p:nvSpPr>
          <p:cNvPr id="3" name="Shape 1"/>
          <p:cNvSpPr/>
          <p:nvPr/>
        </p:nvSpPr>
        <p:spPr>
          <a:xfrm>
            <a:off x="594360" y="850392"/>
            <a:ext cx="1005840" cy="0"/>
          </a:xfrm>
          <a:prstGeom prst="line">
            <a:avLst/>
          </a:prstGeom>
          <a:noFill/>
          <a:ln w="25400">
            <a:solidFill>
              <a:srgbClr val="D4A24C"/>
            </a:solidFill>
            <a:prstDash val="solid"/>
          </a:ln>
        </p:spPr>
        <p:txBody>
          <a:bodyPr/>
          <a:lstStyle/>
          <a:p/>
        </p:txBody>
      </p:sp>
      <p:sp>
        <p:nvSpPr>
          <p:cNvPr id="4" name="Text 2"/>
          <p:cNvSpPr/>
          <p:nvPr/>
        </p:nvSpPr>
        <p:spPr>
          <a:xfrm>
            <a:off x="1737360" y="749808"/>
            <a:ext cx="8686800" cy="201168"/>
          </a:xfrm>
          <a:prstGeom prst="rect">
            <a:avLst/>
          </a:prstGeom>
          <a:noFill/>
        </p:spPr>
        <p:txBody>
          <a:bodyPr wrap="square" lIns="0" tIns="0" rIns="0" bIns="0" rtlCol="0" anchor="ctr"/>
          <a:lstStyle/>
          <a:p>
            <a:r>
              <a:rPr sz="1100" b="0">
                <a:solidFill>
                  <a:srgbClr val="F5F0DC"/>
                </a:solidFill>
                <a:latin typeface="Times New Roman" panose="02020603050405020304"/>
              </a:rPr>
              <a:t>Two traditions reading the same sky through different systems</a:t>
            </a:r>
            <a:endParaRPr sz="1100" b="0">
              <a:solidFill>
                <a:srgbClr val="F5F0DC"/>
              </a:solidFill>
              <a:latin typeface="Times New Roman" panose="02020603050405020304"/>
            </a:endParaRPr>
          </a:p>
        </p:txBody>
      </p:sp>
      <p:sp>
        <p:nvSpPr>
          <p:cNvPr id="5" name="Shape 3"/>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6" name="Text 4"/>
          <p:cNvSpPr/>
          <p:nvPr/>
        </p:nvSpPr>
        <p:spPr>
          <a:xfrm>
            <a:off x="11448288" y="6556248"/>
            <a:ext cx="320040" cy="164592"/>
          </a:xfrm>
          <a:prstGeom prst="rect">
            <a:avLst/>
          </a:prstGeom>
          <a:noFill/>
        </p:spPr>
        <p:txBody>
          <a:bodyPr wrap="square" lIns="0" tIns="0" rIns="0" bIns="0" rtlCol="0" anchor="ctr"/>
          <a:lstStyle/>
          <a:p>
            <a:pPr marL="0" indent="0" algn="r">
              <a:buNone/>
            </a:pPr>
            <a:r>
              <a:rPr lang="en-US" sz="900" b="0" dirty="0">
                <a:solidFill>
                  <a:srgbClr val="F5F0DC"/>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800" dirty="0"/>
          </a:p>
        </p:txBody>
      </p:sp>
      <p:sp>
        <p:nvSpPr>
          <p:cNvPr id="7" name="Shape 5"/>
          <p:cNvSpPr/>
          <p:nvPr/>
        </p:nvSpPr>
        <p:spPr>
          <a:xfrm>
            <a:off x="658368" y="1298448"/>
            <a:ext cx="3291840" cy="3337560"/>
          </a:xfrm>
          <a:prstGeom prst="roundRect">
            <a:avLst>
              <a:gd name="adj" fmla="val 3333"/>
            </a:avLst>
          </a:prstGeom>
          <a:solidFill>
            <a:srgbClr val="0E2944"/>
          </a:solidFill>
          <a:ln w="13970">
            <a:solidFill>
              <a:srgbClr val="D4A24C">
                <a:alpha val="58000"/>
              </a:srgbClr>
            </a:solidFill>
            <a:prstDash val="solid"/>
          </a:ln>
        </p:spPr>
        <p:txBody>
          <a:bodyPr/>
          <a:lstStyle/>
          <a:p/>
        </p:txBody>
      </p:sp>
      <p:sp>
        <p:nvSpPr>
          <p:cNvPr id="8" name="Text 6"/>
          <p:cNvSpPr/>
          <p:nvPr/>
        </p:nvSpPr>
        <p:spPr>
          <a:xfrm>
            <a:off x="859536" y="1463040"/>
            <a:ext cx="2889504" cy="292608"/>
          </a:xfrm>
          <a:prstGeom prst="rect">
            <a:avLst/>
          </a:prstGeom>
          <a:noFill/>
        </p:spPr>
        <p:txBody>
          <a:bodyPr wrap="square" lIns="0" tIns="0" rIns="0" bIns="0" rtlCol="0" anchor="ctr"/>
          <a:lstStyle/>
          <a:p>
            <a:r>
              <a:rPr sz="1800" b="1">
                <a:solidFill>
                  <a:srgbClr val="D6B156"/>
                </a:solidFill>
                <a:latin typeface="Times New Roman" panose="02020603050405020304"/>
              </a:rPr>
              <a:t>Chinese examples</a:t>
            </a:r>
            <a:endParaRPr sz="1800" b="1">
              <a:solidFill>
                <a:srgbClr val="D6B156"/>
              </a:solidFill>
              <a:latin typeface="Times New Roman" panose="02020603050405020304"/>
            </a:endParaRPr>
          </a:p>
        </p:txBody>
      </p:sp>
      <p:sp>
        <p:nvSpPr>
          <p:cNvPr id="9" name="Text 7"/>
          <p:cNvSpPr/>
          <p:nvPr/>
        </p:nvSpPr>
        <p:spPr>
          <a:xfrm>
            <a:off x="859536" y="1865376"/>
            <a:ext cx="2889504" cy="2606040"/>
          </a:xfrm>
          <a:prstGeom prst="rect">
            <a:avLst/>
          </a:prstGeom>
          <a:noFill/>
        </p:spPr>
        <p:txBody>
          <a:bodyPr wrap="square" lIns="381" tIns="381" rIns="381" bIns="381" rtlCol="0" anchor="t">
            <a:normAutofit/>
          </a:bodyPr>
          <a:lstStyle/>
          <a:p>
            <a:r>
              <a:rPr b="0" dirty="0">
                <a:solidFill>
                  <a:srgbClr val="FFFFFF"/>
                </a:solidFill>
                <a:latin typeface="Times New Roman" panose="02020603050405020304"/>
              </a:rPr>
              <a:t>• Twenty-Eight Lunar Mansions </a:t>
            </a:r>
            <a:r>
              <a:rPr b="0" dirty="0" err="1">
                <a:solidFill>
                  <a:srgbClr val="FFFFFF"/>
                </a:solidFill>
                <a:latin typeface="Times New Roman" panose="02020603050405020304"/>
              </a:rPr>
              <a:t>二十八宿</a:t>
            </a:r>
            <a:endParaRPr b="0" dirty="0">
              <a:solidFill>
                <a:srgbClr val="FFFFFF"/>
              </a:solidFill>
              <a:latin typeface="Times New Roman" panose="02020603050405020304"/>
            </a:endParaRPr>
          </a:p>
          <a:p>
            <a:r>
              <a:rPr b="0" dirty="0">
                <a:solidFill>
                  <a:srgbClr val="FFFFFF"/>
                </a:solidFill>
                <a:latin typeface="Times New Roman" panose="02020603050405020304"/>
              </a:rPr>
              <a:t>• Three Enclosures </a:t>
            </a:r>
            <a:r>
              <a:rPr b="0" dirty="0" err="1">
                <a:solidFill>
                  <a:srgbClr val="FFFFFF"/>
                </a:solidFill>
                <a:latin typeface="Times New Roman" panose="02020603050405020304"/>
              </a:rPr>
              <a:t>三垣</a:t>
            </a:r>
            <a:r>
              <a:rPr b="0" dirty="0">
                <a:solidFill>
                  <a:srgbClr val="FFFFFF"/>
                </a:solidFill>
                <a:latin typeface="Times New Roman" panose="02020603050405020304"/>
              </a:rPr>
              <a:t> and star officials </a:t>
            </a:r>
            <a:r>
              <a:rPr b="0" dirty="0" err="1">
                <a:solidFill>
                  <a:srgbClr val="FFFFFF"/>
                </a:solidFill>
                <a:latin typeface="Times New Roman" panose="02020603050405020304"/>
              </a:rPr>
              <a:t>星官</a:t>
            </a:r>
            <a:endParaRPr b="0" dirty="0">
              <a:solidFill>
                <a:srgbClr val="FFFFFF"/>
              </a:solidFill>
              <a:latin typeface="Times New Roman" panose="02020603050405020304"/>
            </a:endParaRPr>
          </a:p>
          <a:p>
            <a:r>
              <a:rPr b="0" dirty="0">
                <a:solidFill>
                  <a:srgbClr val="FFFFFF"/>
                </a:solidFill>
                <a:latin typeface="Times New Roman" panose="02020603050405020304"/>
              </a:rPr>
              <a:t>• Calendar reform: seasons, rituals, eclipse prediction</a:t>
            </a:r>
            <a:endParaRPr b="0" dirty="0">
              <a:solidFill>
                <a:srgbClr val="FFFFFF"/>
              </a:solidFill>
              <a:latin typeface="Times New Roman" panose="02020603050405020304"/>
            </a:endParaRPr>
          </a:p>
        </p:txBody>
      </p:sp>
      <p:sp>
        <p:nvSpPr>
          <p:cNvPr id="10" name="Shape 8"/>
          <p:cNvSpPr/>
          <p:nvPr/>
        </p:nvSpPr>
        <p:spPr>
          <a:xfrm>
            <a:off x="4443984" y="1298448"/>
            <a:ext cx="3291840" cy="3337560"/>
          </a:xfrm>
          <a:prstGeom prst="roundRect">
            <a:avLst>
              <a:gd name="adj" fmla="val 3333"/>
            </a:avLst>
          </a:prstGeom>
          <a:solidFill>
            <a:srgbClr val="0E2944"/>
          </a:solidFill>
          <a:ln w="13970">
            <a:solidFill>
              <a:srgbClr val="D4A24C">
                <a:alpha val="58000"/>
              </a:srgbClr>
            </a:solidFill>
            <a:prstDash val="solid"/>
          </a:ln>
        </p:spPr>
        <p:txBody>
          <a:bodyPr/>
          <a:lstStyle/>
          <a:p/>
        </p:txBody>
      </p:sp>
      <p:sp>
        <p:nvSpPr>
          <p:cNvPr id="11" name="Text 9"/>
          <p:cNvSpPr/>
          <p:nvPr/>
        </p:nvSpPr>
        <p:spPr>
          <a:xfrm>
            <a:off x="4645152" y="1463040"/>
            <a:ext cx="2889504" cy="292608"/>
          </a:xfrm>
          <a:prstGeom prst="rect">
            <a:avLst/>
          </a:prstGeom>
          <a:noFill/>
        </p:spPr>
        <p:txBody>
          <a:bodyPr wrap="square" lIns="0" tIns="0" rIns="0" bIns="0" rtlCol="0" anchor="ctr"/>
          <a:lstStyle/>
          <a:p>
            <a:r>
              <a:rPr sz="1800" b="1">
                <a:solidFill>
                  <a:srgbClr val="D6B156"/>
                </a:solidFill>
                <a:latin typeface="Times New Roman" panose="02020603050405020304"/>
              </a:rPr>
              <a:t>European examples</a:t>
            </a:r>
            <a:endParaRPr sz="1800" b="1">
              <a:solidFill>
                <a:srgbClr val="D6B156"/>
              </a:solidFill>
              <a:latin typeface="Times New Roman" panose="02020603050405020304"/>
            </a:endParaRPr>
          </a:p>
        </p:txBody>
      </p:sp>
      <p:sp>
        <p:nvSpPr>
          <p:cNvPr id="12" name="Text 10"/>
          <p:cNvSpPr/>
          <p:nvPr/>
        </p:nvSpPr>
        <p:spPr>
          <a:xfrm>
            <a:off x="4645152" y="1865376"/>
            <a:ext cx="2889504" cy="2606040"/>
          </a:xfrm>
          <a:prstGeom prst="rect">
            <a:avLst/>
          </a:prstGeom>
          <a:noFill/>
        </p:spPr>
        <p:txBody>
          <a:bodyPr wrap="square" lIns="381" tIns="381" rIns="381" bIns="381" rtlCol="0" anchor="t">
            <a:normAutofit/>
          </a:bodyPr>
          <a:lstStyle/>
          <a:p>
            <a:r>
              <a:rPr sz="1600" b="0" dirty="0">
                <a:solidFill>
                  <a:srgbClr val="FFFFFF"/>
                </a:solidFill>
                <a:latin typeface="Times New Roman" panose="02020603050405020304"/>
              </a:rPr>
              <a:t>• Zodiac and classical constellations</a:t>
            </a:r>
            <a:endParaRPr sz="1600" b="0" dirty="0">
              <a:solidFill>
                <a:srgbClr val="FFFFFF"/>
              </a:solidFill>
              <a:latin typeface="Times New Roman" panose="02020603050405020304"/>
            </a:endParaRPr>
          </a:p>
          <a:p>
            <a:r>
              <a:rPr sz="1600" b="0" dirty="0">
                <a:solidFill>
                  <a:srgbClr val="FFFFFF"/>
                </a:solidFill>
                <a:latin typeface="Times New Roman" panose="02020603050405020304"/>
              </a:rPr>
              <a:t>• Celestial maps and mathematical tables</a:t>
            </a:r>
            <a:endParaRPr sz="1600" b="0" dirty="0">
              <a:solidFill>
                <a:srgbClr val="FFFFFF"/>
              </a:solidFill>
              <a:latin typeface="Times New Roman" panose="02020603050405020304"/>
            </a:endParaRPr>
          </a:p>
          <a:p>
            <a:r>
              <a:rPr sz="1600" b="0" dirty="0">
                <a:solidFill>
                  <a:srgbClr val="FFFFFF"/>
                </a:solidFill>
                <a:latin typeface="Times New Roman" panose="02020603050405020304"/>
              </a:rPr>
              <a:t>• Telescope, geometry and calculation</a:t>
            </a:r>
            <a:endParaRPr sz="1600" b="0" dirty="0">
              <a:solidFill>
                <a:srgbClr val="FFFFFF"/>
              </a:solidFill>
              <a:latin typeface="Times New Roman" panose="02020603050405020304"/>
            </a:endParaRPr>
          </a:p>
        </p:txBody>
      </p:sp>
      <p:sp>
        <p:nvSpPr>
          <p:cNvPr id="13" name="Shape 11"/>
          <p:cNvSpPr/>
          <p:nvPr/>
        </p:nvSpPr>
        <p:spPr>
          <a:xfrm>
            <a:off x="8229600" y="1298448"/>
            <a:ext cx="3291840" cy="3337560"/>
          </a:xfrm>
          <a:prstGeom prst="roundRect">
            <a:avLst>
              <a:gd name="adj" fmla="val 3333"/>
            </a:avLst>
          </a:prstGeom>
          <a:solidFill>
            <a:srgbClr val="0E2944"/>
          </a:solidFill>
          <a:ln w="13970">
            <a:solidFill>
              <a:srgbClr val="D4A24C">
                <a:alpha val="58000"/>
              </a:srgbClr>
            </a:solidFill>
            <a:prstDash val="solid"/>
          </a:ln>
        </p:spPr>
        <p:txBody>
          <a:bodyPr/>
          <a:lstStyle/>
          <a:p/>
        </p:txBody>
      </p:sp>
      <p:sp>
        <p:nvSpPr>
          <p:cNvPr id="14" name="Text 12"/>
          <p:cNvSpPr/>
          <p:nvPr/>
        </p:nvSpPr>
        <p:spPr>
          <a:xfrm>
            <a:off x="8430768" y="1463040"/>
            <a:ext cx="2889504" cy="292608"/>
          </a:xfrm>
          <a:prstGeom prst="rect">
            <a:avLst/>
          </a:prstGeom>
          <a:noFill/>
        </p:spPr>
        <p:txBody>
          <a:bodyPr wrap="square" lIns="0" tIns="0" rIns="0" bIns="0" rtlCol="0" anchor="ctr"/>
          <a:lstStyle/>
          <a:p>
            <a:r>
              <a:rPr sz="1800" b="1">
                <a:solidFill>
                  <a:srgbClr val="D6B156"/>
                </a:solidFill>
                <a:latin typeface="Times New Roman" panose="02020603050405020304"/>
              </a:rPr>
              <a:t>The encounter</a:t>
            </a:r>
            <a:endParaRPr sz="1800" b="1">
              <a:solidFill>
                <a:srgbClr val="D6B156"/>
              </a:solidFill>
              <a:latin typeface="Times New Roman" panose="02020603050405020304"/>
            </a:endParaRPr>
          </a:p>
        </p:txBody>
      </p:sp>
      <p:sp>
        <p:nvSpPr>
          <p:cNvPr id="15" name="Text 13"/>
          <p:cNvSpPr/>
          <p:nvPr/>
        </p:nvSpPr>
        <p:spPr>
          <a:xfrm>
            <a:off x="8430768" y="1865376"/>
            <a:ext cx="2889504" cy="2606040"/>
          </a:xfrm>
          <a:prstGeom prst="rect">
            <a:avLst/>
          </a:prstGeom>
          <a:noFill/>
        </p:spPr>
        <p:txBody>
          <a:bodyPr wrap="square" lIns="381" tIns="381" rIns="381" bIns="381" rtlCol="0" anchor="t">
            <a:normAutofit/>
          </a:bodyPr>
          <a:lstStyle/>
          <a:p>
            <a:r>
              <a:rPr sz="1600" b="0" dirty="0">
                <a:solidFill>
                  <a:srgbClr val="FFFFFF"/>
                </a:solidFill>
                <a:latin typeface="Times New Roman" panose="02020603050405020304"/>
              </a:rPr>
              <a:t>• Translation of star systems</a:t>
            </a:r>
            <a:endParaRPr sz="1600" b="0" dirty="0">
              <a:solidFill>
                <a:srgbClr val="FFFFFF"/>
              </a:solidFill>
              <a:latin typeface="Times New Roman" panose="02020603050405020304"/>
            </a:endParaRPr>
          </a:p>
          <a:p>
            <a:r>
              <a:rPr sz="1600" b="0" dirty="0">
                <a:solidFill>
                  <a:srgbClr val="FFFFFF"/>
                </a:solidFill>
                <a:latin typeface="Times New Roman" panose="02020603050405020304"/>
              </a:rPr>
              <a:t>• Comparing calendar accuracy</a:t>
            </a:r>
            <a:endParaRPr sz="1600" b="0" dirty="0">
              <a:solidFill>
                <a:srgbClr val="FFFFFF"/>
              </a:solidFill>
              <a:latin typeface="Times New Roman" panose="02020603050405020304"/>
            </a:endParaRPr>
          </a:p>
          <a:p>
            <a:r>
              <a:rPr sz="1600" b="0" dirty="0">
                <a:solidFill>
                  <a:srgbClr val="FFFFFF"/>
                </a:solidFill>
                <a:latin typeface="Times New Roman" panose="02020603050405020304"/>
              </a:rPr>
              <a:t>• Cooperation and tension</a:t>
            </a:r>
            <a:endParaRPr sz="1600" b="0" dirty="0">
              <a:solidFill>
                <a:srgbClr val="FFFFFF"/>
              </a:solidFill>
              <a:latin typeface="Times New Roman" panose="02020603050405020304"/>
            </a:endParaRPr>
          </a:p>
        </p:txBody>
      </p:sp>
      <p:sp>
        <p:nvSpPr>
          <p:cNvPr id="16" name="Shape 14"/>
          <p:cNvSpPr/>
          <p:nvPr/>
        </p:nvSpPr>
        <p:spPr>
          <a:xfrm>
            <a:off x="1261872" y="5074920"/>
            <a:ext cx="9674352" cy="658368"/>
          </a:xfrm>
          <a:prstGeom prst="roundRect">
            <a:avLst>
              <a:gd name="adj" fmla="val 13889"/>
            </a:avLst>
          </a:prstGeom>
          <a:solidFill>
            <a:srgbClr val="122F4E"/>
          </a:solidFill>
          <a:ln w="12700">
            <a:solidFill>
              <a:srgbClr val="D4A24C">
                <a:alpha val="80000"/>
              </a:srgbClr>
            </a:solidFill>
            <a:prstDash val="solid"/>
          </a:ln>
        </p:spPr>
        <p:txBody>
          <a:bodyPr/>
          <a:lstStyle/>
          <a:p/>
        </p:txBody>
      </p:sp>
      <p:sp>
        <p:nvSpPr>
          <p:cNvPr id="17" name="Text 15"/>
          <p:cNvSpPr/>
          <p:nvPr/>
        </p:nvSpPr>
        <p:spPr>
          <a:xfrm>
            <a:off x="1508760" y="5257800"/>
            <a:ext cx="9144000" cy="237744"/>
          </a:xfrm>
          <a:prstGeom prst="rect">
            <a:avLst/>
          </a:prstGeom>
          <a:noFill/>
        </p:spPr>
        <p:txBody>
          <a:bodyPr wrap="square" lIns="0" tIns="0" rIns="0" bIns="0" rtlCol="0" anchor="ctr"/>
          <a:lstStyle/>
          <a:p>
            <a:r>
              <a:rPr sz="1500" b="0">
                <a:solidFill>
                  <a:srgbClr val="F5F0DC"/>
                </a:solidFill>
                <a:latin typeface="Times New Roman" panose="02020603050405020304"/>
              </a:rPr>
              <a:t>Not “one civilization replacing another,” but two star-reading systems being translated, compared, and adjusted.</a:t>
            </a:r>
            <a:endParaRPr sz="1500" b="0">
              <a:solidFill>
                <a:srgbClr val="F5F0DC"/>
              </a:solidFill>
              <a:latin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pic>
        <p:nvPicPr>
          <p:cNvPr id="2" name="Image 0" descr="/mnt/data/under_the_same_sky_bridging_civilizations.png"/>
          <p:cNvPicPr>
            <a:picLocks noChangeAspect="1"/>
          </p:cNvPicPr>
          <p:nvPr/>
        </p:nvPicPr>
        <p:blipFill>
          <a:blip r:embed="rId1"/>
          <a:stretch>
            <a:fillRect/>
          </a:stretch>
        </p:blipFill>
        <p:spPr>
          <a:xfrm>
            <a:off x="0" y="-868680"/>
            <a:ext cx="12191695" cy="9144000"/>
          </a:xfrm>
          <a:prstGeom prst="rect">
            <a:avLst/>
          </a:prstGeom>
        </p:spPr>
      </p:pic>
      <p:sp>
        <p:nvSpPr>
          <p:cNvPr id="3" name="Shape 0"/>
          <p:cNvSpPr/>
          <p:nvPr/>
        </p:nvSpPr>
        <p:spPr>
          <a:xfrm>
            <a:off x="0" y="0"/>
            <a:ext cx="12191695" cy="6858000"/>
          </a:xfrm>
          <a:prstGeom prst="rect">
            <a:avLst/>
          </a:prstGeom>
          <a:solidFill>
            <a:srgbClr val="071A2E">
              <a:alpha val="65000"/>
            </a:srgbClr>
          </a:solidFill>
          <a:ln w="12700">
            <a:solidFill>
              <a:srgbClr val="071A2E">
                <a:alpha val="0"/>
              </a:srgbClr>
            </a:solidFill>
            <a:prstDash val="solid"/>
          </a:ln>
        </p:spPr>
        <p:txBody>
          <a:bodyPr/>
          <a:lstStyle/>
          <a:p>
            <a:endParaRPr dirty="0"/>
          </a:p>
        </p:txBody>
      </p:sp>
      <p:sp>
        <p:nvSpPr>
          <p:cNvPr id="4" name="Text 1"/>
          <p:cNvSpPr/>
          <p:nvPr/>
        </p:nvSpPr>
        <p:spPr>
          <a:xfrm>
            <a:off x="566928" y="411480"/>
            <a:ext cx="6766560" cy="411480"/>
          </a:xfrm>
          <a:prstGeom prst="rect">
            <a:avLst/>
          </a:prstGeom>
          <a:noFill/>
        </p:spPr>
        <p:txBody>
          <a:bodyPr wrap="square" lIns="0" tIns="0" rIns="0" bIns="0" rtlCol="0" anchor="ctr"/>
          <a:lstStyle/>
          <a:p>
            <a:pPr marL="0" indent="0">
              <a:buNone/>
            </a:pPr>
            <a:r>
              <a:rPr lang="en-US" sz="2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Reading the Visual Work</a:t>
            </a:r>
            <a:endParaRPr lang="en-US" sz="2500" dirty="0"/>
          </a:p>
        </p:txBody>
      </p:sp>
      <p:sp>
        <p:nvSpPr>
          <p:cNvPr id="5" name="Shape 2"/>
          <p:cNvSpPr/>
          <p:nvPr/>
        </p:nvSpPr>
        <p:spPr>
          <a:xfrm>
            <a:off x="594360" y="896112"/>
            <a:ext cx="1097280" cy="0"/>
          </a:xfrm>
          <a:prstGeom prst="line">
            <a:avLst/>
          </a:prstGeom>
          <a:noFill/>
          <a:ln w="25400">
            <a:solidFill>
              <a:srgbClr val="D4A24C"/>
            </a:solidFill>
            <a:prstDash val="solid"/>
          </a:ln>
        </p:spPr>
        <p:txBody>
          <a:bodyPr/>
          <a:lstStyle/>
          <a:p/>
        </p:txBody>
      </p:sp>
      <p:sp>
        <p:nvSpPr>
          <p:cNvPr id="6" name="Shape 3"/>
          <p:cNvSpPr/>
          <p:nvPr/>
        </p:nvSpPr>
        <p:spPr>
          <a:xfrm>
            <a:off x="713232" y="1444752"/>
            <a:ext cx="2514600" cy="914400"/>
          </a:xfrm>
          <a:prstGeom prst="roundRect">
            <a:avLst>
              <a:gd name="adj" fmla="val 12000"/>
            </a:avLst>
          </a:prstGeom>
          <a:solidFill>
            <a:srgbClr val="0E2944">
              <a:alpha val="94000"/>
            </a:srgbClr>
          </a:solidFill>
          <a:ln w="13970">
            <a:solidFill>
              <a:srgbClr val="D4A24C">
                <a:alpha val="58000"/>
              </a:srgbClr>
            </a:solidFill>
            <a:prstDash val="solid"/>
          </a:ln>
        </p:spPr>
        <p:txBody>
          <a:bodyPr/>
          <a:lstStyle/>
          <a:p/>
        </p:txBody>
      </p:sp>
      <p:sp>
        <p:nvSpPr>
          <p:cNvPr id="7" name="Text 4"/>
          <p:cNvSpPr/>
          <p:nvPr/>
        </p:nvSpPr>
        <p:spPr>
          <a:xfrm>
            <a:off x="914400" y="1426464"/>
            <a:ext cx="2112264" cy="292608"/>
          </a:xfrm>
          <a:prstGeom prst="rect">
            <a:avLst/>
          </a:prstGeom>
          <a:noFill/>
        </p:spPr>
        <p:txBody>
          <a:bodyPr wrap="square" lIns="0" tIns="0" rIns="0" bIns="0" rtlCol="0" anchor="ctr"/>
          <a:lstStyle/>
          <a:p>
            <a:r>
              <a:rPr sz="1700" b="1" dirty="0">
                <a:solidFill>
                  <a:srgbClr val="D6B156"/>
                </a:solidFill>
                <a:latin typeface="Times New Roman" panose="02020603050405020304"/>
              </a:rPr>
              <a:t>Left side</a:t>
            </a:r>
            <a:endParaRPr sz="1700" b="1" dirty="0">
              <a:solidFill>
                <a:srgbClr val="D6B156"/>
              </a:solidFill>
              <a:latin typeface="Times New Roman" panose="02020603050405020304"/>
            </a:endParaRPr>
          </a:p>
        </p:txBody>
      </p:sp>
      <p:sp>
        <p:nvSpPr>
          <p:cNvPr id="8" name="Text 5"/>
          <p:cNvSpPr/>
          <p:nvPr/>
        </p:nvSpPr>
        <p:spPr>
          <a:xfrm>
            <a:off x="914400" y="1764793"/>
            <a:ext cx="2112264" cy="182880"/>
          </a:xfrm>
          <a:prstGeom prst="rect">
            <a:avLst/>
          </a:prstGeom>
          <a:noFill/>
        </p:spPr>
        <p:txBody>
          <a:bodyPr wrap="square" lIns="381" tIns="381" rIns="381" bIns="381" rtlCol="0" anchor="t">
            <a:noAutofit/>
          </a:bodyPr>
          <a:lstStyle/>
          <a:p>
            <a:r>
              <a:rPr sz="1200" b="0" dirty="0">
                <a:solidFill>
                  <a:srgbClr val="FFFFFF"/>
                </a:solidFill>
                <a:latin typeface="Times New Roman" panose="02020603050405020304"/>
              </a:rPr>
              <a:t>Chinese astronomy: armillary sphere, calendar scrolls, star charts, </a:t>
            </a:r>
            <a:r>
              <a:rPr sz="1200" b="0" dirty="0" err="1">
                <a:solidFill>
                  <a:srgbClr val="FFFFFF"/>
                </a:solidFill>
                <a:latin typeface="Times New Roman" panose="02020603050405020304"/>
              </a:rPr>
              <a:t>二十八宿</a:t>
            </a:r>
            <a:r>
              <a:rPr sz="1200" b="0" dirty="0">
                <a:solidFill>
                  <a:srgbClr val="FFFFFF"/>
                </a:solidFill>
                <a:latin typeface="Times New Roman" panose="02020603050405020304"/>
              </a:rPr>
              <a:t> / </a:t>
            </a:r>
            <a:r>
              <a:rPr sz="1200" b="0" dirty="0" err="1">
                <a:solidFill>
                  <a:srgbClr val="FFFFFF"/>
                </a:solidFill>
                <a:latin typeface="Times New Roman" panose="02020603050405020304"/>
              </a:rPr>
              <a:t>星官</a:t>
            </a:r>
            <a:r>
              <a:rPr sz="1200" b="0" dirty="0">
                <a:solidFill>
                  <a:srgbClr val="FFFFFF"/>
                </a:solidFill>
                <a:latin typeface="Times New Roman" panose="02020603050405020304"/>
              </a:rPr>
              <a:t>.</a:t>
            </a:r>
            <a:endParaRPr sz="1200" b="0" dirty="0">
              <a:solidFill>
                <a:srgbClr val="FFFFFF"/>
              </a:solidFill>
              <a:latin typeface="Times New Roman" panose="02020603050405020304"/>
            </a:endParaRPr>
          </a:p>
        </p:txBody>
      </p:sp>
      <p:sp>
        <p:nvSpPr>
          <p:cNvPr id="9" name="Shape 6"/>
          <p:cNvSpPr/>
          <p:nvPr/>
        </p:nvSpPr>
        <p:spPr>
          <a:xfrm>
            <a:off x="8968742" y="1444752"/>
            <a:ext cx="2514600" cy="914400"/>
          </a:xfrm>
          <a:prstGeom prst="roundRect">
            <a:avLst>
              <a:gd name="adj" fmla="val 12000"/>
            </a:avLst>
          </a:prstGeom>
          <a:solidFill>
            <a:srgbClr val="0E2944">
              <a:alpha val="94000"/>
            </a:srgbClr>
          </a:solidFill>
          <a:ln w="13970">
            <a:solidFill>
              <a:srgbClr val="D4A24C">
                <a:alpha val="58000"/>
              </a:srgbClr>
            </a:solidFill>
            <a:prstDash val="solid"/>
          </a:ln>
        </p:spPr>
        <p:txBody>
          <a:bodyPr/>
          <a:lstStyle/>
          <a:p/>
        </p:txBody>
      </p:sp>
      <p:sp>
        <p:nvSpPr>
          <p:cNvPr id="10" name="Text 7"/>
          <p:cNvSpPr/>
          <p:nvPr/>
        </p:nvSpPr>
        <p:spPr>
          <a:xfrm>
            <a:off x="9162288" y="1426464"/>
            <a:ext cx="2112264" cy="292608"/>
          </a:xfrm>
          <a:prstGeom prst="rect">
            <a:avLst/>
          </a:prstGeom>
          <a:noFill/>
        </p:spPr>
        <p:txBody>
          <a:bodyPr wrap="square" lIns="0" tIns="0" rIns="0" bIns="0" rtlCol="0" anchor="ctr"/>
          <a:lstStyle/>
          <a:p>
            <a:r>
              <a:rPr sz="1700" b="1" dirty="0">
                <a:solidFill>
                  <a:srgbClr val="D6B156"/>
                </a:solidFill>
                <a:latin typeface="Times New Roman" panose="02020603050405020304"/>
              </a:rPr>
              <a:t>Right side</a:t>
            </a:r>
            <a:endParaRPr sz="1700" b="1" dirty="0">
              <a:solidFill>
                <a:srgbClr val="D6B156"/>
              </a:solidFill>
              <a:latin typeface="Times New Roman" panose="02020603050405020304"/>
            </a:endParaRPr>
          </a:p>
        </p:txBody>
      </p:sp>
      <p:sp>
        <p:nvSpPr>
          <p:cNvPr id="11" name="Text 8"/>
          <p:cNvSpPr/>
          <p:nvPr/>
        </p:nvSpPr>
        <p:spPr>
          <a:xfrm>
            <a:off x="9162288" y="1828800"/>
            <a:ext cx="2112264" cy="182880"/>
          </a:xfrm>
          <a:prstGeom prst="rect">
            <a:avLst/>
          </a:prstGeom>
          <a:noFill/>
        </p:spPr>
        <p:txBody>
          <a:bodyPr wrap="square" lIns="381" tIns="381" rIns="381" bIns="381" rtlCol="0" anchor="t">
            <a:noAutofit/>
          </a:bodyPr>
          <a:lstStyle/>
          <a:p>
            <a:r>
              <a:rPr sz="1200" b="0" dirty="0">
                <a:solidFill>
                  <a:srgbClr val="FFFFFF"/>
                </a:solidFill>
                <a:latin typeface="Times New Roman" panose="02020603050405020304"/>
              </a:rPr>
              <a:t>European astronomy: telescope, zodiac / classical constellations, celestial maps, diagrams.</a:t>
            </a:r>
            <a:endParaRPr sz="1200" b="0" dirty="0">
              <a:solidFill>
                <a:srgbClr val="FFFFFF"/>
              </a:solidFill>
              <a:latin typeface="Times New Roman" panose="02020603050405020304"/>
            </a:endParaRPr>
          </a:p>
        </p:txBody>
      </p:sp>
      <p:sp>
        <p:nvSpPr>
          <p:cNvPr id="12" name="Shape 9"/>
          <p:cNvSpPr/>
          <p:nvPr/>
        </p:nvSpPr>
        <p:spPr>
          <a:xfrm>
            <a:off x="3913632" y="3675888"/>
            <a:ext cx="4370832" cy="914400"/>
          </a:xfrm>
          <a:prstGeom prst="roundRect">
            <a:avLst>
              <a:gd name="adj" fmla="val 12000"/>
            </a:avLst>
          </a:prstGeom>
          <a:solidFill>
            <a:srgbClr val="0E2944">
              <a:alpha val="94000"/>
            </a:srgbClr>
          </a:solidFill>
          <a:ln w="13970">
            <a:solidFill>
              <a:srgbClr val="D4A24C">
                <a:alpha val="58000"/>
              </a:srgbClr>
            </a:solidFill>
            <a:prstDash val="solid"/>
          </a:ln>
        </p:spPr>
        <p:txBody>
          <a:bodyPr/>
          <a:lstStyle/>
          <a:p/>
        </p:txBody>
      </p:sp>
      <p:sp>
        <p:nvSpPr>
          <p:cNvPr id="13" name="Text 10"/>
          <p:cNvSpPr/>
          <p:nvPr/>
        </p:nvSpPr>
        <p:spPr>
          <a:xfrm>
            <a:off x="4114800" y="3840480"/>
            <a:ext cx="3968496" cy="292608"/>
          </a:xfrm>
          <a:prstGeom prst="rect">
            <a:avLst/>
          </a:prstGeom>
          <a:noFill/>
        </p:spPr>
        <p:txBody>
          <a:bodyPr wrap="square" lIns="0" tIns="0" rIns="0" bIns="0" rtlCol="0" anchor="ctr"/>
          <a:lstStyle/>
          <a:p>
            <a:r>
              <a:rPr sz="1700" b="1" dirty="0">
                <a:solidFill>
                  <a:srgbClr val="D6B156"/>
                </a:solidFill>
                <a:latin typeface="Times New Roman" panose="02020603050405020304"/>
              </a:rPr>
              <a:t>The shared sky</a:t>
            </a:r>
            <a:endParaRPr sz="1700" b="1" dirty="0">
              <a:solidFill>
                <a:srgbClr val="D6B156"/>
              </a:solidFill>
              <a:latin typeface="Times New Roman" panose="02020603050405020304"/>
            </a:endParaRPr>
          </a:p>
        </p:txBody>
      </p:sp>
      <p:sp>
        <p:nvSpPr>
          <p:cNvPr id="14" name="Text 11"/>
          <p:cNvSpPr/>
          <p:nvPr/>
        </p:nvSpPr>
        <p:spPr>
          <a:xfrm>
            <a:off x="4096512" y="4160122"/>
            <a:ext cx="3968496" cy="182880"/>
          </a:xfrm>
          <a:prstGeom prst="rect">
            <a:avLst/>
          </a:prstGeom>
          <a:noFill/>
        </p:spPr>
        <p:txBody>
          <a:bodyPr wrap="square" lIns="381" tIns="381" rIns="381" bIns="381" rtlCol="0" anchor="t">
            <a:noAutofit/>
          </a:bodyPr>
          <a:lstStyle/>
          <a:p>
            <a:r>
              <a:rPr sz="1200" b="0" dirty="0">
                <a:solidFill>
                  <a:srgbClr val="FFFFFF"/>
                </a:solidFill>
                <a:latin typeface="Times New Roman" panose="02020603050405020304"/>
              </a:rPr>
              <a:t>Different star systems look at one universe, so the sky becomes a space of dialogue.</a:t>
            </a:r>
            <a:endParaRPr sz="1200" b="0" dirty="0">
              <a:solidFill>
                <a:srgbClr val="FFFFFF"/>
              </a:solidFill>
              <a:latin typeface="Times New Roman" panose="02020603050405020304"/>
            </a:endParaRPr>
          </a:p>
        </p:txBody>
      </p:sp>
      <p:sp>
        <p:nvSpPr>
          <p:cNvPr id="15" name="Shape 12"/>
          <p:cNvSpPr/>
          <p:nvPr/>
        </p:nvSpPr>
        <p:spPr>
          <a:xfrm>
            <a:off x="2743200" y="5230368"/>
            <a:ext cx="6858000" cy="731520"/>
          </a:xfrm>
          <a:prstGeom prst="roundRect">
            <a:avLst>
              <a:gd name="adj" fmla="val 15000"/>
            </a:avLst>
          </a:prstGeom>
          <a:solidFill>
            <a:srgbClr val="0E2944">
              <a:alpha val="94000"/>
            </a:srgbClr>
          </a:solidFill>
          <a:ln w="13970">
            <a:solidFill>
              <a:srgbClr val="D4A24C">
                <a:alpha val="58000"/>
              </a:srgbClr>
            </a:solidFill>
            <a:prstDash val="solid"/>
          </a:ln>
        </p:spPr>
        <p:txBody>
          <a:bodyPr/>
          <a:lstStyle/>
          <a:p/>
        </p:txBody>
      </p:sp>
      <p:sp>
        <p:nvSpPr>
          <p:cNvPr id="16" name="Text 13"/>
          <p:cNvSpPr/>
          <p:nvPr/>
        </p:nvSpPr>
        <p:spPr>
          <a:xfrm>
            <a:off x="2944368" y="5394960"/>
            <a:ext cx="6455664" cy="292608"/>
          </a:xfrm>
          <a:prstGeom prst="rect">
            <a:avLst/>
          </a:prstGeom>
          <a:noFill/>
        </p:spPr>
        <p:txBody>
          <a:bodyPr wrap="square" lIns="0" tIns="0" rIns="0" bIns="0" rtlCol="0" anchor="ctr"/>
          <a:lstStyle/>
          <a:p>
            <a:r>
              <a:rPr sz="1700" b="1" dirty="0">
                <a:solidFill>
                  <a:srgbClr val="D6B156"/>
                </a:solidFill>
                <a:latin typeface="Times New Roman" panose="02020603050405020304"/>
              </a:rPr>
              <a:t>Foreground students</a:t>
            </a:r>
            <a:endParaRPr sz="1700" b="1" dirty="0">
              <a:solidFill>
                <a:srgbClr val="D6B156"/>
              </a:solidFill>
              <a:latin typeface="Times New Roman" panose="02020603050405020304"/>
            </a:endParaRPr>
          </a:p>
        </p:txBody>
      </p:sp>
      <p:sp>
        <p:nvSpPr>
          <p:cNvPr id="17" name="Text 14"/>
          <p:cNvSpPr/>
          <p:nvPr/>
        </p:nvSpPr>
        <p:spPr>
          <a:xfrm>
            <a:off x="2944368" y="5687568"/>
            <a:ext cx="6766162" cy="45719"/>
          </a:xfrm>
          <a:prstGeom prst="rect">
            <a:avLst/>
          </a:prstGeom>
          <a:noFill/>
        </p:spPr>
        <p:txBody>
          <a:bodyPr wrap="square" lIns="381" tIns="381" rIns="381" bIns="381" rtlCol="0" anchor="t">
            <a:noAutofit/>
          </a:bodyPr>
          <a:lstStyle/>
          <a:p>
            <a:r>
              <a:rPr sz="1600" b="0" dirty="0">
                <a:solidFill>
                  <a:srgbClr val="FFFFFF"/>
                </a:solidFill>
                <a:latin typeface="Times New Roman" panose="02020603050405020304"/>
              </a:rPr>
              <a:t>Modern learners connect historical exchange with AI-supported cultural learning.</a:t>
            </a:r>
            <a:endParaRPr sz="1600" b="0" dirty="0">
              <a:solidFill>
                <a:srgbClr val="FFFFFF"/>
              </a:solidFill>
              <a:latin typeface="Times New Roman" panose="02020603050405020304"/>
            </a:endParaRPr>
          </a:p>
        </p:txBody>
      </p:sp>
      <p:sp>
        <p:nvSpPr>
          <p:cNvPr id="18" name="Shape 15"/>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19" name="Text 16"/>
          <p:cNvSpPr/>
          <p:nvPr/>
        </p:nvSpPr>
        <p:spPr>
          <a:xfrm>
            <a:off x="11448288" y="6556248"/>
            <a:ext cx="320040" cy="164592"/>
          </a:xfrm>
          <a:prstGeom prst="rect">
            <a:avLst/>
          </a:prstGeom>
          <a:noFill/>
        </p:spPr>
        <p:txBody>
          <a:bodyPr wrap="square" lIns="0" tIns="0" rIns="0" bIns="0" rtlCol="0" anchor="ctr"/>
          <a:lstStyle/>
          <a:p>
            <a:pPr marL="0" indent="0" algn="r">
              <a:buNone/>
            </a:pPr>
            <a:r>
              <a:rPr lang="en-US" sz="900" b="0" dirty="0">
                <a:solidFill>
                  <a:srgbClr val="F5F0DC"/>
                </a:solidFill>
                <a:latin typeface="Times New Roman" panose="02020603050405020304" pitchFamily="34" charset="0"/>
                <a:ea typeface="Times New Roman" panose="02020603050405020304" pitchFamily="34" charset="-122"/>
                <a:cs typeface="Times New Roman" panose="02020603050405020304"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under_the_same_sky_bridging_civilizations.png"/>
          <p:cNvPicPr>
            <a:picLocks noChangeAspect="1"/>
          </p:cNvPicPr>
          <p:nvPr/>
        </p:nvPicPr>
        <p:blipFill>
          <a:blip r:embed="rId1"/>
          <a:stretch>
            <a:fillRect/>
          </a:stretch>
        </p:blipFill>
        <p:spPr>
          <a:xfrm>
            <a:off x="0" y="-868680"/>
            <a:ext cx="12191695" cy="9144000"/>
          </a:xfrm>
          <a:prstGeom prst="rect">
            <a:avLst/>
          </a:prstGeom>
        </p:spPr>
      </p:pic>
      <p:sp>
        <p:nvSpPr>
          <p:cNvPr id="4" name="Text 1"/>
          <p:cNvSpPr/>
          <p:nvPr/>
        </p:nvSpPr>
        <p:spPr>
          <a:xfrm>
            <a:off x="566928" y="411480"/>
            <a:ext cx="6766560" cy="411480"/>
          </a:xfrm>
          <a:prstGeom prst="rect">
            <a:avLst/>
          </a:prstGeom>
          <a:noFill/>
        </p:spPr>
        <p:txBody>
          <a:bodyPr wrap="square" lIns="0" tIns="0" rIns="0" bIns="0" rtlCol="0" anchor="ctr"/>
          <a:lstStyle/>
          <a:p>
            <a:pPr marL="0" indent="0">
              <a:buNone/>
            </a:pPr>
            <a:r>
              <a:rPr lang="en-US" sz="2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Reading the Visual Work</a:t>
            </a:r>
            <a:endParaRPr lang="en-US" sz="2500" dirty="0"/>
          </a:p>
        </p:txBody>
      </p:sp>
      <p:sp>
        <p:nvSpPr>
          <p:cNvPr id="5" name="Shape 2"/>
          <p:cNvSpPr/>
          <p:nvPr/>
        </p:nvSpPr>
        <p:spPr>
          <a:xfrm>
            <a:off x="594360" y="896112"/>
            <a:ext cx="1097280" cy="0"/>
          </a:xfrm>
          <a:prstGeom prst="line">
            <a:avLst/>
          </a:prstGeom>
          <a:noFill/>
          <a:ln w="25400">
            <a:solidFill>
              <a:srgbClr val="D4A24C"/>
            </a:solidFill>
            <a:prstDash val="solid"/>
          </a:ln>
        </p:spPr>
        <p:txBody>
          <a:bodyPr/>
          <a:lstStyle/>
          <a:p/>
        </p:txBody>
      </p:sp>
      <p:sp>
        <p:nvSpPr>
          <p:cNvPr id="18" name="Shape 15"/>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19" name="Text 16"/>
          <p:cNvSpPr/>
          <p:nvPr/>
        </p:nvSpPr>
        <p:spPr>
          <a:xfrm>
            <a:off x="11448288" y="6556248"/>
            <a:ext cx="320040" cy="164592"/>
          </a:xfrm>
          <a:prstGeom prst="rect">
            <a:avLst/>
          </a:prstGeom>
          <a:noFill/>
        </p:spPr>
        <p:txBody>
          <a:bodyPr wrap="square" lIns="0" tIns="0" rIns="0" bIns="0" rtlCol="0" anchor="ctr"/>
          <a:lstStyle/>
          <a:p>
            <a:pPr marL="0" indent="0" algn="r">
              <a:buNone/>
            </a:pPr>
            <a:r>
              <a:rPr lang="en-US" sz="900" b="0" dirty="0">
                <a:solidFill>
                  <a:srgbClr val="F5F0DC"/>
                </a:solidFill>
                <a:latin typeface="Times New Roman" panose="02020603050405020304" pitchFamily="34" charset="0"/>
                <a:ea typeface="Times New Roman" panose="02020603050405020304" pitchFamily="34" charset="-122"/>
                <a:cs typeface="Times New Roman" panose="02020603050405020304"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sp>
        <p:nvSpPr>
          <p:cNvPr id="2" name="Text 0"/>
          <p:cNvSpPr/>
          <p:nvPr/>
        </p:nvSpPr>
        <p:spPr>
          <a:xfrm>
            <a:off x="594360" y="438912"/>
            <a:ext cx="8961120" cy="347472"/>
          </a:xfrm>
          <a:prstGeom prst="rect">
            <a:avLst/>
          </a:prstGeom>
          <a:noFill/>
        </p:spPr>
        <p:txBody>
          <a:bodyPr wrap="square" lIns="0" tIns="0" rIns="0" bIns="0" rtlCol="0" anchor="ctr"/>
          <a:lstStyle/>
          <a:p>
            <a:pPr marL="0" indent="0">
              <a:buNone/>
            </a:pPr>
            <a:r>
              <a:rPr lang="en-US" sz="25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 What Does It Mean Today?</a:t>
            </a:r>
            <a:endParaRPr lang="en-US" sz="2500" dirty="0"/>
          </a:p>
        </p:txBody>
      </p:sp>
      <p:sp>
        <p:nvSpPr>
          <p:cNvPr id="3" name="Shape 1"/>
          <p:cNvSpPr/>
          <p:nvPr/>
        </p:nvSpPr>
        <p:spPr>
          <a:xfrm>
            <a:off x="594360" y="850392"/>
            <a:ext cx="1005840" cy="0"/>
          </a:xfrm>
          <a:prstGeom prst="line">
            <a:avLst/>
          </a:prstGeom>
          <a:noFill/>
          <a:ln w="25400">
            <a:solidFill>
              <a:srgbClr val="D4A24C"/>
            </a:solidFill>
            <a:prstDash val="solid"/>
          </a:ln>
        </p:spPr>
        <p:txBody>
          <a:bodyPr/>
          <a:lstStyle/>
          <a:p/>
        </p:txBody>
      </p:sp>
      <p:sp>
        <p:nvSpPr>
          <p:cNvPr id="4" name="Text 2"/>
          <p:cNvSpPr/>
          <p:nvPr/>
        </p:nvSpPr>
        <p:spPr>
          <a:xfrm>
            <a:off x="1737360" y="749808"/>
            <a:ext cx="8686800" cy="201168"/>
          </a:xfrm>
          <a:prstGeom prst="rect">
            <a:avLst/>
          </a:prstGeom>
          <a:noFill/>
        </p:spPr>
        <p:txBody>
          <a:bodyPr wrap="square" lIns="0" tIns="0" rIns="0" bIns="0" rtlCol="0" anchor="ctr"/>
          <a:lstStyle/>
          <a:p>
            <a:pPr marL="0" indent="0">
              <a:buNone/>
            </a:pPr>
            <a:r>
              <a:rPr lang="en-US" sz="1100"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Humanistic Civilization: knowledge needs cultural respect</a:t>
            </a:r>
            <a:endParaRPr lang="en-US" sz="1100" dirty="0"/>
          </a:p>
        </p:txBody>
      </p:sp>
      <p:sp>
        <p:nvSpPr>
          <p:cNvPr id="5" name="Shape 3"/>
          <p:cNvSpPr/>
          <p:nvPr/>
        </p:nvSpPr>
        <p:spPr>
          <a:xfrm>
            <a:off x="502920" y="6547104"/>
            <a:ext cx="11155680" cy="0"/>
          </a:xfrm>
          <a:prstGeom prst="line">
            <a:avLst/>
          </a:prstGeom>
          <a:noFill/>
          <a:ln w="10160">
            <a:solidFill>
              <a:srgbClr val="D4A24C">
                <a:alpha val="65000"/>
              </a:srgbClr>
            </a:solidFill>
            <a:prstDash val="solid"/>
          </a:ln>
        </p:spPr>
        <p:txBody>
          <a:bodyPr/>
          <a:lstStyle/>
          <a:p/>
        </p:txBody>
      </p:sp>
      <p:sp>
        <p:nvSpPr>
          <p:cNvPr id="6" name="Text 4"/>
          <p:cNvSpPr/>
          <p:nvPr/>
        </p:nvSpPr>
        <p:spPr>
          <a:xfrm>
            <a:off x="11448288" y="6556248"/>
            <a:ext cx="320040" cy="164592"/>
          </a:xfrm>
          <a:prstGeom prst="rect">
            <a:avLst/>
          </a:prstGeom>
          <a:noFill/>
        </p:spPr>
        <p:txBody>
          <a:bodyPr wrap="square" lIns="0" tIns="0" rIns="0" bIns="0" rtlCol="0" anchor="ctr"/>
          <a:lstStyle/>
          <a:p>
            <a:pPr marL="0" indent="0" algn="r">
              <a:buNone/>
            </a:pPr>
            <a:r>
              <a:rPr lang="en-US" sz="800"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7</a:t>
            </a:r>
            <a:endParaRPr lang="en-US" sz="800" dirty="0"/>
          </a:p>
        </p:txBody>
      </p:sp>
      <p:sp>
        <p:nvSpPr>
          <p:cNvPr id="7" name="Shape 5"/>
          <p:cNvSpPr/>
          <p:nvPr/>
        </p:nvSpPr>
        <p:spPr>
          <a:xfrm>
            <a:off x="914400" y="1417320"/>
            <a:ext cx="10378440" cy="960120"/>
          </a:xfrm>
          <a:prstGeom prst="roundRect">
            <a:avLst>
              <a:gd name="adj" fmla="val 14286"/>
            </a:avLst>
          </a:prstGeom>
          <a:solidFill>
            <a:srgbClr val="D4A24C">
              <a:alpha val="96000"/>
            </a:srgbClr>
          </a:solidFill>
          <a:ln w="12700">
            <a:solidFill>
              <a:srgbClr val="D4A24C">
                <a:alpha val="0"/>
              </a:srgbClr>
            </a:solidFill>
            <a:prstDash val="solid"/>
          </a:ln>
        </p:spPr>
        <p:txBody>
          <a:bodyPr/>
          <a:lstStyle/>
          <a:p/>
        </p:txBody>
      </p:sp>
      <p:sp>
        <p:nvSpPr>
          <p:cNvPr id="8" name="Text 6"/>
          <p:cNvSpPr/>
          <p:nvPr/>
        </p:nvSpPr>
        <p:spPr>
          <a:xfrm>
            <a:off x="1234440" y="1700784"/>
            <a:ext cx="9738360" cy="320040"/>
          </a:xfrm>
          <a:prstGeom prst="rect">
            <a:avLst/>
          </a:prstGeom>
          <a:noFill/>
        </p:spPr>
        <p:txBody>
          <a:bodyPr wrap="square" lIns="0" tIns="0" rIns="0" bIns="0" rtlCol="0" anchor="ctr"/>
          <a:lstStyle/>
          <a:p>
            <a:pPr marL="0" indent="0" algn="ctr">
              <a:buNone/>
            </a:pPr>
            <a:r>
              <a:rPr lang="en-US" sz="2000" b="1" i="1" dirty="0">
                <a:solidFill>
                  <a:srgbClr val="071A2E"/>
                </a:solidFill>
                <a:latin typeface="Times New Roman" panose="02020603050405020304" pitchFamily="34" charset="0"/>
                <a:ea typeface="Times New Roman" panose="02020603050405020304" pitchFamily="34" charset="-122"/>
                <a:cs typeface="Times New Roman" panose="02020603050405020304" pitchFamily="34" charset="-120"/>
              </a:rPr>
              <a:t>“Science is universal, but scientific communication is always cultural.”</a:t>
            </a:r>
            <a:endParaRPr lang="en-US" sz="2000" dirty="0"/>
          </a:p>
        </p:txBody>
      </p:sp>
      <p:sp>
        <p:nvSpPr>
          <p:cNvPr id="9" name="Shape 7"/>
          <p:cNvSpPr/>
          <p:nvPr/>
        </p:nvSpPr>
        <p:spPr>
          <a:xfrm>
            <a:off x="822960" y="2880360"/>
            <a:ext cx="3246120" cy="1481328"/>
          </a:xfrm>
          <a:prstGeom prst="roundRect">
            <a:avLst>
              <a:gd name="adj" fmla="val 7407"/>
            </a:avLst>
          </a:prstGeom>
          <a:solidFill>
            <a:srgbClr val="0E2944"/>
          </a:solidFill>
          <a:ln w="13970">
            <a:solidFill>
              <a:srgbClr val="D4A24C">
                <a:alpha val="58000"/>
              </a:srgbClr>
            </a:solidFill>
            <a:prstDash val="solid"/>
          </a:ln>
        </p:spPr>
        <p:txBody>
          <a:bodyPr/>
          <a:lstStyle/>
          <a:p/>
        </p:txBody>
      </p:sp>
      <p:sp>
        <p:nvSpPr>
          <p:cNvPr id="10" name="Text 8"/>
          <p:cNvSpPr/>
          <p:nvPr/>
        </p:nvSpPr>
        <p:spPr>
          <a:xfrm>
            <a:off x="1024128" y="304495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Global learning</a:t>
            </a:r>
            <a:endParaRPr lang="en-US" sz="1600" dirty="0"/>
          </a:p>
        </p:txBody>
      </p:sp>
      <p:sp>
        <p:nvSpPr>
          <p:cNvPr id="11" name="Text 9"/>
          <p:cNvSpPr/>
          <p:nvPr/>
        </p:nvSpPr>
        <p:spPr>
          <a:xfrm>
            <a:off x="1024128" y="3447288"/>
            <a:ext cx="2843784" cy="749808"/>
          </a:xfrm>
          <a:prstGeom prst="rect">
            <a:avLst/>
          </a:prstGeom>
          <a:noFill/>
        </p:spPr>
        <p:txBody>
          <a:bodyPr wrap="square" lIns="381" tIns="381" rIns="381" bIns="381" rtlCol="0" anchor="t">
            <a:norm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AI and digital platforms allow knowledge to travel faster than ever.</a:t>
            </a:r>
            <a:endParaRPr lang="en-US" sz="1600" dirty="0"/>
          </a:p>
        </p:txBody>
      </p:sp>
      <p:sp>
        <p:nvSpPr>
          <p:cNvPr id="12" name="Shape 10"/>
          <p:cNvSpPr/>
          <p:nvPr/>
        </p:nvSpPr>
        <p:spPr>
          <a:xfrm>
            <a:off x="4480560" y="2880360"/>
            <a:ext cx="3246120" cy="1481328"/>
          </a:xfrm>
          <a:prstGeom prst="roundRect">
            <a:avLst>
              <a:gd name="adj" fmla="val 7407"/>
            </a:avLst>
          </a:prstGeom>
          <a:solidFill>
            <a:srgbClr val="0E2944"/>
          </a:solidFill>
          <a:ln w="13970">
            <a:solidFill>
              <a:srgbClr val="D4A24C">
                <a:alpha val="58000"/>
              </a:srgbClr>
            </a:solidFill>
            <a:prstDash val="solid"/>
          </a:ln>
        </p:spPr>
        <p:txBody>
          <a:bodyPr/>
          <a:lstStyle/>
          <a:p/>
        </p:txBody>
      </p:sp>
      <p:sp>
        <p:nvSpPr>
          <p:cNvPr id="13" name="Text 11"/>
          <p:cNvSpPr/>
          <p:nvPr/>
        </p:nvSpPr>
        <p:spPr>
          <a:xfrm>
            <a:off x="4681728" y="304495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Main risk</a:t>
            </a:r>
            <a:endParaRPr lang="en-US" sz="1600" dirty="0"/>
          </a:p>
        </p:txBody>
      </p:sp>
      <p:sp>
        <p:nvSpPr>
          <p:cNvPr id="14" name="Text 12"/>
          <p:cNvSpPr/>
          <p:nvPr/>
        </p:nvSpPr>
        <p:spPr>
          <a:xfrm>
            <a:off x="4681728" y="3447288"/>
            <a:ext cx="2843784" cy="749808"/>
          </a:xfrm>
          <a:prstGeom prst="rect">
            <a:avLst/>
          </a:prstGeom>
          <a:noFill/>
        </p:spPr>
        <p:txBody>
          <a:bodyPr wrap="square" lIns="381" tIns="381" rIns="381" bIns="381" rtlCol="0" anchor="t">
            <a:norm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Speed can create simplification, misunderstanding, or one-way communication.</a:t>
            </a:r>
            <a:endParaRPr lang="en-US" sz="1600" dirty="0"/>
          </a:p>
        </p:txBody>
      </p:sp>
      <p:sp>
        <p:nvSpPr>
          <p:cNvPr id="15" name="Shape 13"/>
          <p:cNvSpPr/>
          <p:nvPr/>
        </p:nvSpPr>
        <p:spPr>
          <a:xfrm>
            <a:off x="8138160" y="2880360"/>
            <a:ext cx="3246120" cy="1481328"/>
          </a:xfrm>
          <a:prstGeom prst="roundRect">
            <a:avLst>
              <a:gd name="adj" fmla="val 7407"/>
            </a:avLst>
          </a:prstGeom>
          <a:solidFill>
            <a:srgbClr val="0E2944"/>
          </a:solidFill>
          <a:ln w="13970">
            <a:solidFill>
              <a:srgbClr val="D4A24C">
                <a:alpha val="58000"/>
              </a:srgbClr>
            </a:solidFill>
            <a:prstDash val="solid"/>
          </a:ln>
        </p:spPr>
        <p:txBody>
          <a:bodyPr/>
          <a:lstStyle/>
          <a:p/>
        </p:txBody>
      </p:sp>
      <p:sp>
        <p:nvSpPr>
          <p:cNvPr id="16" name="Text 14"/>
          <p:cNvSpPr/>
          <p:nvPr/>
        </p:nvSpPr>
        <p:spPr>
          <a:xfrm>
            <a:off x="8339328" y="3044952"/>
            <a:ext cx="2843784" cy="292608"/>
          </a:xfrm>
          <a:prstGeom prst="rect">
            <a:avLst/>
          </a:prstGeom>
          <a:noFill/>
        </p:spPr>
        <p:txBody>
          <a:bodyPr wrap="square" lIns="0" tIns="0" rIns="0" bIns="0" rtlCol="0" anchor="ctr"/>
          <a:lstStyle/>
          <a:p>
            <a:pPr marL="0" indent="0">
              <a:buNone/>
            </a:pPr>
            <a:r>
              <a:rPr lang="en-US" sz="1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Humanistic lesson</a:t>
            </a:r>
            <a:endParaRPr lang="en-US" sz="1600" dirty="0"/>
          </a:p>
        </p:txBody>
      </p:sp>
      <p:sp>
        <p:nvSpPr>
          <p:cNvPr id="17" name="Text 15"/>
          <p:cNvSpPr/>
          <p:nvPr/>
        </p:nvSpPr>
        <p:spPr>
          <a:xfrm>
            <a:off x="8339328" y="3447288"/>
            <a:ext cx="2843784" cy="749808"/>
          </a:xfrm>
          <a:prstGeom prst="rect">
            <a:avLst/>
          </a:prstGeom>
          <a:noFill/>
        </p:spPr>
        <p:txBody>
          <a:bodyPr wrap="square" lIns="381" tIns="381" rIns="381" bIns="381" rtlCol="0" anchor="t">
            <a:normAutofit/>
          </a:bodyPr>
          <a:lstStyle/>
          <a:p>
            <a:pPr marL="0" indent="0">
              <a:buNone/>
            </a:pPr>
            <a:r>
              <a:rPr lang="en-US" sz="1600"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Real exchange requires context, respect, and dialogue between cultures.</a:t>
            </a:r>
            <a:endParaRPr lang="en-US" sz="1600" dirty="0"/>
          </a:p>
        </p:txBody>
      </p:sp>
      <p:sp>
        <p:nvSpPr>
          <p:cNvPr id="18" name="Text 16"/>
          <p:cNvSpPr/>
          <p:nvPr/>
        </p:nvSpPr>
        <p:spPr>
          <a:xfrm>
            <a:off x="1143000" y="5074920"/>
            <a:ext cx="9875520" cy="411480"/>
          </a:xfrm>
          <a:prstGeom prst="rect">
            <a:avLst/>
          </a:prstGeom>
          <a:noFill/>
        </p:spPr>
        <p:txBody>
          <a:bodyPr wrap="square" lIns="0" tIns="0" rIns="0" bIns="0" rtlCol="0" anchor="ctr"/>
          <a:lstStyle/>
          <a:p>
            <a:pPr marL="0" indent="0" algn="ctr">
              <a:buNone/>
            </a:pPr>
            <a:r>
              <a:rPr lang="en-US" sz="17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Historical astronomy reminds us how to share knowledge without erasing cultural meaning.</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under_the_same_sky_bridging_civilizations.png"/>
          <p:cNvPicPr>
            <a:picLocks noChangeAspect="1"/>
          </p:cNvPicPr>
          <p:nvPr/>
        </p:nvPicPr>
        <p:blipFill>
          <a:blip r:embed="rId1"/>
          <a:stretch>
            <a:fillRect/>
          </a:stretch>
        </p:blipFill>
        <p:spPr>
          <a:xfrm>
            <a:off x="0" y="-1143000"/>
            <a:ext cx="12191695" cy="9144000"/>
          </a:xfrm>
          <a:prstGeom prst="rect">
            <a:avLst/>
          </a:prstGeom>
        </p:spPr>
      </p:pic>
      <p:sp>
        <p:nvSpPr>
          <p:cNvPr id="3" name="Shape 0"/>
          <p:cNvSpPr/>
          <p:nvPr/>
        </p:nvSpPr>
        <p:spPr>
          <a:xfrm>
            <a:off x="0" y="0"/>
            <a:ext cx="12191695" cy="6858000"/>
          </a:xfrm>
          <a:prstGeom prst="rect">
            <a:avLst/>
          </a:prstGeom>
          <a:solidFill>
            <a:srgbClr val="000000">
              <a:alpha val="48000"/>
            </a:srgbClr>
          </a:solidFill>
          <a:ln w="12700">
            <a:solidFill>
              <a:srgbClr val="000000">
                <a:alpha val="0"/>
              </a:srgbClr>
            </a:solidFill>
            <a:prstDash val="solid"/>
          </a:ln>
        </p:spPr>
        <p:txBody>
          <a:bodyPr/>
          <a:lstStyle/>
          <a:p/>
        </p:txBody>
      </p:sp>
      <p:sp>
        <p:nvSpPr>
          <p:cNvPr id="4" name="Shape 1"/>
          <p:cNvSpPr/>
          <p:nvPr/>
        </p:nvSpPr>
        <p:spPr>
          <a:xfrm>
            <a:off x="1325880" y="1417320"/>
            <a:ext cx="9555480" cy="3474720"/>
          </a:xfrm>
          <a:prstGeom prst="roundRect">
            <a:avLst>
              <a:gd name="adj" fmla="val 4737"/>
            </a:avLst>
          </a:prstGeom>
          <a:solidFill>
            <a:srgbClr val="071A2E">
              <a:alpha val="88000"/>
            </a:srgbClr>
          </a:solidFill>
          <a:ln w="16510">
            <a:solidFill>
              <a:srgbClr val="D4A24C">
                <a:alpha val="80000"/>
              </a:srgbClr>
            </a:solidFill>
            <a:prstDash val="solid"/>
          </a:ln>
        </p:spPr>
        <p:txBody>
          <a:bodyPr/>
          <a:lstStyle/>
          <a:p/>
        </p:txBody>
      </p:sp>
      <p:sp>
        <p:nvSpPr>
          <p:cNvPr id="5" name="Text 2"/>
          <p:cNvSpPr/>
          <p:nvPr/>
        </p:nvSpPr>
        <p:spPr>
          <a:xfrm>
            <a:off x="1783080" y="1874520"/>
            <a:ext cx="2926080" cy="402336"/>
          </a:xfrm>
          <a:prstGeom prst="rect">
            <a:avLst/>
          </a:prstGeom>
          <a:noFill/>
        </p:spPr>
        <p:txBody>
          <a:bodyPr wrap="square" lIns="0" tIns="0" rIns="0" bIns="0" rtlCol="0" anchor="ctr"/>
          <a:lstStyle/>
          <a:p>
            <a:pPr marL="0" indent="0">
              <a:buNone/>
            </a:pPr>
            <a:r>
              <a:rPr lang="en-US" sz="2600" b="1" dirty="0">
                <a:solidFill>
                  <a:srgbClr val="F1D69A"/>
                </a:solidFill>
                <a:latin typeface="Times New Roman" panose="02020603050405020304" pitchFamily="34" charset="0"/>
                <a:ea typeface="Times New Roman" panose="02020603050405020304" pitchFamily="34" charset="-122"/>
                <a:cs typeface="Times New Roman" panose="02020603050405020304" pitchFamily="34" charset="-120"/>
              </a:rPr>
              <a:t>Conclusion</a:t>
            </a:r>
            <a:endParaRPr lang="en-US" sz="2600" dirty="0"/>
          </a:p>
        </p:txBody>
      </p:sp>
      <p:sp>
        <p:nvSpPr>
          <p:cNvPr id="6" name="Text 3"/>
          <p:cNvSpPr/>
          <p:nvPr/>
        </p:nvSpPr>
        <p:spPr>
          <a:xfrm>
            <a:off x="1783080" y="2606040"/>
            <a:ext cx="8549640" cy="1097280"/>
          </a:xfrm>
          <a:prstGeom prst="rect">
            <a:avLst/>
          </a:prstGeom>
          <a:noFill/>
        </p:spPr>
        <p:txBody>
          <a:bodyPr wrap="square" lIns="0" tIns="0" rIns="0" bIns="0" rtlCol="0" anchor="ctr">
            <a:normAutofit/>
          </a:bodyPr>
          <a:lstStyle/>
          <a:p>
            <a:pPr marL="0" indent="0" algn="ctr">
              <a:buNone/>
            </a:pPr>
            <a:r>
              <a:rPr lang="en-US" sz="2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Astronomy is not only about stars and planets.</a:t>
            </a:r>
            <a:endParaRPr lang="en-US" sz="2400" dirty="0"/>
          </a:p>
          <a:p>
            <a:pPr marL="0" indent="0" algn="ctr">
              <a:buNone/>
            </a:pPr>
            <a:r>
              <a:rPr lang="en-US" sz="2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It is also about how human civilizations learn to understand one another under the same sky.</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A2E"/>
        </a:solidFill>
        <a:effectLst/>
      </p:bgPr>
    </p:bg>
    <p:spTree>
      <p:nvGrpSpPr>
        <p:cNvPr id="1" name=""/>
        <p:cNvGrpSpPr/>
        <p:nvPr/>
      </p:nvGrpSpPr>
      <p:grpSpPr>
        <a:xfrm>
          <a:off x="0" y="0"/>
          <a:ext cx="0" cy="0"/>
          <a:chOff x="0" y="0"/>
          <a:chExt cx="0" cy="0"/>
        </a:xfrm>
      </p:grpSpPr>
      <p:pic>
        <p:nvPicPr>
          <p:cNvPr id="2" name="Image 0" descr="/mnt/data/under_the_same_sky_bridging_civilizations.png"/>
          <p:cNvPicPr>
            <a:picLocks noChangeAspect="1"/>
          </p:cNvPicPr>
          <p:nvPr/>
        </p:nvPicPr>
        <p:blipFill>
          <a:blip r:embed="rId1"/>
          <a:stretch>
            <a:fillRect/>
          </a:stretch>
        </p:blipFill>
        <p:spPr>
          <a:xfrm>
            <a:off x="0" y="-1143000"/>
            <a:ext cx="12191695" cy="9144000"/>
          </a:xfrm>
          <a:prstGeom prst="rect">
            <a:avLst/>
          </a:prstGeom>
        </p:spPr>
      </p:pic>
      <p:sp>
        <p:nvSpPr>
          <p:cNvPr id="3" name="Shape 0"/>
          <p:cNvSpPr/>
          <p:nvPr/>
        </p:nvSpPr>
        <p:spPr>
          <a:xfrm>
            <a:off x="0" y="0"/>
            <a:ext cx="12191695" cy="6858000"/>
          </a:xfrm>
          <a:prstGeom prst="rect">
            <a:avLst/>
          </a:prstGeom>
          <a:solidFill>
            <a:srgbClr val="000000">
              <a:alpha val="48000"/>
            </a:srgbClr>
          </a:solidFill>
          <a:ln w="12700">
            <a:solidFill>
              <a:srgbClr val="000000">
                <a:alpha val="0"/>
              </a:srgbClr>
            </a:solidFill>
            <a:prstDash val="solid"/>
          </a:ln>
        </p:spPr>
        <p:txBody>
          <a:bodyPr/>
          <a:lstStyle/>
          <a:p/>
        </p:txBody>
      </p:sp>
      <p:sp>
        <p:nvSpPr>
          <p:cNvPr id="4" name="Shape 1"/>
          <p:cNvSpPr/>
          <p:nvPr/>
        </p:nvSpPr>
        <p:spPr>
          <a:xfrm>
            <a:off x="1325880" y="1417320"/>
            <a:ext cx="9555480" cy="3474720"/>
          </a:xfrm>
          <a:prstGeom prst="roundRect">
            <a:avLst>
              <a:gd name="adj" fmla="val 4737"/>
            </a:avLst>
          </a:prstGeom>
          <a:solidFill>
            <a:srgbClr val="071A2E">
              <a:alpha val="88000"/>
            </a:srgbClr>
          </a:solidFill>
          <a:ln w="16510">
            <a:solidFill>
              <a:srgbClr val="D4A24C">
                <a:alpha val="80000"/>
              </a:srgbClr>
            </a:solidFill>
            <a:prstDash val="solid"/>
          </a:ln>
        </p:spPr>
        <p:txBody>
          <a:bodyPr/>
          <a:lstStyle/>
          <a:p/>
        </p:txBody>
      </p:sp>
      <p:sp>
        <p:nvSpPr>
          <p:cNvPr id="7" name="Text 4"/>
          <p:cNvSpPr/>
          <p:nvPr/>
        </p:nvSpPr>
        <p:spPr>
          <a:xfrm>
            <a:off x="3672509" y="2908189"/>
            <a:ext cx="5203134" cy="347472"/>
          </a:xfrm>
          <a:prstGeom prst="rect">
            <a:avLst/>
          </a:prstGeom>
          <a:noFill/>
        </p:spPr>
        <p:txBody>
          <a:bodyPr wrap="square" lIns="0" tIns="0" rIns="0" bIns="0" rtlCol="0" anchor="ctr"/>
          <a:lstStyle/>
          <a:p>
            <a:pPr marL="0" indent="0" algn="ctr">
              <a:buNone/>
            </a:pPr>
            <a:r>
              <a:rPr lang="en-US" sz="5400" b="1" i="1"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Thank you</a:t>
            </a:r>
            <a:r>
              <a:rPr lang="zh-CN" altLang="en-US" sz="5400" b="1" i="1" dirty="0">
                <a:solidFill>
                  <a:srgbClr val="D8DEE8"/>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5400" b="1"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3210</Words>
  <Application>WPS 演示</Application>
  <PresentationFormat>宽屏</PresentationFormat>
  <Paragraphs>160</Paragraphs>
  <Slides>10</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Times New Roman</vt:lpstr>
      <vt:lpstr>Times New Roman</vt:lpstr>
      <vt:lpstr>Times New Roman</vt:lpstr>
      <vt:lpstr>Times New Roman</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 the Same Sky</dc:title>
  <dc:creator>OpenAI</dc:creator>
  <dc:subject>Astronomy x Humanistic Civilization Oral Presentation</dc:subject>
  <cp:lastModifiedBy>上善若水</cp:lastModifiedBy>
  <cp:revision>4</cp:revision>
  <dcterms:created xsi:type="dcterms:W3CDTF">2026-05-11T13:16:00Z</dcterms:created>
  <dcterms:modified xsi:type="dcterms:W3CDTF">2026-05-19T09:42:51Z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C316AF35D01F46E2B4D5B16F33E51CEF_12</vt:lpwstr>
  </property>
  <property fmtid="{D5CDD505-2E9C-101B-9397-08002B2CF9AE}" pid="3" name="KSOProductBuildVer">
    <vt:lpwstr>2052-12.1.0.26375</vt:lpwstr>
  </property>
</Properties>
</file>